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7" r:id="rId1"/>
  </p:sldMasterIdLst>
  <p:notesMasterIdLst>
    <p:notesMasterId r:id="rId28"/>
  </p:notesMasterIdLst>
  <p:sldIdLst>
    <p:sldId id="274" r:id="rId2"/>
    <p:sldId id="282" r:id="rId3"/>
    <p:sldId id="277" r:id="rId4"/>
    <p:sldId id="286" r:id="rId5"/>
    <p:sldId id="300" r:id="rId6"/>
    <p:sldId id="301" r:id="rId7"/>
    <p:sldId id="302" r:id="rId8"/>
    <p:sldId id="303" r:id="rId9"/>
    <p:sldId id="288" r:id="rId10"/>
    <p:sldId id="289" r:id="rId11"/>
    <p:sldId id="290" r:id="rId12"/>
    <p:sldId id="306" r:id="rId13"/>
    <p:sldId id="305" r:id="rId14"/>
    <p:sldId id="287" r:id="rId15"/>
    <p:sldId id="304" r:id="rId16"/>
    <p:sldId id="285" r:id="rId17"/>
    <p:sldId id="308" r:id="rId18"/>
    <p:sldId id="309" r:id="rId19"/>
    <p:sldId id="279" r:id="rId20"/>
    <p:sldId id="310" r:id="rId21"/>
    <p:sldId id="292" r:id="rId22"/>
    <p:sldId id="293" r:id="rId23"/>
    <p:sldId id="294" r:id="rId24"/>
    <p:sldId id="307" r:id="rId25"/>
    <p:sldId id="283" r:id="rId26"/>
    <p:sldId id="29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out the App &amp; Team" id="{E389EFBD-EB36-4165-B4EF-1962072835B1}">
          <p14:sldIdLst>
            <p14:sldId id="274"/>
            <p14:sldId id="282"/>
            <p14:sldId id="277"/>
            <p14:sldId id="286"/>
          </p14:sldIdLst>
        </p14:section>
        <p14:section name="Tools &amp; Processes" id="{D41A6281-A5A2-4E97-89B1-2FA99DC47F92}">
          <p14:sldIdLst>
            <p14:sldId id="300"/>
            <p14:sldId id="301"/>
            <p14:sldId id="302"/>
            <p14:sldId id="303"/>
          </p14:sldIdLst>
        </p14:section>
        <p14:section name="Design" id="{27E85F80-F032-4611-8E8E-1C2510AE6EBB}">
          <p14:sldIdLst>
            <p14:sldId id="288"/>
            <p14:sldId id="289"/>
            <p14:sldId id="290"/>
          </p14:sldIdLst>
        </p14:section>
        <p14:section name="Implementation" id="{DD058A39-FC9B-4E7E-B1F4-5CAA445A1291}">
          <p14:sldIdLst>
            <p14:sldId id="306"/>
            <p14:sldId id="305"/>
            <p14:sldId id="287"/>
            <p14:sldId id="304"/>
            <p14:sldId id="285"/>
          </p14:sldIdLst>
        </p14:section>
        <p14:section name="Security" id="{6351DFB0-78B1-4BD4-A411-3B4962C4118E}">
          <p14:sldIdLst>
            <p14:sldId id="308"/>
            <p14:sldId id="309"/>
            <p14:sldId id="279"/>
            <p14:sldId id="310"/>
          </p14:sldIdLst>
        </p14:section>
        <p14:section name="Challenges" id="{FAAE2695-8569-4813-9380-6B2C9787341E}">
          <p14:sldIdLst>
            <p14:sldId id="292"/>
            <p14:sldId id="293"/>
          </p14:sldIdLst>
        </p14:section>
        <p14:section name="Future Plans &amp; Features" id="{2405B353-A4A8-43A7-9896-887C8A23A3A8}">
          <p14:sldIdLst>
            <p14:sldId id="294"/>
          </p14:sldIdLst>
        </p14:section>
        <p14:section name="Lessons Learned" id="{737E8ECD-E953-4C61-9E13-BDAB3C5D242E}">
          <p14:sldIdLst>
            <p14:sldId id="307"/>
          </p14:sldIdLst>
        </p14:section>
        <p14:section name="Closing Remarks" id="{66274847-640A-42F1-8BB4-BAE56ADF7659}">
          <p14:sldIdLst>
            <p14:sldId id="283"/>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CA7A5"/>
    <a:srgbClr val="151F29"/>
    <a:srgbClr val="F7F9F9"/>
    <a:srgbClr val="5F6B73"/>
    <a:srgbClr val="5F9F97"/>
    <a:srgbClr val="6B7C7A"/>
    <a:srgbClr val="D6E5E2"/>
    <a:srgbClr val="EAECF0"/>
    <a:srgbClr val="FEFEFE"/>
    <a:srgbClr val="EAEC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186B72-D6E8-7863-0605-F1866300A657}" v="1" dt="2026-04-29T12:01:52.311"/>
    <p1510:client id="{3EAD5B6C-9879-4283-87B7-95F6E155A6FF}" v="114" dt="2026-04-28T12:34:16.518"/>
    <p1510:client id="{E36BBE2A-C3AC-5FE4-0407-03491AEA53EE}" v="97" dt="2026-04-27T23:50:56.1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670" autoAdjust="0"/>
  </p:normalViewPr>
  <p:slideViewPr>
    <p:cSldViewPr snapToGrid="0">
      <p:cViewPr varScale="1">
        <p:scale>
          <a:sx n="82" d="100"/>
          <a:sy n="82" d="100"/>
        </p:scale>
        <p:origin x="1596"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574E26-B935-4A54-B2FA-95DE9191E99F}" type="datetimeFigureOut">
              <a:rPr lang="en-US" smtClean="0"/>
              <a:t>4/28/2026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CA572B-A5A6-4847-A4C7-DF0C2105F9F0}" type="slidenum">
              <a:rPr lang="en-US" smtClean="0"/>
              <a:t>‹#›</a:t>
            </a:fld>
            <a:endParaRPr lang="en-US"/>
          </a:p>
        </p:txBody>
      </p:sp>
    </p:spTree>
    <p:extLst>
      <p:ext uri="{BB962C8B-B14F-4D97-AF65-F5344CB8AC3E}">
        <p14:creationId xmlns:p14="http://schemas.microsoft.com/office/powerpoint/2010/main" val="14822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excited to present Senior Helper – a modern, accessible web application designed to help seniors stay connected, safe, and in control of their daily lives.</a:t>
            </a:r>
          </a:p>
          <a:p>
            <a:endParaRPr lang="en-US" dirty="0"/>
          </a:p>
          <a:p>
            <a:r>
              <a:rPr lang="en-US" dirty="0"/>
              <a:t>Throughout this presentation we’ll walk through the problem we set out to solve, the frontend architecture and components we built, and how everything comes together to serve both seniors and their caregivers.</a:t>
            </a:r>
          </a:p>
          <a:p>
            <a:endParaRPr lang="en-US" dirty="0"/>
          </a:p>
          <a:p>
            <a:r>
              <a:rPr lang="en-US" dirty="0"/>
              <a:t>We’ll also cover our integration with the backend, our testing approach, and wrap up with a live demo of Senior Helper.</a:t>
            </a:r>
          </a:p>
          <a:p>
            <a:endParaRPr lang="en-US" dirty="0"/>
          </a:p>
          <a:p>
            <a:r>
              <a:rPr lang="en-US" dirty="0"/>
              <a:t>But before any of that, let’s meet the team behind it.</a:t>
            </a:r>
          </a:p>
        </p:txBody>
      </p:sp>
      <p:sp>
        <p:nvSpPr>
          <p:cNvPr id="4" name="Slide Number Placeholder 3"/>
          <p:cNvSpPr>
            <a:spLocks noGrp="1"/>
          </p:cNvSpPr>
          <p:nvPr>
            <p:ph type="sldNum" sz="quarter" idx="5"/>
          </p:nvPr>
        </p:nvSpPr>
        <p:spPr/>
        <p:txBody>
          <a:bodyPr/>
          <a:lstStyle/>
          <a:p>
            <a:fld id="{6DCA572B-A5A6-4847-A4C7-DF0C2105F9F0}" type="slidenum">
              <a:rPr lang="en-US" smtClean="0"/>
              <a:t>1</a:t>
            </a:fld>
            <a:endParaRPr lang="en-US"/>
          </a:p>
        </p:txBody>
      </p:sp>
    </p:spTree>
    <p:extLst>
      <p:ext uri="{BB962C8B-B14F-4D97-AF65-F5344CB8AC3E}">
        <p14:creationId xmlns:p14="http://schemas.microsoft.com/office/powerpoint/2010/main" val="3447418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team consists of six members, each owning specific features across the full stack.</a:t>
            </a:r>
          </a:p>
          <a:p>
            <a:r>
              <a:rPr lang="en-US" dirty="0"/>
              <a:t>I'm Lauren — project lead and scribe, and on the development side I focused on the education system, user connections, and the landing page.</a:t>
            </a:r>
          </a:p>
          <a:p>
            <a:r>
              <a:rPr lang="en-US" dirty="0"/>
              <a:t>Ricky also served as scribe alongside his development work, focusing on authentication, the landing page, and admin permissions on the backend.</a:t>
            </a:r>
          </a:p>
          <a:p>
            <a:r>
              <a:rPr lang="en-US" dirty="0"/>
              <a:t>Dewey owned the calendar functionality and built out the notification reminder system that keeps seniors on top of their upcoming appointments.</a:t>
            </a:r>
          </a:p>
          <a:p>
            <a:r>
              <a:rPr lang="en-US" dirty="0"/>
              <a:t>Dayne also worked on calendar functionality and developed the FAQ section of the application.</a:t>
            </a:r>
          </a:p>
          <a:p>
            <a:r>
              <a:rPr lang="en-US" dirty="0"/>
              <a:t>Tamia focused on user connections and contributed to the FAQ as well.</a:t>
            </a:r>
          </a:p>
          <a:p>
            <a:r>
              <a:rPr lang="en-US" dirty="0"/>
              <a:t>And Baudelaire rounded out the team with work on user connections and the user feedback and review system.</a:t>
            </a:r>
          </a:p>
          <a:p>
            <a:r>
              <a:rPr lang="en-US" dirty="0"/>
              <a:t>Together we designed, built, and tested the Senior Helper application across both the Angular frontend and Spring Boot backend.</a:t>
            </a:r>
          </a:p>
          <a:p>
            <a:endParaRPr lang="en-US" dirty="0"/>
          </a:p>
        </p:txBody>
      </p:sp>
      <p:sp>
        <p:nvSpPr>
          <p:cNvPr id="4" name="Slide Number Placeholder 3"/>
          <p:cNvSpPr>
            <a:spLocks noGrp="1"/>
          </p:cNvSpPr>
          <p:nvPr>
            <p:ph type="sldNum" sz="quarter" idx="5"/>
          </p:nvPr>
        </p:nvSpPr>
        <p:spPr/>
        <p:txBody>
          <a:bodyPr/>
          <a:lstStyle/>
          <a:p>
            <a:fld id="{6DCA572B-A5A6-4847-A4C7-DF0C2105F9F0}" type="slidenum">
              <a:rPr lang="en-US" smtClean="0"/>
              <a:t>2</a:t>
            </a:fld>
            <a:endParaRPr lang="en-US"/>
          </a:p>
        </p:txBody>
      </p:sp>
    </p:spTree>
    <p:extLst>
      <p:ext uri="{BB962C8B-B14F-4D97-AF65-F5344CB8AC3E}">
        <p14:creationId xmlns:p14="http://schemas.microsoft.com/office/powerpoint/2010/main" val="307457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Senior Helper is an Angular frontend that connects to a Spring Boot backend through a REST API. Once logged in, the app serves two distinct user types — seniors and caregivers — each seeing an experience tailored to their needs.</a:t>
            </a:r>
          </a:p>
          <a:p>
            <a:endParaRPr lang="en-US" dirty="0"/>
          </a:p>
          <a:p>
            <a:r>
              <a:rPr lang="en-US" dirty="0"/>
              <a:t>The application is built around three core features. </a:t>
            </a:r>
          </a:p>
          <a:p>
            <a:pPr marL="228600" indent="-228600">
              <a:buFont typeface="+mj-lt"/>
              <a:buAutoNum type="arabicPeriod"/>
            </a:pPr>
            <a:r>
              <a:rPr lang="en-US" dirty="0"/>
              <a:t>The appointment calendar keeps seniors organized with notification reminders for upcoming events. </a:t>
            </a:r>
          </a:p>
          <a:p>
            <a:pPr marL="228600" indent="-228600">
              <a:buFont typeface="+mj-lt"/>
              <a:buAutoNum type="arabicPeriod"/>
            </a:pPr>
            <a:r>
              <a:rPr lang="en-US" dirty="0"/>
              <a:t>The education section guides seniors through scam-awareness lessons and quizzes at their own pace. </a:t>
            </a:r>
          </a:p>
          <a:p>
            <a:pPr marL="228600" indent="-228600">
              <a:buFont typeface="+mj-lt"/>
              <a:buAutoNum type="arabicPeriod"/>
            </a:pPr>
            <a:r>
              <a:rPr lang="en-US" dirty="0"/>
              <a:t>And the caregiver linking system gives family members direct, real-time visibility into a senior's schedule — no phone calls needed.</a:t>
            </a:r>
          </a:p>
          <a:p>
            <a:endParaRPr lang="en-US" dirty="0"/>
          </a:p>
          <a:p>
            <a:r>
              <a:rPr lang="en-US" dirty="0"/>
              <a:t>Accessibility wasn't an afterthought — it was a design requirement from day one. Dark mode, clean navigation, and readable layouts were built in throughout to make sure the app works for users who may be new or cautious to technology.</a:t>
            </a:r>
          </a:p>
          <a:p>
            <a:endParaRPr lang="en-US" dirty="0"/>
          </a:p>
          <a:p>
            <a:r>
              <a:rPr lang="en-US" dirty="0"/>
              <a:t>Those priorities shaped our four frontend objectives. </a:t>
            </a:r>
          </a:p>
          <a:p>
            <a:pPr marL="228600" indent="-228600">
              <a:buFont typeface="+mj-lt"/>
              <a:buAutoNum type="arabicPeriod"/>
            </a:pPr>
            <a:r>
              <a:rPr lang="en-US" dirty="0"/>
              <a:t>Building an Angular framework approachable enough for seniors with no tech background. </a:t>
            </a:r>
          </a:p>
          <a:p>
            <a:pPr marL="228600" indent="-228600">
              <a:buFont typeface="+mj-lt"/>
              <a:buAutoNum type="arabicPeriod"/>
            </a:pPr>
            <a:r>
              <a:rPr lang="en-US" dirty="0"/>
              <a:t>Delivering responsive components across every feature of the app. </a:t>
            </a:r>
          </a:p>
          <a:p>
            <a:pPr marL="228600" indent="-228600">
              <a:buFont typeface="+mj-lt"/>
              <a:buAutoNum type="arabicPeriod"/>
            </a:pPr>
            <a:r>
              <a:rPr lang="en-US" dirty="0"/>
              <a:t>Integrating securely with the backend so every request is properly authenticated. </a:t>
            </a:r>
          </a:p>
          <a:p>
            <a:pPr marL="228600" indent="-228600">
              <a:buFont typeface="+mj-lt"/>
              <a:buAutoNum type="arabicPeriod"/>
            </a:pPr>
            <a:r>
              <a:rPr lang="en-US" dirty="0"/>
              <a:t>And validating our most critical user flows — login and appointment management — through Cypress end-to-end tests.</a:t>
            </a:r>
          </a:p>
          <a:p>
            <a:pPr marL="0" indent="0">
              <a:buFont typeface="Arial" panose="020B0604020202020204" pitchFamily="34" charset="0"/>
              <a:buNone/>
            </a:pPr>
            <a:endParaRPr lang="en-US" sz="1200" dirty="0"/>
          </a:p>
        </p:txBody>
      </p:sp>
      <p:sp>
        <p:nvSpPr>
          <p:cNvPr id="4" name="Slide Number Placeholder 3"/>
          <p:cNvSpPr>
            <a:spLocks noGrp="1"/>
          </p:cNvSpPr>
          <p:nvPr>
            <p:ph type="sldNum" sz="quarter" idx="5"/>
          </p:nvPr>
        </p:nvSpPr>
        <p:spPr/>
        <p:txBody>
          <a:bodyPr/>
          <a:lstStyle/>
          <a:p>
            <a:fld id="{6DCA572B-A5A6-4847-A4C7-DF0C2105F9F0}" type="slidenum">
              <a:rPr lang="en-US" smtClean="0"/>
              <a:t>3</a:t>
            </a:fld>
            <a:endParaRPr lang="en-US"/>
          </a:p>
        </p:txBody>
      </p:sp>
    </p:spTree>
    <p:extLst>
      <p:ext uri="{BB962C8B-B14F-4D97-AF65-F5344CB8AC3E}">
        <p14:creationId xmlns:p14="http://schemas.microsoft.com/office/powerpoint/2010/main" val="3688862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talk about why Senior Helper exists. The problem really comes down to three groups of people being underserved at the same time.</a:t>
            </a:r>
          </a:p>
          <a:p>
            <a:endParaRPr lang="en-US" dirty="0"/>
          </a:p>
          <a:p>
            <a:r>
              <a:rPr lang="en-US" dirty="0"/>
              <a:t>First, seniors. Older adults are now one of the fastest-growing targets for online scams — phishing emails, fake tech support calls, fraudulent websites. And the cruel irony is that the resources meant to help them are just as hard to navigate as the threats themselves. On top of that, the everyday tools we take for granted — Google Calendar, reminder apps, even email — were never designed for someone who might be picking up a smartphone for the very first time. The learning curve is steep, and most seniors just give up if it’s too complex.</a:t>
            </a:r>
          </a:p>
          <a:p>
            <a:endParaRPr lang="en-US" dirty="0"/>
          </a:p>
          <a:p>
            <a:r>
              <a:rPr lang="en-US" dirty="0"/>
              <a:t>Second, caregivers. Right now, staying informed about a senior's schedule means phone calls, text messages, or physically being there. There's no shared system, no real-time visibility. A caregiver has no way of knowing if an appointment was missed or if something changed unless the senior tells them directly — and that's not always reliable.</a:t>
            </a:r>
          </a:p>
          <a:p>
            <a:endParaRPr lang="en-US" dirty="0"/>
          </a:p>
          <a:p>
            <a:r>
              <a:rPr lang="en-US" dirty="0"/>
              <a:t>And third — nobody has put all of this together in one place. There are calendar apps, scam awareness websites, family coordination tools — but they're all separate, they all require separate logins, and none of them were built with seniors in mind.</a:t>
            </a:r>
          </a:p>
          <a:p>
            <a:endParaRPr lang="en-US" dirty="0"/>
          </a:p>
          <a:p>
            <a:r>
              <a:rPr lang="en-US" dirty="0"/>
              <a:t>That's exactly what our solution addresses. Senior Helper is a frontend we built from the ground up with seniors as the primary user — not an afterthought. Every design decision prioritized simplicity and accessibility. The appointment calendar connects directly to caregivers through our linking system so everyone stays in sync automatically. The education section brings scam awareness lessons and quizzes right into the app in a format that's easy to follow. And because we have two distinct user types, seniors and caregivers each get a tailored experience — seniors see their own dashboard, appointments, and education modules, while caregivers see the schedules of the seniors they're linked to.</a:t>
            </a:r>
          </a:p>
          <a:p>
            <a:endParaRPr lang="en-US" dirty="0"/>
          </a:p>
        </p:txBody>
      </p:sp>
      <p:sp>
        <p:nvSpPr>
          <p:cNvPr id="4" name="Slide Number Placeholder 3"/>
          <p:cNvSpPr>
            <a:spLocks noGrp="1"/>
          </p:cNvSpPr>
          <p:nvPr>
            <p:ph type="sldNum" sz="quarter" idx="5"/>
          </p:nvPr>
        </p:nvSpPr>
        <p:spPr/>
        <p:txBody>
          <a:bodyPr/>
          <a:lstStyle/>
          <a:p>
            <a:fld id="{6DCA572B-A5A6-4847-A4C7-DF0C2105F9F0}" type="slidenum">
              <a:rPr lang="en-US" smtClean="0"/>
              <a:t>4</a:t>
            </a:fld>
            <a:endParaRPr lang="en-US"/>
          </a:p>
        </p:txBody>
      </p:sp>
    </p:spTree>
    <p:extLst>
      <p:ext uri="{BB962C8B-B14F-4D97-AF65-F5344CB8AC3E}">
        <p14:creationId xmlns:p14="http://schemas.microsoft.com/office/powerpoint/2010/main" val="2391936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Sans-Serif"/>
              <a:buChar char="•"/>
            </a:pPr>
            <a:r>
              <a:rPr lang="en-US" b="1" dirty="0"/>
              <a:t>Integrated Development Environments (IDEs):</a:t>
            </a:r>
            <a:endParaRPr lang="en-US" dirty="0">
              <a:solidFill>
                <a:srgbClr val="444444"/>
              </a:solidFill>
            </a:endParaRPr>
          </a:p>
          <a:p>
            <a:pPr marL="285750" indent="-285750">
              <a:buFont typeface="Arial,Sans-Serif"/>
              <a:buChar char="•"/>
            </a:pPr>
            <a:r>
              <a:rPr lang="en-US" b="1" dirty="0"/>
              <a:t>IntelliJ IDEA:</a:t>
            </a:r>
            <a:r>
              <a:rPr lang="en-US" dirty="0"/>
              <a:t> Primary tool for Java/Maven backend development (robust refactoring and profiling).</a:t>
            </a:r>
            <a:endParaRPr lang="en-US" dirty="0">
              <a:solidFill>
                <a:srgbClr val="444444"/>
              </a:solidFill>
            </a:endParaRPr>
          </a:p>
          <a:p>
            <a:pPr marL="285750" indent="-285750">
              <a:buFont typeface="Arial,Sans-Serif"/>
              <a:buChar char="•"/>
            </a:pPr>
            <a:r>
              <a:rPr lang="en-US" b="1" dirty="0"/>
              <a:t>VS Code:</a:t>
            </a:r>
            <a:r>
              <a:rPr lang="en-US" dirty="0"/>
              <a:t> Preferred for Angular frontend development and Cypress test scripting due to its lightweight nature and TypeScript support.</a:t>
            </a:r>
          </a:p>
          <a:p>
            <a:pPr marL="285750" indent="-285750">
              <a:buFont typeface="Arial,Sans-Serif"/>
              <a:buChar char="•"/>
            </a:pPr>
            <a:r>
              <a:rPr lang="en-US" b="1" dirty="0"/>
              <a:t>PgAdmin4:  </a:t>
            </a:r>
            <a:r>
              <a:rPr lang="en-US" dirty="0"/>
              <a:t>The preferred means of manual CRUD operations when you wanted to verify changes were being writing to the PostgreSQL database.</a:t>
            </a:r>
          </a:p>
        </p:txBody>
      </p:sp>
      <p:sp>
        <p:nvSpPr>
          <p:cNvPr id="4" name="Slide Number Placeholder 3"/>
          <p:cNvSpPr>
            <a:spLocks noGrp="1"/>
          </p:cNvSpPr>
          <p:nvPr>
            <p:ph type="sldNum" sz="quarter" idx="5"/>
          </p:nvPr>
        </p:nvSpPr>
        <p:spPr/>
        <p:txBody>
          <a:bodyPr/>
          <a:lstStyle/>
          <a:p>
            <a:fld id="{6DCA572B-A5A6-4847-A4C7-DF0C2105F9F0}" type="slidenum">
              <a:rPr lang="en-US" smtClean="0"/>
              <a:t>5</a:t>
            </a:fld>
            <a:endParaRPr lang="en-US"/>
          </a:p>
        </p:txBody>
      </p:sp>
    </p:spTree>
    <p:extLst>
      <p:ext uri="{BB962C8B-B14F-4D97-AF65-F5344CB8AC3E}">
        <p14:creationId xmlns:p14="http://schemas.microsoft.com/office/powerpoint/2010/main" val="12079466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b="1" dirty="0"/>
              <a:t>Core Frameworks:</a:t>
            </a: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lang="en-US" b="1" dirty="0"/>
              <a:t>Frontend:</a:t>
            </a:r>
            <a:r>
              <a:rPr lang="en-US" dirty="0"/>
              <a:t> </a:t>
            </a:r>
            <a:r>
              <a:rPr lang="en-US" b="1" dirty="0"/>
              <a:t>Angular</a:t>
            </a:r>
            <a:r>
              <a:rPr lang="en-US" dirty="0"/>
              <a:t> for building a reactive, component-based UI.</a:t>
            </a:r>
          </a:p>
          <a:p>
            <a:pPr marL="285750" indent="-285750">
              <a:buFont typeface="Arial"/>
              <a:buChar char="•"/>
            </a:pPr>
            <a:r>
              <a:rPr lang="en-US" b="1" dirty="0"/>
              <a:t>Backend:</a:t>
            </a:r>
            <a:r>
              <a:rPr lang="en-US" dirty="0"/>
              <a:t> Java with </a:t>
            </a:r>
            <a:r>
              <a:rPr lang="en-US" b="1" dirty="0"/>
              <a:t>Maven</a:t>
            </a:r>
            <a:r>
              <a:rPr lang="en-US" dirty="0"/>
              <a:t> for dependency management and build automation.</a:t>
            </a:r>
          </a:p>
          <a:p>
            <a:pPr marL="285750" indent="-285750">
              <a:buFont typeface="Arial"/>
              <a:buChar char="•"/>
            </a:pPr>
            <a:r>
              <a:rPr lang="en-US" b="1" dirty="0"/>
              <a:t>Testing:</a:t>
            </a:r>
            <a:r>
              <a:rPr lang="en-US" dirty="0"/>
              <a:t> </a:t>
            </a:r>
            <a:r>
              <a:rPr lang="en-US" b="1" dirty="0"/>
              <a:t>Cypress</a:t>
            </a:r>
            <a:r>
              <a:rPr lang="en-US" dirty="0"/>
              <a:t> for end-to-end (E2E) testing to ensure seamless user flows.</a:t>
            </a:r>
          </a:p>
        </p:txBody>
      </p:sp>
      <p:sp>
        <p:nvSpPr>
          <p:cNvPr id="4" name="Slide Number Placeholder 3"/>
          <p:cNvSpPr>
            <a:spLocks noGrp="1"/>
          </p:cNvSpPr>
          <p:nvPr>
            <p:ph type="sldNum" sz="quarter" idx="5"/>
          </p:nvPr>
        </p:nvSpPr>
        <p:spPr/>
        <p:txBody>
          <a:bodyPr/>
          <a:lstStyle/>
          <a:p>
            <a:fld id="{6DCA572B-A5A6-4847-A4C7-DF0C2105F9F0}" type="slidenum">
              <a:rPr lang="en-US" smtClean="0"/>
              <a:t>6</a:t>
            </a:fld>
            <a:endParaRPr lang="en-US"/>
          </a:p>
        </p:txBody>
      </p:sp>
    </p:spTree>
    <p:extLst>
      <p:ext uri="{BB962C8B-B14F-4D97-AF65-F5344CB8AC3E}">
        <p14:creationId xmlns:p14="http://schemas.microsoft.com/office/powerpoint/2010/main" val="3715834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Sprint Planning:</a:t>
            </a:r>
            <a:r>
              <a:rPr lang="en-US" dirty="0"/>
              <a:t> Every Monday to define the backlog and assign Story Points to tasks.</a:t>
            </a:r>
          </a:p>
          <a:p>
            <a:endParaRPr lang="en-US" dirty="0"/>
          </a:p>
          <a:p>
            <a:r>
              <a:rPr lang="en-US" b="1" dirty="0"/>
              <a:t>Sprint Review &amp; Retrospective:</a:t>
            </a:r>
            <a:r>
              <a:rPr lang="en-US" dirty="0"/>
              <a:t> End-of-week sessions to demo features and refine team processes.</a:t>
            </a:r>
          </a:p>
        </p:txBody>
      </p:sp>
      <p:sp>
        <p:nvSpPr>
          <p:cNvPr id="4" name="Slide Number Placeholder 3"/>
          <p:cNvSpPr>
            <a:spLocks noGrp="1"/>
          </p:cNvSpPr>
          <p:nvPr>
            <p:ph type="sldNum" sz="quarter" idx="5"/>
          </p:nvPr>
        </p:nvSpPr>
        <p:spPr/>
        <p:txBody>
          <a:bodyPr/>
          <a:lstStyle/>
          <a:p>
            <a:fld id="{6DCA572B-A5A6-4847-A4C7-DF0C2105F9F0}" type="slidenum">
              <a:rPr lang="en-US" smtClean="0"/>
              <a:t>7</a:t>
            </a:fld>
            <a:endParaRPr lang="en-US"/>
          </a:p>
        </p:txBody>
      </p:sp>
    </p:spTree>
    <p:extLst>
      <p:ext uri="{BB962C8B-B14F-4D97-AF65-F5344CB8AC3E}">
        <p14:creationId xmlns:p14="http://schemas.microsoft.com/office/powerpoint/2010/main" val="2892830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"Our Cypress Strategy: Behavioral Testing"</a:t>
            </a:r>
            <a:endParaRPr lang="en-US" dirty="0"/>
          </a:p>
          <a:p>
            <a:pPr marL="285750" indent="-285750">
              <a:buFont typeface="Arial"/>
              <a:buChar char="•"/>
            </a:pPr>
            <a:r>
              <a:rPr lang="en-US" b="1" dirty="0"/>
              <a:t>Isolation:</a:t>
            </a:r>
            <a:r>
              <a:rPr lang="en-US" dirty="0"/>
              <a:t> We use </a:t>
            </a:r>
            <a:r>
              <a:rPr lang="en-US" dirty="0" err="1"/>
              <a:t>cy.intercept</a:t>
            </a:r>
            <a:r>
              <a:rPr lang="en-US" dirty="0"/>
              <a:t> to decouple the frontend from the backend during UI tests, allowing us to test edge cases (like server errors) easily.</a:t>
            </a:r>
          </a:p>
          <a:p>
            <a:pPr marL="285750" indent="-285750">
              <a:buFont typeface="Arial"/>
              <a:buChar char="•"/>
            </a:pPr>
            <a:r>
              <a:rPr lang="en-US" b="1" dirty="0"/>
              <a:t>Validation:</a:t>
            </a:r>
            <a:r>
              <a:rPr lang="en-US" dirty="0"/>
              <a:t> We verify that the Angular state changes (URL redirection) only after a successful 200 response from the Java API.</a:t>
            </a:r>
          </a:p>
          <a:p>
            <a:pPr marL="285750" indent="-285750">
              <a:buFont typeface="Arial"/>
              <a:buChar char="•"/>
            </a:pPr>
            <a:r>
              <a:rPr lang="en-US" b="1" dirty="0"/>
              <a:t>Resilience:</a:t>
            </a:r>
            <a:r>
              <a:rPr lang="en-US" dirty="0"/>
              <a:t> By using data-cy selectors, our test suite remains robust even if the UI undergoes a visual redesign.</a:t>
            </a:r>
          </a:p>
        </p:txBody>
      </p:sp>
      <p:sp>
        <p:nvSpPr>
          <p:cNvPr id="4" name="Slide Number Placeholder 3"/>
          <p:cNvSpPr>
            <a:spLocks noGrp="1"/>
          </p:cNvSpPr>
          <p:nvPr>
            <p:ph type="sldNum" sz="quarter" idx="5"/>
          </p:nvPr>
        </p:nvSpPr>
        <p:spPr/>
        <p:txBody>
          <a:bodyPr/>
          <a:lstStyle/>
          <a:p>
            <a:fld id="{6DCA572B-A5A6-4847-A4C7-DF0C2105F9F0}" type="slidenum">
              <a:rPr lang="en-US" smtClean="0"/>
              <a:t>8</a:t>
            </a:fld>
            <a:endParaRPr lang="en-US"/>
          </a:p>
        </p:txBody>
      </p:sp>
    </p:spTree>
    <p:extLst>
      <p:ext uri="{BB962C8B-B14F-4D97-AF65-F5344CB8AC3E}">
        <p14:creationId xmlns:p14="http://schemas.microsoft.com/office/powerpoint/2010/main" val="3340857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a:p>
          <a:p>
            <a:endParaRPr lang="en-US"/>
          </a:p>
        </p:txBody>
      </p:sp>
      <p:sp>
        <p:nvSpPr>
          <p:cNvPr id="4" name="Slide Number Placeholder 3"/>
          <p:cNvSpPr>
            <a:spLocks noGrp="1"/>
          </p:cNvSpPr>
          <p:nvPr>
            <p:ph type="sldNum" sz="quarter" idx="5"/>
          </p:nvPr>
        </p:nvSpPr>
        <p:spPr/>
        <p:txBody>
          <a:bodyPr/>
          <a:lstStyle/>
          <a:p>
            <a:fld id="{6DCA572B-A5A6-4847-A4C7-DF0C2105F9F0}" type="slidenum">
              <a:rPr lang="en-US" smtClean="0"/>
              <a:t>9</a:t>
            </a:fld>
            <a:endParaRPr lang="en-US"/>
          </a:p>
        </p:txBody>
      </p:sp>
    </p:spTree>
    <p:extLst>
      <p:ext uri="{BB962C8B-B14F-4D97-AF65-F5344CB8AC3E}">
        <p14:creationId xmlns:p14="http://schemas.microsoft.com/office/powerpoint/2010/main" val="23727245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Following the structures of many websites before us we designed an architecture that presented a simple UI to navigate</a:t>
            </a:r>
            <a:br>
              <a:rPr lang="en-US"/>
            </a:br>
            <a:r>
              <a:rPr lang="en-US"/>
              <a:t>The main features are directly accessible from the dashboard and a navigation bar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 landing page was added before the login/registration to provide a short description of the team and the app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p:txBody>
      </p:sp>
      <p:sp>
        <p:nvSpPr>
          <p:cNvPr id="4" name="Slide Number Placeholder 3"/>
          <p:cNvSpPr>
            <a:spLocks noGrp="1"/>
          </p:cNvSpPr>
          <p:nvPr>
            <p:ph type="sldNum" sz="quarter" idx="5"/>
          </p:nvPr>
        </p:nvSpPr>
        <p:spPr/>
        <p:txBody>
          <a:bodyPr/>
          <a:lstStyle/>
          <a:p>
            <a:fld id="{6DCA572B-A5A6-4847-A4C7-DF0C2105F9F0}" type="slidenum">
              <a:rPr lang="en-US" smtClean="0"/>
              <a:t>11</a:t>
            </a:fld>
            <a:endParaRPr lang="en-US"/>
          </a:p>
        </p:txBody>
      </p:sp>
    </p:spTree>
    <p:extLst>
      <p:ext uri="{BB962C8B-B14F-4D97-AF65-F5344CB8AC3E}">
        <p14:creationId xmlns:p14="http://schemas.microsoft.com/office/powerpoint/2010/main" val="5993711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manage development across multiple team members, we used a structured GitHub workflow. Everyone worked within smaller teams on their own feature branches, and the main branch was kept stable. All changes went through pull requests, where we reviewed each other’s code. That helped us catch bugs early and keep the codebase consistent.</a:t>
            </a:r>
          </a:p>
        </p:txBody>
      </p:sp>
      <p:sp>
        <p:nvSpPr>
          <p:cNvPr id="4" name="Slide Number Placeholder 3"/>
          <p:cNvSpPr>
            <a:spLocks noGrp="1"/>
          </p:cNvSpPr>
          <p:nvPr>
            <p:ph type="sldNum" sz="quarter" idx="5"/>
          </p:nvPr>
        </p:nvSpPr>
        <p:spPr/>
        <p:txBody>
          <a:bodyPr/>
          <a:lstStyle/>
          <a:p>
            <a:fld id="{6DCA572B-A5A6-4847-A4C7-DF0C2105F9F0}" type="slidenum">
              <a:rPr lang="en-US" smtClean="0"/>
              <a:t>12</a:t>
            </a:fld>
            <a:endParaRPr lang="en-US"/>
          </a:p>
        </p:txBody>
      </p:sp>
    </p:spTree>
    <p:extLst>
      <p:ext uri="{BB962C8B-B14F-4D97-AF65-F5344CB8AC3E}">
        <p14:creationId xmlns:p14="http://schemas.microsoft.com/office/powerpoint/2010/main" val="2992619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We designed our UI in Figma, then converted those mockups into Angular components with a focus on simplicity and usability.</a:t>
            </a:r>
          </a:p>
          <a:p>
            <a:pPr marL="228600" indent="-228600">
              <a:buAutoNum type="arabicPeriod"/>
            </a:pPr>
            <a:r>
              <a:rPr lang="en-US" dirty="0"/>
              <a:t>We reused components and centralized styling to keep the UI consistent and avoid duplicating code.</a:t>
            </a:r>
          </a:p>
          <a:p>
            <a:pPr marL="228600" indent="-228600">
              <a:buAutoNum type="arabicPeriod"/>
            </a:pPr>
            <a:r>
              <a:rPr lang="en-US" dirty="0"/>
              <a:t>We integrated the frontend with the backend using a service layer to handle API calls, keeping the codebase organized and maintainable.</a:t>
            </a:r>
          </a:p>
        </p:txBody>
      </p:sp>
      <p:sp>
        <p:nvSpPr>
          <p:cNvPr id="4" name="Slide Number Placeholder 3"/>
          <p:cNvSpPr>
            <a:spLocks noGrp="1"/>
          </p:cNvSpPr>
          <p:nvPr>
            <p:ph type="sldNum" sz="quarter" idx="5"/>
          </p:nvPr>
        </p:nvSpPr>
        <p:spPr/>
        <p:txBody>
          <a:bodyPr/>
          <a:lstStyle/>
          <a:p>
            <a:fld id="{6DCA572B-A5A6-4847-A4C7-DF0C2105F9F0}" type="slidenum">
              <a:rPr lang="en-US" smtClean="0"/>
              <a:t>13</a:t>
            </a:fld>
            <a:endParaRPr lang="en-US"/>
          </a:p>
        </p:txBody>
      </p:sp>
    </p:spTree>
    <p:extLst>
      <p:ext uri="{BB962C8B-B14F-4D97-AF65-F5344CB8AC3E}">
        <p14:creationId xmlns:p14="http://schemas.microsoft.com/office/powerpoint/2010/main" val="18233825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E23B8-B2FC-C412-CF51-BEEE5DA24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11E43-565F-2C4F-18F5-07858C49E8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80315-1837-847B-F715-523CCE6068E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8EFE46C-2BA4-65A5-E2B3-4122F1A884E9}"/>
              </a:ext>
            </a:extLst>
          </p:cNvPr>
          <p:cNvSpPr>
            <a:spLocks noGrp="1"/>
          </p:cNvSpPr>
          <p:nvPr>
            <p:ph type="sldNum" sz="quarter" idx="5"/>
          </p:nvPr>
        </p:nvSpPr>
        <p:spPr/>
        <p:txBody>
          <a:bodyPr/>
          <a:lstStyle/>
          <a:p>
            <a:fld id="{6DCA572B-A5A6-4847-A4C7-DF0C2105F9F0}" type="slidenum">
              <a:rPr lang="en-US" smtClean="0"/>
              <a:t>14</a:t>
            </a:fld>
            <a:endParaRPr lang="en-US"/>
          </a:p>
        </p:txBody>
      </p:sp>
    </p:spTree>
    <p:extLst>
      <p:ext uri="{BB962C8B-B14F-4D97-AF65-F5344CB8AC3E}">
        <p14:creationId xmlns:p14="http://schemas.microsoft.com/office/powerpoint/2010/main" val="37860206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We set up routing within the app to let users move between views without reloading the page, giving the app a smooth, fast feel.</a:t>
            </a:r>
          </a:p>
          <a:p>
            <a:pPr marL="228600" indent="-228600">
              <a:buAutoNum type="arabicPeriod"/>
            </a:pPr>
            <a:r>
              <a:rPr lang="en-US" dirty="0"/>
              <a:t>We tested UI across different screen sizes and adjusted styling to make sure the app is usable on both desktop and smaller devices. </a:t>
            </a:r>
          </a:p>
          <a:p>
            <a:pPr marL="228600" indent="-228600">
              <a:buAutoNum type="arabicPeriod"/>
            </a:pPr>
            <a:r>
              <a:rPr lang="en-US" dirty="0"/>
              <a:t>Finally, we </a:t>
            </a:r>
            <a:r>
              <a:rPr lang="en-US"/>
              <a:t>took our fully </a:t>
            </a:r>
            <a:r>
              <a:rPr lang="en-US" dirty="0"/>
              <a:t>built</a:t>
            </a:r>
            <a:r>
              <a:rPr lang="en-US"/>
              <a:t> </a:t>
            </a:r>
            <a:r>
              <a:rPr lang="en-US" dirty="0"/>
              <a:t>Angular </a:t>
            </a:r>
            <a:r>
              <a:rPr lang="en-US"/>
              <a:t>frontend </a:t>
            </a:r>
            <a:r>
              <a:rPr lang="en-US" dirty="0"/>
              <a:t>and </a:t>
            </a:r>
            <a:r>
              <a:rPr lang="en-US"/>
              <a:t>bundled</a:t>
            </a:r>
            <a:r>
              <a:rPr lang="en-US" dirty="0"/>
              <a:t> it into our Spring Boot project using Maven, so the entire application runs as a single deployable unit.</a:t>
            </a:r>
          </a:p>
        </p:txBody>
      </p:sp>
      <p:sp>
        <p:nvSpPr>
          <p:cNvPr id="4" name="Slide Number Placeholder 3"/>
          <p:cNvSpPr>
            <a:spLocks noGrp="1"/>
          </p:cNvSpPr>
          <p:nvPr>
            <p:ph type="sldNum" sz="quarter" idx="5"/>
          </p:nvPr>
        </p:nvSpPr>
        <p:spPr/>
        <p:txBody>
          <a:bodyPr/>
          <a:lstStyle/>
          <a:p>
            <a:fld id="{6DCA572B-A5A6-4847-A4C7-DF0C2105F9F0}" type="slidenum">
              <a:rPr lang="en-US" smtClean="0"/>
              <a:t>15</a:t>
            </a:fld>
            <a:endParaRPr lang="en-US"/>
          </a:p>
        </p:txBody>
      </p:sp>
    </p:spTree>
    <p:extLst>
      <p:ext uri="{BB962C8B-B14F-4D97-AF65-F5344CB8AC3E}">
        <p14:creationId xmlns:p14="http://schemas.microsoft.com/office/powerpoint/2010/main" val="28385849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C93EA-38A1-23B0-0E2D-9068B98EB8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F8989E-4303-FC83-0F28-2855114A2F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167F9-129E-77C2-BADE-0E96A4B1FDB0}"/>
              </a:ext>
            </a:extLst>
          </p:cNvPr>
          <p:cNvSpPr>
            <a:spLocks noGrp="1"/>
          </p:cNvSpPr>
          <p:nvPr>
            <p:ph type="body" idx="1"/>
          </p:nvPr>
        </p:nvSpPr>
        <p:spPr/>
        <p:txBody>
          <a:bodyPr/>
          <a:lstStyle/>
          <a:p>
            <a:pPr marL="228600" indent="-228600">
              <a:buAutoNum type="arabicPeriod"/>
            </a:pPr>
            <a:r>
              <a:rPr lang="en-US"/>
              <a:t>We set up routing within the app to let users move between views without reloading the page, giving the app a smooth, fast feel.</a:t>
            </a:r>
          </a:p>
          <a:p>
            <a:pPr marL="228600" indent="-228600">
              <a:buAutoNum type="arabicPeriod"/>
            </a:pPr>
            <a:r>
              <a:rPr lang="en-US"/>
              <a:t>We tested UI across different screen sizes and adjusted styling to make sure the app is usable on both desktop and smaller devices. </a:t>
            </a:r>
          </a:p>
          <a:p>
            <a:pPr marL="228600" indent="-228600">
              <a:buAutoNum type="arabicPeriod"/>
            </a:pPr>
            <a:r>
              <a:rPr lang="en-US"/>
              <a:t>Finally, we built the Angular app and bundles it into our Spring Boot project using Maven, so the entire application runs as a single deployable unit.</a:t>
            </a:r>
          </a:p>
        </p:txBody>
      </p:sp>
      <p:sp>
        <p:nvSpPr>
          <p:cNvPr id="4" name="Slide Number Placeholder 3">
            <a:extLst>
              <a:ext uri="{FF2B5EF4-FFF2-40B4-BE49-F238E27FC236}">
                <a16:creationId xmlns:a16="http://schemas.microsoft.com/office/drawing/2014/main" id="{1FABE630-B0D5-461E-77A8-8B0E75AEAA6E}"/>
              </a:ext>
            </a:extLst>
          </p:cNvPr>
          <p:cNvSpPr>
            <a:spLocks noGrp="1"/>
          </p:cNvSpPr>
          <p:nvPr>
            <p:ph type="sldNum" sz="quarter" idx="5"/>
          </p:nvPr>
        </p:nvSpPr>
        <p:spPr/>
        <p:txBody>
          <a:bodyPr/>
          <a:lstStyle/>
          <a:p>
            <a:fld id="{6DCA572B-A5A6-4847-A4C7-DF0C2105F9F0}" type="slidenum">
              <a:rPr lang="en-US" smtClean="0"/>
              <a:t>16</a:t>
            </a:fld>
            <a:endParaRPr lang="en-US"/>
          </a:p>
        </p:txBody>
      </p:sp>
    </p:spTree>
    <p:extLst>
      <p:ext uri="{BB962C8B-B14F-4D97-AF65-F5344CB8AC3E}">
        <p14:creationId xmlns:p14="http://schemas.microsoft.com/office/powerpoint/2010/main" val="26533501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Making sure roles are only allowed to access what they should be under their account</a:t>
            </a:r>
          </a:p>
          <a:p>
            <a:r>
              <a:rPr lang="en-US" dirty="0"/>
              <a:t>Corrected error codes</a:t>
            </a:r>
          </a:p>
          <a:p>
            <a:endParaRPr lang="en-US" dirty="0"/>
          </a:p>
        </p:txBody>
      </p:sp>
      <p:sp>
        <p:nvSpPr>
          <p:cNvPr id="4" name="Slide Number Placeholder 3"/>
          <p:cNvSpPr>
            <a:spLocks noGrp="1"/>
          </p:cNvSpPr>
          <p:nvPr>
            <p:ph type="sldNum" sz="quarter" idx="5"/>
          </p:nvPr>
        </p:nvSpPr>
        <p:spPr/>
        <p:txBody>
          <a:bodyPr/>
          <a:lstStyle/>
          <a:p>
            <a:fld id="{6DCA572B-A5A6-4847-A4C7-DF0C2105F9F0}" type="slidenum">
              <a:rPr lang="en-US" smtClean="0"/>
              <a:t>17</a:t>
            </a:fld>
            <a:endParaRPr lang="en-US"/>
          </a:p>
        </p:txBody>
      </p:sp>
    </p:spTree>
    <p:extLst>
      <p:ext uri="{BB962C8B-B14F-4D97-AF65-F5344CB8AC3E}">
        <p14:creationId xmlns:p14="http://schemas.microsoft.com/office/powerpoint/2010/main" val="35717158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90000"/>
              </a:lnSpc>
              <a:spcBef>
                <a:spcPts val="1000"/>
              </a:spcBef>
              <a:buFont typeface="Arial"/>
              <a:buChar char="•"/>
            </a:pPr>
            <a:r>
              <a:rPr lang="en-US" dirty="0"/>
              <a:t>Cypress E2E Tests </a:t>
            </a:r>
          </a:p>
          <a:p>
            <a:pPr marL="285750" indent="-285750">
              <a:lnSpc>
                <a:spcPct val="90000"/>
              </a:lnSpc>
              <a:spcBef>
                <a:spcPts val="1000"/>
              </a:spcBef>
              <a:buFont typeface="Arial"/>
              <a:buChar char="•"/>
            </a:pPr>
            <a:r>
              <a:rPr lang="en-US" dirty="0"/>
              <a:t>Role Authentication </a:t>
            </a:r>
          </a:p>
          <a:p>
            <a:pPr marL="285750" indent="-285750">
              <a:lnSpc>
                <a:spcPct val="90000"/>
              </a:lnSpc>
              <a:spcBef>
                <a:spcPts val="1000"/>
              </a:spcBef>
              <a:buFont typeface="Arial"/>
              <a:buChar char="•"/>
            </a:pPr>
            <a:r>
              <a:rPr lang="en-US" dirty="0"/>
              <a:t>Added security layers for routing and HTTP requests</a:t>
            </a:r>
          </a:p>
        </p:txBody>
      </p:sp>
      <p:sp>
        <p:nvSpPr>
          <p:cNvPr id="4" name="Slide Number Placeholder 3"/>
          <p:cNvSpPr>
            <a:spLocks noGrp="1"/>
          </p:cNvSpPr>
          <p:nvPr>
            <p:ph type="sldNum" sz="quarter" idx="5"/>
          </p:nvPr>
        </p:nvSpPr>
        <p:spPr/>
        <p:txBody>
          <a:bodyPr/>
          <a:lstStyle/>
          <a:p>
            <a:fld id="{6DCA572B-A5A6-4847-A4C7-DF0C2105F9F0}" type="slidenum">
              <a:rPr lang="en-US" smtClean="0"/>
              <a:t>19</a:t>
            </a:fld>
            <a:endParaRPr lang="en-US"/>
          </a:p>
        </p:txBody>
      </p:sp>
    </p:spTree>
    <p:extLst>
      <p:ext uri="{BB962C8B-B14F-4D97-AF65-F5344CB8AC3E}">
        <p14:creationId xmlns:p14="http://schemas.microsoft.com/office/powerpoint/2010/main" val="3186602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Distinctive features we could have looked into:</a:t>
            </a:r>
          </a:p>
          <a:p>
            <a:r>
              <a:rPr lang="en-US" dirty="0"/>
              <a:t>Email verification during account registration</a:t>
            </a:r>
          </a:p>
          <a:p>
            <a:r>
              <a:rPr lang="en-US" dirty="0"/>
              <a:t>Account recovery</a:t>
            </a:r>
          </a:p>
          <a:p>
            <a:r>
              <a:rPr lang="en-US" dirty="0">
                <a:solidFill>
                  <a:srgbClr val="000000"/>
                </a:solidFill>
                <a:ea typeface="+mn-lt"/>
                <a:cs typeface="+mn-lt"/>
              </a:rPr>
              <a:t>Multi-Factor Authentication (MFA)</a:t>
            </a:r>
            <a:endParaRPr lang="en-US" dirty="0">
              <a:solidFill>
                <a:srgbClr val="000000"/>
              </a:solidFill>
            </a:endParaRPr>
          </a:p>
          <a:p>
            <a:endParaRPr lang="en-US" dirty="0"/>
          </a:p>
        </p:txBody>
      </p:sp>
      <p:sp>
        <p:nvSpPr>
          <p:cNvPr id="4" name="Slide Number Placeholder 3"/>
          <p:cNvSpPr>
            <a:spLocks noGrp="1"/>
          </p:cNvSpPr>
          <p:nvPr>
            <p:ph type="sldNum" sz="quarter" idx="5"/>
          </p:nvPr>
        </p:nvSpPr>
        <p:spPr/>
        <p:txBody>
          <a:bodyPr/>
          <a:lstStyle/>
          <a:p>
            <a:fld id="{6DCA572B-A5A6-4847-A4C7-DF0C2105F9F0}" type="slidenum">
              <a:rPr lang="en-US" smtClean="0"/>
              <a:t>20</a:t>
            </a:fld>
            <a:endParaRPr lang="en-US"/>
          </a:p>
        </p:txBody>
      </p:sp>
    </p:spTree>
    <p:extLst>
      <p:ext uri="{BB962C8B-B14F-4D97-AF65-F5344CB8AC3E}">
        <p14:creationId xmlns:p14="http://schemas.microsoft.com/office/powerpoint/2010/main" val="6521868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CA572B-A5A6-4847-A4C7-DF0C2105F9F0}" type="slidenum">
              <a:rPr lang="en-US" smtClean="0"/>
              <a:t>24</a:t>
            </a:fld>
            <a:endParaRPr lang="en-US"/>
          </a:p>
        </p:txBody>
      </p:sp>
    </p:spTree>
    <p:extLst>
      <p:ext uri="{BB962C8B-B14F-4D97-AF65-F5344CB8AC3E}">
        <p14:creationId xmlns:p14="http://schemas.microsoft.com/office/powerpoint/2010/main" val="37568060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54A08-B35D-F36A-037B-3A95665082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557A5F-F9A3-CE06-363D-FDF0914F2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3CD3EC-F7A4-FE15-48EB-132E2095B20B}"/>
              </a:ext>
            </a:extLst>
          </p:cNvPr>
          <p:cNvSpPr>
            <a:spLocks noGrp="1"/>
          </p:cNvSpPr>
          <p:nvPr>
            <p:ph type="body" idx="1"/>
          </p:nvPr>
        </p:nvSpPr>
        <p:spPr/>
        <p:txBody>
          <a:bodyPr/>
          <a:lstStyle/>
          <a:p>
            <a:pPr marL="0" indent="0">
              <a:buNone/>
            </a:pPr>
            <a:endParaRPr lang="en-US" dirty="0"/>
          </a:p>
        </p:txBody>
      </p:sp>
      <p:sp>
        <p:nvSpPr>
          <p:cNvPr id="4" name="Slide Number Placeholder 3">
            <a:extLst>
              <a:ext uri="{FF2B5EF4-FFF2-40B4-BE49-F238E27FC236}">
                <a16:creationId xmlns:a16="http://schemas.microsoft.com/office/drawing/2014/main" id="{76723B66-18C6-AEF8-1D19-AF29109E0007}"/>
              </a:ext>
            </a:extLst>
          </p:cNvPr>
          <p:cNvSpPr>
            <a:spLocks noGrp="1"/>
          </p:cNvSpPr>
          <p:nvPr>
            <p:ph type="sldNum" sz="quarter" idx="5"/>
          </p:nvPr>
        </p:nvSpPr>
        <p:spPr/>
        <p:txBody>
          <a:bodyPr/>
          <a:lstStyle/>
          <a:p>
            <a:fld id="{6DCA572B-A5A6-4847-A4C7-DF0C2105F9F0}" type="slidenum">
              <a:rPr lang="en-US" smtClean="0"/>
              <a:t>26</a:t>
            </a:fld>
            <a:endParaRPr lang="en-US"/>
          </a:p>
        </p:txBody>
      </p:sp>
    </p:spTree>
    <p:extLst>
      <p:ext uri="{BB962C8B-B14F-4D97-AF65-F5344CB8AC3E}">
        <p14:creationId xmlns:p14="http://schemas.microsoft.com/office/powerpoint/2010/main" val="867158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9E287-6531-E16B-9AF5-E177C7994D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4072A1-3B6E-2FEF-0A93-F11CA14914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B20017-D4A0-59F9-F3D5-D1A5419C8BF1}"/>
              </a:ext>
            </a:extLst>
          </p:cNvPr>
          <p:cNvSpPr>
            <a:spLocks noGrp="1"/>
          </p:cNvSpPr>
          <p:nvPr>
            <p:ph type="dt" sz="half" idx="10"/>
          </p:nvPr>
        </p:nvSpPr>
        <p:spPr/>
        <p:txBody>
          <a:bodyPr/>
          <a:lstStyle/>
          <a:p>
            <a:fld id="{6B4FF350-8104-4928-8600-DF7144FF61A8}" type="datetime1">
              <a:rPr lang="en-US" smtClean="0"/>
              <a:t>4/28/2026</a:t>
            </a:fld>
            <a:endParaRPr lang="en-US"/>
          </a:p>
        </p:txBody>
      </p:sp>
      <p:sp>
        <p:nvSpPr>
          <p:cNvPr id="5" name="Footer Placeholder 4">
            <a:extLst>
              <a:ext uri="{FF2B5EF4-FFF2-40B4-BE49-F238E27FC236}">
                <a16:creationId xmlns:a16="http://schemas.microsoft.com/office/drawing/2014/main" id="{55D80D39-A316-40D6-9D66-FCEDB45B10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31F9E5-1539-E686-6959-D5CBCB8E8EAE}"/>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3986859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8DBDC-BB3C-913D-BAB5-1A0894D30D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0D20ED-987F-5202-1827-E2C212B191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438A7-2652-D8FD-C05D-FDD2DBFB01B4}"/>
              </a:ext>
            </a:extLst>
          </p:cNvPr>
          <p:cNvSpPr>
            <a:spLocks noGrp="1"/>
          </p:cNvSpPr>
          <p:nvPr>
            <p:ph type="dt" sz="half" idx="10"/>
          </p:nvPr>
        </p:nvSpPr>
        <p:spPr/>
        <p:txBody>
          <a:bodyPr/>
          <a:lstStyle/>
          <a:p>
            <a:fld id="{DA7F677A-C3D5-4E1C-A04A-E60C4D8A63B6}" type="datetime1">
              <a:rPr lang="en-US" smtClean="0"/>
              <a:t>4/28/2026</a:t>
            </a:fld>
            <a:endParaRPr lang="en-US"/>
          </a:p>
        </p:txBody>
      </p:sp>
      <p:sp>
        <p:nvSpPr>
          <p:cNvPr id="5" name="Footer Placeholder 4">
            <a:extLst>
              <a:ext uri="{FF2B5EF4-FFF2-40B4-BE49-F238E27FC236}">
                <a16:creationId xmlns:a16="http://schemas.microsoft.com/office/drawing/2014/main" id="{A1BE8DBF-3F90-A572-0B78-2B2939A59F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2E85B-3F3A-F998-E09C-A4CBAD713F08}"/>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3878646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00A7B-68F3-BEF7-6E4F-F1688FD1BD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AF55C26-4A90-F175-0C5B-6BEE120538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47FB44-0789-A31C-8CAB-FC4C1BFB0590}"/>
              </a:ext>
            </a:extLst>
          </p:cNvPr>
          <p:cNvSpPr>
            <a:spLocks noGrp="1"/>
          </p:cNvSpPr>
          <p:nvPr>
            <p:ph type="dt" sz="half" idx="10"/>
          </p:nvPr>
        </p:nvSpPr>
        <p:spPr/>
        <p:txBody>
          <a:bodyPr/>
          <a:lstStyle/>
          <a:p>
            <a:fld id="{2D8BBBBD-370B-41C8-821E-EC602BFE23A0}" type="datetime1">
              <a:rPr lang="en-US" smtClean="0"/>
              <a:t>4/28/2026</a:t>
            </a:fld>
            <a:endParaRPr lang="en-US"/>
          </a:p>
        </p:txBody>
      </p:sp>
      <p:sp>
        <p:nvSpPr>
          <p:cNvPr id="5" name="Footer Placeholder 4">
            <a:extLst>
              <a:ext uri="{FF2B5EF4-FFF2-40B4-BE49-F238E27FC236}">
                <a16:creationId xmlns:a16="http://schemas.microsoft.com/office/drawing/2014/main" id="{DD95989D-8F8C-FD39-F388-85CECEA5AE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4DFAF2-1E97-F221-EF6C-770EECC0D811}"/>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1517596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C6898-988F-0FC6-5565-0933E9D13B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095776-5368-B95D-5414-38E123162B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1ADE93-EAAE-C13E-DAD3-E21A92204A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076143-B512-4F4F-592D-E879D2D2F6EF}"/>
              </a:ext>
            </a:extLst>
          </p:cNvPr>
          <p:cNvSpPr>
            <a:spLocks noGrp="1"/>
          </p:cNvSpPr>
          <p:nvPr>
            <p:ph type="dt" sz="half" idx="10"/>
          </p:nvPr>
        </p:nvSpPr>
        <p:spPr/>
        <p:txBody>
          <a:bodyPr/>
          <a:lstStyle/>
          <a:p>
            <a:fld id="{589E5D27-587B-4A55-802F-11E312F97441}" type="datetime1">
              <a:rPr lang="en-US" smtClean="0"/>
              <a:t>4/28/2026</a:t>
            </a:fld>
            <a:endParaRPr lang="en-US"/>
          </a:p>
        </p:txBody>
      </p:sp>
      <p:sp>
        <p:nvSpPr>
          <p:cNvPr id="6" name="Footer Placeholder 5">
            <a:extLst>
              <a:ext uri="{FF2B5EF4-FFF2-40B4-BE49-F238E27FC236}">
                <a16:creationId xmlns:a16="http://schemas.microsoft.com/office/drawing/2014/main" id="{D712F2B3-ED64-3C96-4E36-B2E6880049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C602EB-0A0F-3840-C004-8BCFCABC52EE}"/>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1705491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1461B-EE27-E7E1-61EA-7B3A753BA5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9E71EC-F42F-C0E8-61A2-9DDD0AD150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BAB3E8-206D-C585-AFB6-9A0232914D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667B19C-C608-02AD-5BE0-89D24BAA0A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65C839-3521-AA1C-66C8-3274D5402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94EDEF-B92D-A3F9-0AC1-EAC70EC4241E}"/>
              </a:ext>
            </a:extLst>
          </p:cNvPr>
          <p:cNvSpPr>
            <a:spLocks noGrp="1"/>
          </p:cNvSpPr>
          <p:nvPr>
            <p:ph type="dt" sz="half" idx="10"/>
          </p:nvPr>
        </p:nvSpPr>
        <p:spPr/>
        <p:txBody>
          <a:bodyPr/>
          <a:lstStyle/>
          <a:p>
            <a:fld id="{6133D58D-10A9-4753-AD8D-7B0327248A17}" type="datetime1">
              <a:rPr lang="en-US" smtClean="0"/>
              <a:t>4/28/2026</a:t>
            </a:fld>
            <a:endParaRPr lang="en-US"/>
          </a:p>
        </p:txBody>
      </p:sp>
      <p:sp>
        <p:nvSpPr>
          <p:cNvPr id="8" name="Footer Placeholder 7">
            <a:extLst>
              <a:ext uri="{FF2B5EF4-FFF2-40B4-BE49-F238E27FC236}">
                <a16:creationId xmlns:a16="http://schemas.microsoft.com/office/drawing/2014/main" id="{389BCB61-506B-2CD4-B8BB-47D5C4C54E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1ED107-CEF9-7B49-1C1F-92A35A027706}"/>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1682855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0F4CF-A7BA-054E-E11A-645F5DD34AF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BB3609-E22D-2F30-F42A-D2A3EE929E91}"/>
              </a:ext>
            </a:extLst>
          </p:cNvPr>
          <p:cNvSpPr>
            <a:spLocks noGrp="1"/>
          </p:cNvSpPr>
          <p:nvPr>
            <p:ph type="dt" sz="half" idx="10"/>
          </p:nvPr>
        </p:nvSpPr>
        <p:spPr/>
        <p:txBody>
          <a:bodyPr/>
          <a:lstStyle/>
          <a:p>
            <a:fld id="{36F39271-8D74-442F-8779-70CAEB180BD9}" type="datetime1">
              <a:rPr lang="en-US" smtClean="0"/>
              <a:t>4/28/2026</a:t>
            </a:fld>
            <a:endParaRPr lang="en-US"/>
          </a:p>
        </p:txBody>
      </p:sp>
      <p:sp>
        <p:nvSpPr>
          <p:cNvPr id="4" name="Footer Placeholder 3">
            <a:extLst>
              <a:ext uri="{FF2B5EF4-FFF2-40B4-BE49-F238E27FC236}">
                <a16:creationId xmlns:a16="http://schemas.microsoft.com/office/drawing/2014/main" id="{97A5719B-CB78-90BF-0886-A8DBCE0876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FB416A-8529-4BC4-94A8-756105AE65DF}"/>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2811002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6281BD-81DC-F3AF-6483-654FF1726AD7}"/>
              </a:ext>
            </a:extLst>
          </p:cNvPr>
          <p:cNvSpPr>
            <a:spLocks noGrp="1"/>
          </p:cNvSpPr>
          <p:nvPr>
            <p:ph type="dt" sz="half" idx="10"/>
          </p:nvPr>
        </p:nvSpPr>
        <p:spPr/>
        <p:txBody>
          <a:bodyPr/>
          <a:lstStyle/>
          <a:p>
            <a:fld id="{5F6BC555-C8AE-4D92-8F09-0D06330C168C}" type="datetime1">
              <a:rPr lang="en-US" smtClean="0"/>
              <a:t>4/28/2026</a:t>
            </a:fld>
            <a:endParaRPr lang="en-US"/>
          </a:p>
        </p:txBody>
      </p:sp>
      <p:sp>
        <p:nvSpPr>
          <p:cNvPr id="3" name="Footer Placeholder 2">
            <a:extLst>
              <a:ext uri="{FF2B5EF4-FFF2-40B4-BE49-F238E27FC236}">
                <a16:creationId xmlns:a16="http://schemas.microsoft.com/office/drawing/2014/main" id="{AD3A794C-5415-AF3C-9E87-10EB9439AD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DB15571-3D60-CFDA-1096-ACA50D5C90FE}"/>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2482871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0F0F7-2E64-AB1D-D033-AE6C1A09F5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3AFC16-4B82-07D3-BBEE-35FB7F4E54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8364B8-1D81-27F3-F2AD-70FCF344F1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FF7B8D-1318-49B4-5EAF-92962A1DEAD8}"/>
              </a:ext>
            </a:extLst>
          </p:cNvPr>
          <p:cNvSpPr>
            <a:spLocks noGrp="1"/>
          </p:cNvSpPr>
          <p:nvPr>
            <p:ph type="dt" sz="half" idx="10"/>
          </p:nvPr>
        </p:nvSpPr>
        <p:spPr/>
        <p:txBody>
          <a:bodyPr/>
          <a:lstStyle/>
          <a:p>
            <a:fld id="{86A33C3C-4B6C-4AE3-A03B-FBE2E6CA16FB}" type="datetime1">
              <a:rPr lang="en-US" smtClean="0"/>
              <a:t>4/28/2026</a:t>
            </a:fld>
            <a:endParaRPr lang="en-US"/>
          </a:p>
        </p:txBody>
      </p:sp>
      <p:sp>
        <p:nvSpPr>
          <p:cNvPr id="6" name="Footer Placeholder 5">
            <a:extLst>
              <a:ext uri="{FF2B5EF4-FFF2-40B4-BE49-F238E27FC236}">
                <a16:creationId xmlns:a16="http://schemas.microsoft.com/office/drawing/2014/main" id="{1152E60F-4436-93AA-A858-BF3584CC4D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4CE7E0-7484-BD5F-1A30-6D8CE4F94A64}"/>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1933669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AFF34-6BF4-E2CB-9F46-DF4CAE772F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7B4310-390C-ECDF-9466-A57257688E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D05F95-AC57-7F2C-E6D7-4504D90494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27BB84-2BBD-6622-FC53-6BD68C40A2EB}"/>
              </a:ext>
            </a:extLst>
          </p:cNvPr>
          <p:cNvSpPr>
            <a:spLocks noGrp="1"/>
          </p:cNvSpPr>
          <p:nvPr>
            <p:ph type="dt" sz="half" idx="10"/>
          </p:nvPr>
        </p:nvSpPr>
        <p:spPr/>
        <p:txBody>
          <a:bodyPr/>
          <a:lstStyle/>
          <a:p>
            <a:fld id="{ED365859-9914-4DD9-9B0F-E00CE867E168}" type="datetime1">
              <a:rPr lang="en-US" smtClean="0"/>
              <a:t>4/28/2026</a:t>
            </a:fld>
            <a:endParaRPr lang="en-US"/>
          </a:p>
        </p:txBody>
      </p:sp>
      <p:sp>
        <p:nvSpPr>
          <p:cNvPr id="6" name="Footer Placeholder 5">
            <a:extLst>
              <a:ext uri="{FF2B5EF4-FFF2-40B4-BE49-F238E27FC236}">
                <a16:creationId xmlns:a16="http://schemas.microsoft.com/office/drawing/2014/main" id="{FAED6F8C-2EEE-B2CD-9164-BFE174549B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DE708F-28E0-BAFC-CCE7-49A831B45A71}"/>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4272989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A4D0F-6EE1-58AF-F0FF-2AAF711E57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CB4302-9075-552C-CA61-AC7B9B0819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89CB07-FD6E-F75D-C166-727A49D13EC7}"/>
              </a:ext>
            </a:extLst>
          </p:cNvPr>
          <p:cNvSpPr>
            <a:spLocks noGrp="1"/>
          </p:cNvSpPr>
          <p:nvPr>
            <p:ph type="dt" sz="half" idx="10"/>
          </p:nvPr>
        </p:nvSpPr>
        <p:spPr/>
        <p:txBody>
          <a:bodyPr/>
          <a:lstStyle/>
          <a:p>
            <a:fld id="{B59F1B87-F38A-4FC3-BCF6-D52DDEA0FFEA}" type="datetime1">
              <a:rPr lang="en-US" smtClean="0"/>
              <a:t>4/28/2026</a:t>
            </a:fld>
            <a:endParaRPr lang="en-US"/>
          </a:p>
        </p:txBody>
      </p:sp>
      <p:sp>
        <p:nvSpPr>
          <p:cNvPr id="5" name="Footer Placeholder 4">
            <a:extLst>
              <a:ext uri="{FF2B5EF4-FFF2-40B4-BE49-F238E27FC236}">
                <a16:creationId xmlns:a16="http://schemas.microsoft.com/office/drawing/2014/main" id="{4902A89D-9DC3-05B1-08D8-A9D02AA602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D27299-40DA-B5AB-4E8F-340DAAF35B2E}"/>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2730227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A84A16-73CA-4225-059E-7CEAC3CC10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B728A84-34EB-BEA9-DFC5-DA5F9DDC99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604AD4-762C-C37E-B161-07053A167961}"/>
              </a:ext>
            </a:extLst>
          </p:cNvPr>
          <p:cNvSpPr>
            <a:spLocks noGrp="1"/>
          </p:cNvSpPr>
          <p:nvPr>
            <p:ph type="dt" sz="half" idx="10"/>
          </p:nvPr>
        </p:nvSpPr>
        <p:spPr/>
        <p:txBody>
          <a:bodyPr/>
          <a:lstStyle/>
          <a:p>
            <a:fld id="{A5C487F3-21A8-42FE-937E-969C6AF14E75}" type="datetime1">
              <a:rPr lang="en-US" smtClean="0"/>
              <a:t>4/28/2026</a:t>
            </a:fld>
            <a:endParaRPr lang="en-US"/>
          </a:p>
        </p:txBody>
      </p:sp>
      <p:sp>
        <p:nvSpPr>
          <p:cNvPr id="5" name="Footer Placeholder 4">
            <a:extLst>
              <a:ext uri="{FF2B5EF4-FFF2-40B4-BE49-F238E27FC236}">
                <a16:creationId xmlns:a16="http://schemas.microsoft.com/office/drawing/2014/main" id="{8B2D84D5-4305-727E-6D7E-841E84DB55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507E51-97F6-906F-9B2B-A34CCED66FFE}"/>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4167920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0ADBF5-16DA-AF61-935C-20D6F56A1F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7958D17-47AB-C183-A9E6-7039ED848E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F3F9A7-7531-E712-1D7E-969E5990C1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6D6EC4-3E71-4142-A6F3-AC7590AD9C34}" type="datetime1">
              <a:rPr lang="en-US" smtClean="0"/>
              <a:t>4/28/2026</a:t>
            </a:fld>
            <a:endParaRPr lang="en-US"/>
          </a:p>
        </p:txBody>
      </p:sp>
      <p:sp>
        <p:nvSpPr>
          <p:cNvPr id="5" name="Footer Placeholder 4">
            <a:extLst>
              <a:ext uri="{FF2B5EF4-FFF2-40B4-BE49-F238E27FC236}">
                <a16:creationId xmlns:a16="http://schemas.microsoft.com/office/drawing/2014/main" id="{C6CD2824-EF4D-B11D-DB74-92B5767309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B14F12A-1480-7A1B-21BD-8EAE67E6A7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4917615-2DB4-4DAA-9DE3-B2B689A846E0}" type="slidenum">
              <a:rPr lang="en-US" smtClean="0"/>
              <a:t>‹#›</a:t>
            </a:fld>
            <a:endParaRPr lang="en-US"/>
          </a:p>
        </p:txBody>
      </p:sp>
    </p:spTree>
    <p:extLst>
      <p:ext uri="{BB962C8B-B14F-4D97-AF65-F5344CB8AC3E}">
        <p14:creationId xmlns:p14="http://schemas.microsoft.com/office/powerpoint/2010/main" val="2988470995"/>
      </p:ext>
    </p:extLst>
  </p:cSld>
  <p:clrMap bg1="lt1" tx1="dk1" bg2="lt2" tx2="dk2" accent1="accent1" accent2="accent2" accent3="accent3" accent4="accent4" accent5="accent5" accent6="accent6" hlink="hlink" folHlink="folHlink"/>
  <p:sldLayoutIdLst>
    <p:sldLayoutId id="2147483938" r:id="rId1"/>
    <p:sldLayoutId id="2147483939" r:id="rId2"/>
    <p:sldLayoutId id="2147483940" r:id="rId3"/>
    <p:sldLayoutId id="2147483941" r:id="rId4"/>
    <p:sldLayoutId id="2147483942" r:id="rId5"/>
    <p:sldLayoutId id="2147483943" r:id="rId6"/>
    <p:sldLayoutId id="2147483944" r:id="rId7"/>
    <p:sldLayoutId id="2147483945" r:id="rId8"/>
    <p:sldLayoutId id="2147483946" r:id="rId9"/>
    <p:sldLayoutId id="2147483947" r:id="rId10"/>
    <p:sldLayoutId id="2147483948"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sv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36.svg"/><Relationship Id="rId4" Type="http://schemas.openxmlformats.org/officeDocument/2006/relationships/image" Target="../media/image35.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0.svg"/><Relationship Id="rId7" Type="http://schemas.openxmlformats.org/officeDocument/2006/relationships/image" Target="../media/image44.svg"/><Relationship Id="rId2" Type="http://schemas.openxmlformats.org/officeDocument/2006/relationships/image" Target="../media/image39.svg"/><Relationship Id="rId1" Type="http://schemas.openxmlformats.org/officeDocument/2006/relationships/slideLayout" Target="../slideLayouts/slideLayout7.xml"/><Relationship Id="rId6" Type="http://schemas.openxmlformats.org/officeDocument/2006/relationships/image" Target="../media/image43.svg"/><Relationship Id="rId5" Type="http://schemas.openxmlformats.org/officeDocument/2006/relationships/image" Target="../media/image42.svg"/><Relationship Id="rId4" Type="http://schemas.openxmlformats.org/officeDocument/2006/relationships/image" Target="../media/image41.svg"/></Relationships>
</file>

<file path=ppt/slides/_rels/slide2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svg"/><Relationship Id="rId1" Type="http://schemas.openxmlformats.org/officeDocument/2006/relationships/slideLayout" Target="../slideLayouts/slideLayout7.xml"/><Relationship Id="rId5" Type="http://schemas.openxmlformats.org/officeDocument/2006/relationships/image" Target="../media/image46.svg"/><Relationship Id="rId4" Type="http://schemas.openxmlformats.org/officeDocument/2006/relationships/image" Target="../media/image45.sv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49" name="Oval 48">
            <a:extLst>
              <a:ext uri="{FF2B5EF4-FFF2-40B4-BE49-F238E27FC236}">
                <a16:creationId xmlns:a16="http://schemas.microsoft.com/office/drawing/2014/main" id="{8B81E6FB-9856-59C0-297B-848152082918}"/>
              </a:ext>
            </a:extLst>
          </p:cNvPr>
          <p:cNvSpPr/>
          <p:nvPr/>
        </p:nvSpPr>
        <p:spPr>
          <a:xfrm>
            <a:off x="6995666" y="-1095154"/>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28BB08E-D8E2-7B33-F7DE-15F74F06832E}"/>
              </a:ext>
            </a:extLst>
          </p:cNvPr>
          <p:cNvSpPr txBox="1"/>
          <p:nvPr/>
        </p:nvSpPr>
        <p:spPr>
          <a:xfrm>
            <a:off x="438572" y="2103377"/>
            <a:ext cx="5059019" cy="923330"/>
          </a:xfrm>
          <a:prstGeom prst="rect">
            <a:avLst/>
          </a:prstGeom>
          <a:noFill/>
        </p:spPr>
        <p:txBody>
          <a:bodyPr wrap="square" rtlCol="0">
            <a:spAutoFit/>
          </a:bodyPr>
          <a:lstStyle/>
          <a:p>
            <a:r>
              <a:rPr lang="en-US" sz="5400" b="1">
                <a:solidFill>
                  <a:srgbClr val="151F29"/>
                </a:solidFill>
              </a:rPr>
              <a:t>Senior </a:t>
            </a:r>
            <a:r>
              <a:rPr lang="en-US" sz="5400" b="1">
                <a:solidFill>
                  <a:srgbClr val="7CA7A5"/>
                </a:solidFill>
              </a:rPr>
              <a:t>Helper</a:t>
            </a:r>
          </a:p>
        </p:txBody>
      </p:sp>
      <p:pic>
        <p:nvPicPr>
          <p:cNvPr id="28" name="Picture 27">
            <a:extLst>
              <a:ext uri="{FF2B5EF4-FFF2-40B4-BE49-F238E27FC236}">
                <a16:creationId xmlns:a16="http://schemas.microsoft.com/office/drawing/2014/main" id="{86B959B7-E03F-3FB7-7B72-FB7A71165C7F}"/>
              </a:ext>
            </a:extLst>
          </p:cNvPr>
          <p:cNvPicPr>
            <a:picLocks noChangeAspect="1"/>
          </p:cNvPicPr>
          <p:nvPr/>
        </p:nvPicPr>
        <p:blipFill>
          <a:blip r:embed="rId3">
            <a:alphaModFix/>
            <a:extLst>
              <a:ext uri="{28A0092B-C50C-407E-A947-70E740481C1C}">
                <a14:useLocalDpi xmlns:a14="http://schemas.microsoft.com/office/drawing/2010/main" val="0"/>
              </a:ext>
            </a:extLst>
          </a:blip>
          <a:srcRect l="3828" t="7395" r="4626" b="5890"/>
          <a:stretch>
            <a:fillRect/>
          </a:stretch>
        </p:blipFill>
        <p:spPr>
          <a:xfrm>
            <a:off x="5522331" y="1461584"/>
            <a:ext cx="6231097" cy="3934831"/>
          </a:xfrm>
          <a:prstGeom prst="rect">
            <a:avLst/>
          </a:prstGeom>
          <a:effectLst>
            <a:outerShdw blurRad="381000" dist="127000" dir="2700000" algn="tl" rotWithShape="0">
              <a:prstClr val="black">
                <a:alpha val="20000"/>
              </a:prstClr>
            </a:outerShdw>
          </a:effectLst>
        </p:spPr>
      </p:pic>
      <p:sp>
        <p:nvSpPr>
          <p:cNvPr id="36" name="TextBox 35">
            <a:extLst>
              <a:ext uri="{FF2B5EF4-FFF2-40B4-BE49-F238E27FC236}">
                <a16:creationId xmlns:a16="http://schemas.microsoft.com/office/drawing/2014/main" id="{513616F3-6658-6D7C-6B25-D6E0083924F5}"/>
              </a:ext>
            </a:extLst>
          </p:cNvPr>
          <p:cNvSpPr txBox="1"/>
          <p:nvPr/>
        </p:nvSpPr>
        <p:spPr>
          <a:xfrm>
            <a:off x="438571" y="3528425"/>
            <a:ext cx="4346079" cy="338554"/>
          </a:xfrm>
          <a:prstGeom prst="rect">
            <a:avLst/>
          </a:prstGeom>
          <a:noFill/>
        </p:spPr>
        <p:txBody>
          <a:bodyPr wrap="square" rtlCol="0">
            <a:spAutoFit/>
          </a:bodyPr>
          <a:lstStyle/>
          <a:p>
            <a:r>
              <a:rPr lang="en-US" sz="1600">
                <a:solidFill>
                  <a:srgbClr val="151F29"/>
                </a:solidFill>
              </a:rPr>
              <a:t>Frontend-Focused Development Presentation</a:t>
            </a:r>
          </a:p>
        </p:txBody>
      </p:sp>
      <p:cxnSp>
        <p:nvCxnSpPr>
          <p:cNvPr id="38" name="Straight Connector 37">
            <a:extLst>
              <a:ext uri="{FF2B5EF4-FFF2-40B4-BE49-F238E27FC236}">
                <a16:creationId xmlns:a16="http://schemas.microsoft.com/office/drawing/2014/main" id="{09E32A7F-B899-7CF1-5C14-4789E8D7E575}"/>
              </a:ext>
            </a:extLst>
          </p:cNvPr>
          <p:cNvCxnSpPr/>
          <p:nvPr/>
        </p:nvCxnSpPr>
        <p:spPr>
          <a:xfrm>
            <a:off x="552893" y="3214732"/>
            <a:ext cx="1977655" cy="0"/>
          </a:xfrm>
          <a:prstGeom prst="line">
            <a:avLst/>
          </a:prstGeom>
          <a:ln w="28575">
            <a:solidFill>
              <a:srgbClr val="7CA7A5"/>
            </a:solidFill>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35272AB7-60B6-CA39-DDBC-9C38416083BB}"/>
              </a:ext>
            </a:extLst>
          </p:cNvPr>
          <p:cNvSpPr txBox="1"/>
          <p:nvPr/>
        </p:nvSpPr>
        <p:spPr>
          <a:xfrm>
            <a:off x="438572" y="4135727"/>
            <a:ext cx="4753060" cy="584775"/>
          </a:xfrm>
          <a:prstGeom prst="rect">
            <a:avLst/>
          </a:prstGeom>
          <a:noFill/>
        </p:spPr>
        <p:txBody>
          <a:bodyPr wrap="square" rtlCol="0">
            <a:spAutoFit/>
          </a:bodyPr>
          <a:lstStyle/>
          <a:p>
            <a:r>
              <a:rPr lang="en-US" sz="1600">
                <a:solidFill>
                  <a:srgbClr val="151F29"/>
                </a:solidFill>
              </a:rPr>
              <a:t>A modern, intuitive platform that helps seniors and caregivers stay </a:t>
            </a:r>
            <a:r>
              <a:rPr lang="en-US" sz="1600" b="1">
                <a:solidFill>
                  <a:srgbClr val="7CA7A5"/>
                </a:solidFill>
              </a:rPr>
              <a:t>connected</a:t>
            </a:r>
            <a:r>
              <a:rPr lang="en-US" sz="1600">
                <a:solidFill>
                  <a:srgbClr val="151F29"/>
                </a:solidFill>
              </a:rPr>
              <a:t>, </a:t>
            </a:r>
            <a:r>
              <a:rPr lang="en-US" sz="1600" b="1">
                <a:solidFill>
                  <a:srgbClr val="7CA7A5"/>
                </a:solidFill>
              </a:rPr>
              <a:t>safe</a:t>
            </a:r>
            <a:r>
              <a:rPr lang="en-US" sz="1600">
                <a:solidFill>
                  <a:srgbClr val="151F29"/>
                </a:solidFill>
              </a:rPr>
              <a:t>, and </a:t>
            </a:r>
            <a:r>
              <a:rPr lang="en-US" sz="1600" b="1">
                <a:solidFill>
                  <a:srgbClr val="7CA7A5"/>
                </a:solidFill>
              </a:rPr>
              <a:t>in control</a:t>
            </a:r>
            <a:r>
              <a:rPr lang="en-US" sz="1600">
                <a:solidFill>
                  <a:srgbClr val="151F29"/>
                </a:solidFill>
              </a:rPr>
              <a:t>.</a:t>
            </a:r>
          </a:p>
        </p:txBody>
      </p:sp>
      <p:sp>
        <p:nvSpPr>
          <p:cNvPr id="52" name="TextBox 51">
            <a:extLst>
              <a:ext uri="{FF2B5EF4-FFF2-40B4-BE49-F238E27FC236}">
                <a16:creationId xmlns:a16="http://schemas.microsoft.com/office/drawing/2014/main" id="{9C2DE165-2A1B-DE56-E13B-A355A700270D}"/>
              </a:ext>
            </a:extLst>
          </p:cNvPr>
          <p:cNvSpPr txBox="1"/>
          <p:nvPr/>
        </p:nvSpPr>
        <p:spPr>
          <a:xfrm>
            <a:off x="9406269" y="6581001"/>
            <a:ext cx="2785731" cy="276999"/>
          </a:xfrm>
          <a:prstGeom prst="rect">
            <a:avLst/>
          </a:prstGeom>
          <a:noFill/>
        </p:spPr>
        <p:txBody>
          <a:bodyPr wrap="square" rtlCol="0">
            <a:spAutoFit/>
          </a:bodyPr>
          <a:lstStyle/>
          <a:p>
            <a:r>
              <a:rPr lang="en-US" sz="1200">
                <a:solidFill>
                  <a:srgbClr val="5F6B73"/>
                </a:solidFill>
              </a:rPr>
              <a:t>For Florida State College at Jacksonville</a:t>
            </a:r>
          </a:p>
        </p:txBody>
      </p:sp>
      <p:sp>
        <p:nvSpPr>
          <p:cNvPr id="53" name="TextBox 52">
            <a:extLst>
              <a:ext uri="{FF2B5EF4-FFF2-40B4-BE49-F238E27FC236}">
                <a16:creationId xmlns:a16="http://schemas.microsoft.com/office/drawing/2014/main" id="{6C3D1FF5-AF09-6DE7-916E-0C91B12C4686}"/>
              </a:ext>
            </a:extLst>
          </p:cNvPr>
          <p:cNvSpPr txBox="1"/>
          <p:nvPr/>
        </p:nvSpPr>
        <p:spPr>
          <a:xfrm>
            <a:off x="0" y="6396335"/>
            <a:ext cx="3625144" cy="461665"/>
          </a:xfrm>
          <a:prstGeom prst="rect">
            <a:avLst/>
          </a:prstGeom>
          <a:noFill/>
        </p:spPr>
        <p:txBody>
          <a:bodyPr wrap="square" rtlCol="0">
            <a:spAutoFit/>
          </a:bodyPr>
          <a:lstStyle/>
          <a:p>
            <a:r>
              <a:rPr lang="en-US" sz="1200">
                <a:solidFill>
                  <a:srgbClr val="5F6B73"/>
                </a:solidFill>
              </a:rPr>
              <a:t>CEN4025C Project Presentation – Spring 2026</a:t>
            </a:r>
            <a:br>
              <a:rPr lang="en-US" sz="1200">
                <a:solidFill>
                  <a:srgbClr val="5F6B73"/>
                </a:solidFill>
              </a:rPr>
            </a:br>
            <a:r>
              <a:rPr lang="en-US" sz="1200">
                <a:solidFill>
                  <a:srgbClr val="5F6B73"/>
                </a:solidFill>
              </a:rPr>
              <a:t>Presented By: The Senior Helper Development Team</a:t>
            </a:r>
          </a:p>
        </p:txBody>
      </p:sp>
    </p:spTree>
    <p:extLst>
      <p:ext uri="{BB962C8B-B14F-4D97-AF65-F5344CB8AC3E}">
        <p14:creationId xmlns:p14="http://schemas.microsoft.com/office/powerpoint/2010/main" val="1538382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FBD17-BD4C-4808-332B-D4DDE4D6B0A8}"/>
            </a:ext>
          </a:extLst>
        </p:cNvPr>
        <p:cNvGrpSpPr/>
        <p:nvPr/>
      </p:nvGrpSpPr>
      <p:grpSpPr>
        <a:xfrm>
          <a:off x="0" y="0"/>
          <a:ext cx="0" cy="0"/>
          <a:chOff x="0" y="0"/>
          <a:chExt cx="0" cy="0"/>
        </a:xfrm>
      </p:grpSpPr>
      <p:sp>
        <p:nvSpPr>
          <p:cNvPr id="1093" name="Oval 1092">
            <a:extLst>
              <a:ext uri="{FF2B5EF4-FFF2-40B4-BE49-F238E27FC236}">
                <a16:creationId xmlns:a16="http://schemas.microsoft.com/office/drawing/2014/main" id="{5B3EC030-4DAF-7FF5-8D01-278C88740937}"/>
              </a:ext>
            </a:extLst>
          </p:cNvPr>
          <p:cNvSpPr/>
          <p:nvPr/>
        </p:nvSpPr>
        <p:spPr>
          <a:xfrm>
            <a:off x="-2052450" y="4557608"/>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2" name="Oval 1091">
            <a:extLst>
              <a:ext uri="{FF2B5EF4-FFF2-40B4-BE49-F238E27FC236}">
                <a16:creationId xmlns:a16="http://schemas.microsoft.com/office/drawing/2014/main" id="{E290A238-6054-51BF-D5B6-32A58E08F853}"/>
              </a:ext>
            </a:extLst>
          </p:cNvPr>
          <p:cNvSpPr/>
          <p:nvPr/>
        </p:nvSpPr>
        <p:spPr>
          <a:xfrm>
            <a:off x="6995666" y="-1095154"/>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TextBox 1030">
            <a:extLst>
              <a:ext uri="{FF2B5EF4-FFF2-40B4-BE49-F238E27FC236}">
                <a16:creationId xmlns:a16="http://schemas.microsoft.com/office/drawing/2014/main" id="{EE1C8817-B94B-3E51-7D4F-0A51C41E19AB}"/>
              </a:ext>
            </a:extLst>
          </p:cNvPr>
          <p:cNvSpPr txBox="1"/>
          <p:nvPr/>
        </p:nvSpPr>
        <p:spPr>
          <a:xfrm>
            <a:off x="651166" y="922661"/>
            <a:ext cx="4076843" cy="1077218"/>
          </a:xfrm>
          <a:prstGeom prst="rect">
            <a:avLst/>
          </a:prstGeom>
          <a:noFill/>
        </p:spPr>
        <p:txBody>
          <a:bodyPr wrap="square" rtlCol="0">
            <a:spAutoFit/>
          </a:bodyPr>
          <a:lstStyle/>
          <a:p>
            <a:r>
              <a:rPr lang="en-US" sz="3200" b="1" dirty="0">
                <a:solidFill>
                  <a:srgbClr val="151F29"/>
                </a:solidFill>
              </a:rPr>
              <a:t>Our</a:t>
            </a:r>
            <a:r>
              <a:rPr lang="en-US" sz="3200" b="1" dirty="0"/>
              <a:t> </a:t>
            </a:r>
            <a:r>
              <a:rPr lang="en-US" sz="3200" b="1" dirty="0">
                <a:solidFill>
                  <a:srgbClr val="7CA7A5"/>
                </a:solidFill>
              </a:rPr>
              <a:t>Senior Helper</a:t>
            </a:r>
          </a:p>
          <a:p>
            <a:r>
              <a:rPr lang="en-US" sz="3200" b="1" dirty="0">
                <a:solidFill>
                  <a:srgbClr val="151F29"/>
                </a:solidFill>
              </a:rPr>
              <a:t>Development Team</a:t>
            </a:r>
          </a:p>
        </p:txBody>
      </p:sp>
      <p:grpSp>
        <p:nvGrpSpPr>
          <p:cNvPr id="1090" name="Group 1089">
            <a:extLst>
              <a:ext uri="{FF2B5EF4-FFF2-40B4-BE49-F238E27FC236}">
                <a16:creationId xmlns:a16="http://schemas.microsoft.com/office/drawing/2014/main" id="{BCA9EDBA-7BE2-8B12-CC23-4B6362B13B7D}"/>
              </a:ext>
            </a:extLst>
          </p:cNvPr>
          <p:cNvGrpSpPr/>
          <p:nvPr/>
        </p:nvGrpSpPr>
        <p:grpSpPr>
          <a:xfrm>
            <a:off x="6185082" y="185387"/>
            <a:ext cx="1828800" cy="3165299"/>
            <a:chOff x="4930037" y="198082"/>
            <a:chExt cx="1828800" cy="3165299"/>
          </a:xfrm>
          <a:effectLst>
            <a:outerShdw blurRad="254000" dist="25400" sx="50000" sy="50000" algn="l" rotWithShape="0">
              <a:prstClr val="black">
                <a:alpha val="20000"/>
              </a:prstClr>
            </a:outerShdw>
          </a:effectLst>
        </p:grpSpPr>
        <p:grpSp>
          <p:nvGrpSpPr>
            <p:cNvPr id="1070" name="Group 1069">
              <a:extLst>
                <a:ext uri="{FF2B5EF4-FFF2-40B4-BE49-F238E27FC236}">
                  <a16:creationId xmlns:a16="http://schemas.microsoft.com/office/drawing/2014/main" id="{3EF54BFE-2789-8634-33F7-2E5283F3E14D}"/>
                </a:ext>
              </a:extLst>
            </p:cNvPr>
            <p:cNvGrpSpPr/>
            <p:nvPr/>
          </p:nvGrpSpPr>
          <p:grpSpPr>
            <a:xfrm>
              <a:off x="4930037" y="198082"/>
              <a:ext cx="1828800" cy="3165299"/>
              <a:chOff x="4930037" y="198082"/>
              <a:chExt cx="1828800" cy="3165299"/>
            </a:xfrm>
          </p:grpSpPr>
          <p:sp>
            <p:nvSpPr>
              <p:cNvPr id="58" name="Rectangle: Rounded Corners 57">
                <a:extLst>
                  <a:ext uri="{FF2B5EF4-FFF2-40B4-BE49-F238E27FC236}">
                    <a16:creationId xmlns:a16="http://schemas.microsoft.com/office/drawing/2014/main" id="{C4261781-BA86-504B-F07A-CD8C33179759}"/>
                  </a:ext>
                </a:extLst>
              </p:cNvPr>
              <p:cNvSpPr/>
              <p:nvPr/>
            </p:nvSpPr>
            <p:spPr>
              <a:xfrm>
                <a:off x="4930037" y="198082"/>
                <a:ext cx="1828800" cy="3165299"/>
              </a:xfrm>
              <a:prstGeom prst="roundRect">
                <a:avLst>
                  <a:gd name="adj" fmla="val 25194"/>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2F53250A-902B-845D-100C-AAD83CA3418C}"/>
                  </a:ext>
                </a:extLst>
              </p:cNvPr>
              <p:cNvSpPr txBox="1"/>
              <p:nvPr/>
            </p:nvSpPr>
            <p:spPr>
              <a:xfrm>
                <a:off x="5107622" y="1521347"/>
                <a:ext cx="1490088" cy="338554"/>
              </a:xfrm>
              <a:prstGeom prst="rect">
                <a:avLst/>
              </a:prstGeom>
              <a:noFill/>
            </p:spPr>
            <p:txBody>
              <a:bodyPr wrap="none" rtlCol="0">
                <a:spAutoFit/>
              </a:bodyPr>
              <a:lstStyle/>
              <a:p>
                <a:pPr algn="ctr"/>
                <a:r>
                  <a:rPr lang="en-US" sz="1600" b="1">
                    <a:solidFill>
                      <a:srgbClr val="7CA7A5"/>
                    </a:solidFill>
                  </a:rPr>
                  <a:t>Lauren Knotts</a:t>
                </a:r>
              </a:p>
            </p:txBody>
          </p:sp>
          <p:sp>
            <p:nvSpPr>
              <p:cNvPr id="60" name="TextBox 59">
                <a:extLst>
                  <a:ext uri="{FF2B5EF4-FFF2-40B4-BE49-F238E27FC236}">
                    <a16:creationId xmlns:a16="http://schemas.microsoft.com/office/drawing/2014/main" id="{26C95BC3-0F00-94D3-DB16-F8D3954E6481}"/>
                  </a:ext>
                </a:extLst>
              </p:cNvPr>
              <p:cNvSpPr txBox="1"/>
              <p:nvPr/>
            </p:nvSpPr>
            <p:spPr>
              <a:xfrm>
                <a:off x="5067515" y="1811633"/>
                <a:ext cx="1570302" cy="461665"/>
              </a:xfrm>
              <a:prstGeom prst="rect">
                <a:avLst/>
              </a:prstGeom>
              <a:noFill/>
            </p:spPr>
            <p:txBody>
              <a:bodyPr wrap="none" rtlCol="0">
                <a:spAutoFit/>
              </a:bodyPr>
              <a:lstStyle/>
              <a:p>
                <a:pPr algn="ctr"/>
                <a:r>
                  <a:rPr lang="en-US" sz="1200">
                    <a:solidFill>
                      <a:srgbClr val="5F6B73"/>
                    </a:solidFill>
                  </a:rPr>
                  <a:t>Project Lead, Scribe,</a:t>
                </a:r>
                <a:br>
                  <a:rPr lang="en-US" sz="1200">
                    <a:solidFill>
                      <a:srgbClr val="5F6B73"/>
                    </a:solidFill>
                  </a:rPr>
                </a:br>
                <a:r>
                  <a:rPr lang="en-US" sz="1200">
                    <a:solidFill>
                      <a:srgbClr val="5F6B73"/>
                    </a:solidFill>
                  </a:rPr>
                  <a:t>Full-Stack Developer</a:t>
                </a:r>
              </a:p>
            </p:txBody>
          </p:sp>
          <p:sp>
            <p:nvSpPr>
              <p:cNvPr id="61" name="TextBox 60">
                <a:extLst>
                  <a:ext uri="{FF2B5EF4-FFF2-40B4-BE49-F238E27FC236}">
                    <a16:creationId xmlns:a16="http://schemas.microsoft.com/office/drawing/2014/main" id="{7D1DD880-3460-FBAA-F93C-F7747BA72A95}"/>
                  </a:ext>
                </a:extLst>
              </p:cNvPr>
              <p:cNvSpPr txBox="1"/>
              <p:nvPr/>
            </p:nvSpPr>
            <p:spPr>
              <a:xfrm>
                <a:off x="5067516" y="2611387"/>
                <a:ext cx="1570301" cy="646331"/>
              </a:xfrm>
              <a:prstGeom prst="rect">
                <a:avLst/>
              </a:prstGeom>
              <a:noFill/>
            </p:spPr>
            <p:txBody>
              <a:bodyPr wrap="square" rtlCol="0">
                <a:spAutoFit/>
              </a:bodyPr>
              <a:lstStyle/>
              <a:p>
                <a:pPr algn="ctr"/>
                <a:r>
                  <a:rPr lang="en-US" sz="1200">
                    <a:solidFill>
                      <a:srgbClr val="5F6B73"/>
                    </a:solidFill>
                  </a:rPr>
                  <a:t>Education System </a:t>
                </a:r>
                <a:br>
                  <a:rPr lang="en-US" sz="1200">
                    <a:solidFill>
                      <a:srgbClr val="5F6B73"/>
                    </a:solidFill>
                  </a:rPr>
                </a:br>
                <a:r>
                  <a:rPr lang="en-US" sz="1200">
                    <a:solidFill>
                      <a:srgbClr val="5F6B73"/>
                    </a:solidFill>
                  </a:rPr>
                  <a:t>User Connections </a:t>
                </a:r>
                <a:br>
                  <a:rPr lang="en-US" sz="1200">
                    <a:solidFill>
                      <a:srgbClr val="5F6B73"/>
                    </a:solidFill>
                  </a:rPr>
                </a:br>
                <a:r>
                  <a:rPr lang="en-US" sz="1200">
                    <a:solidFill>
                      <a:srgbClr val="5F6B73"/>
                    </a:solidFill>
                  </a:rPr>
                  <a:t>Landing Page</a:t>
                </a:r>
              </a:p>
            </p:txBody>
          </p:sp>
          <p:sp>
            <p:nvSpPr>
              <p:cNvPr id="62" name="TextBox 61">
                <a:extLst>
                  <a:ext uri="{FF2B5EF4-FFF2-40B4-BE49-F238E27FC236}">
                    <a16:creationId xmlns:a16="http://schemas.microsoft.com/office/drawing/2014/main" id="{8F7C3AB0-3127-6576-F5FF-07D54F47B04E}"/>
                  </a:ext>
                </a:extLst>
              </p:cNvPr>
              <p:cNvSpPr txBox="1"/>
              <p:nvPr/>
            </p:nvSpPr>
            <p:spPr>
              <a:xfrm>
                <a:off x="5477080" y="2383387"/>
                <a:ext cx="751172" cy="307777"/>
              </a:xfrm>
              <a:prstGeom prst="rect">
                <a:avLst/>
              </a:prstGeom>
              <a:noFill/>
            </p:spPr>
            <p:txBody>
              <a:bodyPr wrap="square" rtlCol="0">
                <a:spAutoFit/>
              </a:bodyPr>
              <a:lstStyle/>
              <a:p>
                <a:pPr algn="ctr"/>
                <a:r>
                  <a:rPr lang="en-US" sz="1400" b="1">
                    <a:solidFill>
                      <a:srgbClr val="7CA7A5"/>
                    </a:solidFill>
                  </a:rPr>
                  <a:t>Focus</a:t>
                </a:r>
                <a:endParaRPr lang="en-US" sz="1200" b="1">
                  <a:solidFill>
                    <a:srgbClr val="7CA7A5"/>
                  </a:solidFill>
                </a:endParaRPr>
              </a:p>
            </p:txBody>
          </p:sp>
          <p:pic>
            <p:nvPicPr>
              <p:cNvPr id="63" name="Picture 62">
                <a:extLst>
                  <a:ext uri="{FF2B5EF4-FFF2-40B4-BE49-F238E27FC236}">
                    <a16:creationId xmlns:a16="http://schemas.microsoft.com/office/drawing/2014/main" id="{1B25E258-57D1-5F1B-9F3E-56AAFE4079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81166" y="330965"/>
                <a:ext cx="1143000" cy="1143000"/>
              </a:xfrm>
              <a:prstGeom prst="ellipse">
                <a:avLst/>
              </a:prstGeom>
              <a:ln>
                <a:solidFill>
                  <a:srgbClr val="7CA7A5"/>
                </a:solidFill>
              </a:ln>
            </p:spPr>
          </p:pic>
        </p:grpSp>
        <p:cxnSp>
          <p:nvCxnSpPr>
            <p:cNvPr id="1079" name="Straight Connector 1078">
              <a:extLst>
                <a:ext uri="{FF2B5EF4-FFF2-40B4-BE49-F238E27FC236}">
                  <a16:creationId xmlns:a16="http://schemas.microsoft.com/office/drawing/2014/main" id="{50D3A8AA-E667-282D-98F0-5E79293D9328}"/>
                </a:ext>
              </a:extLst>
            </p:cNvPr>
            <p:cNvCxnSpPr/>
            <p:nvPr/>
          </p:nvCxnSpPr>
          <p:spPr>
            <a:xfrm>
              <a:off x="5393729" y="2330222"/>
              <a:ext cx="914400" cy="0"/>
            </a:xfrm>
            <a:prstGeom prst="line">
              <a:avLst/>
            </a:prstGeom>
            <a:ln w="28575">
              <a:solidFill>
                <a:srgbClr val="5F6B73">
                  <a:alpha val="20000"/>
                </a:srgbClr>
              </a:solidFill>
            </a:ln>
          </p:spPr>
          <p:style>
            <a:lnRef idx="2">
              <a:schemeClr val="accent1"/>
            </a:lnRef>
            <a:fillRef idx="0">
              <a:schemeClr val="accent1"/>
            </a:fillRef>
            <a:effectRef idx="1">
              <a:schemeClr val="accent1"/>
            </a:effectRef>
            <a:fontRef idx="minor">
              <a:schemeClr val="tx1"/>
            </a:fontRef>
          </p:style>
        </p:cxnSp>
      </p:grpSp>
      <p:grpSp>
        <p:nvGrpSpPr>
          <p:cNvPr id="1089" name="Group 1088">
            <a:extLst>
              <a:ext uri="{FF2B5EF4-FFF2-40B4-BE49-F238E27FC236}">
                <a16:creationId xmlns:a16="http://schemas.microsoft.com/office/drawing/2014/main" id="{EE35E1DD-8BDB-CB7A-E135-DAB069426B01}"/>
              </a:ext>
            </a:extLst>
          </p:cNvPr>
          <p:cNvGrpSpPr/>
          <p:nvPr/>
        </p:nvGrpSpPr>
        <p:grpSpPr>
          <a:xfrm>
            <a:off x="8135264" y="185387"/>
            <a:ext cx="1828800" cy="3165299"/>
            <a:chOff x="7418688" y="207188"/>
            <a:chExt cx="1828800" cy="3165299"/>
          </a:xfrm>
          <a:effectLst>
            <a:outerShdw blurRad="381000" dist="38100" sx="50000" sy="50000" algn="ctr" rotWithShape="0">
              <a:srgbClr val="000000">
                <a:alpha val="20000"/>
              </a:srgbClr>
            </a:outerShdw>
          </a:effectLst>
        </p:grpSpPr>
        <p:grpSp>
          <p:nvGrpSpPr>
            <p:cNvPr id="1071" name="Group 1070">
              <a:extLst>
                <a:ext uri="{FF2B5EF4-FFF2-40B4-BE49-F238E27FC236}">
                  <a16:creationId xmlns:a16="http://schemas.microsoft.com/office/drawing/2014/main" id="{41142A0D-172E-E467-8854-EC30B38A23E9}"/>
                </a:ext>
              </a:extLst>
            </p:cNvPr>
            <p:cNvGrpSpPr/>
            <p:nvPr/>
          </p:nvGrpSpPr>
          <p:grpSpPr>
            <a:xfrm>
              <a:off x="7418688" y="207188"/>
              <a:ext cx="1828800" cy="3165299"/>
              <a:chOff x="7418688" y="207188"/>
              <a:chExt cx="1828800" cy="3165299"/>
            </a:xfrm>
          </p:grpSpPr>
          <p:sp>
            <p:nvSpPr>
              <p:cNvPr id="1033" name="Rectangle: Rounded Corners 1032">
                <a:extLst>
                  <a:ext uri="{FF2B5EF4-FFF2-40B4-BE49-F238E27FC236}">
                    <a16:creationId xmlns:a16="http://schemas.microsoft.com/office/drawing/2014/main" id="{A7E8D42C-F394-67C5-FDB1-252A4368CADB}"/>
                  </a:ext>
                </a:extLst>
              </p:cNvPr>
              <p:cNvSpPr/>
              <p:nvPr/>
            </p:nvSpPr>
            <p:spPr>
              <a:xfrm>
                <a:off x="7418688" y="207188"/>
                <a:ext cx="1828800" cy="3165299"/>
              </a:xfrm>
              <a:prstGeom prst="roundRect">
                <a:avLst>
                  <a:gd name="adj" fmla="val 25194"/>
                </a:avLst>
              </a:prstGeom>
              <a:solidFill>
                <a:srgbClr val="F7F9F9"/>
              </a:solidFill>
              <a:ln w="6350">
                <a:solidFill>
                  <a:srgbClr val="7CA7A5"/>
                </a:solidFill>
              </a:ln>
              <a:effectLst>
                <a:outerShdw blurRad="3810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TextBox 1034">
                <a:extLst>
                  <a:ext uri="{FF2B5EF4-FFF2-40B4-BE49-F238E27FC236}">
                    <a16:creationId xmlns:a16="http://schemas.microsoft.com/office/drawing/2014/main" id="{18092F41-874B-F5BF-96FF-24BAEB094CFF}"/>
                  </a:ext>
                </a:extLst>
              </p:cNvPr>
              <p:cNvSpPr txBox="1"/>
              <p:nvPr/>
            </p:nvSpPr>
            <p:spPr>
              <a:xfrm>
                <a:off x="7493033" y="1521347"/>
                <a:ext cx="1676549" cy="338554"/>
              </a:xfrm>
              <a:prstGeom prst="rect">
                <a:avLst/>
              </a:prstGeom>
              <a:noFill/>
            </p:spPr>
            <p:txBody>
              <a:bodyPr wrap="none" rtlCol="0">
                <a:spAutoFit/>
              </a:bodyPr>
              <a:lstStyle/>
              <a:p>
                <a:pPr algn="ctr"/>
                <a:r>
                  <a:rPr lang="en-US" sz="1600" b="1">
                    <a:solidFill>
                      <a:srgbClr val="7CA7A5"/>
                    </a:solidFill>
                  </a:rPr>
                  <a:t>Ricardo Serrano</a:t>
                </a:r>
              </a:p>
            </p:txBody>
          </p:sp>
          <p:sp>
            <p:nvSpPr>
              <p:cNvPr id="1036" name="TextBox 1035">
                <a:extLst>
                  <a:ext uri="{FF2B5EF4-FFF2-40B4-BE49-F238E27FC236}">
                    <a16:creationId xmlns:a16="http://schemas.microsoft.com/office/drawing/2014/main" id="{10AA524B-E722-44A9-8D0D-75009494A459}"/>
                  </a:ext>
                </a:extLst>
              </p:cNvPr>
              <p:cNvSpPr txBox="1"/>
              <p:nvPr/>
            </p:nvSpPr>
            <p:spPr>
              <a:xfrm>
                <a:off x="7530671" y="1811633"/>
                <a:ext cx="1601272" cy="461665"/>
              </a:xfrm>
              <a:prstGeom prst="rect">
                <a:avLst/>
              </a:prstGeom>
              <a:noFill/>
            </p:spPr>
            <p:txBody>
              <a:bodyPr wrap="none" rtlCol="0">
                <a:spAutoFit/>
              </a:bodyPr>
              <a:lstStyle/>
              <a:p>
                <a:pPr algn="ctr"/>
                <a:r>
                  <a:rPr lang="en-US" sz="1200">
                    <a:solidFill>
                      <a:srgbClr val="5F6B73"/>
                    </a:solidFill>
                  </a:rPr>
                  <a:t>Full-Stack Developer</a:t>
                </a:r>
              </a:p>
              <a:p>
                <a:pPr algn="ctr"/>
                <a:r>
                  <a:rPr lang="en-US" sz="1200">
                    <a:solidFill>
                      <a:srgbClr val="5F6B73"/>
                    </a:solidFill>
                  </a:rPr>
                  <a:t>Scribe</a:t>
                </a:r>
              </a:p>
            </p:txBody>
          </p:sp>
          <p:sp>
            <p:nvSpPr>
              <p:cNvPr id="1037" name="TextBox 1036">
                <a:extLst>
                  <a:ext uri="{FF2B5EF4-FFF2-40B4-BE49-F238E27FC236}">
                    <a16:creationId xmlns:a16="http://schemas.microsoft.com/office/drawing/2014/main" id="{6D21EB85-7322-C18B-3EE5-9AD584AFDD6B}"/>
                  </a:ext>
                </a:extLst>
              </p:cNvPr>
              <p:cNvSpPr txBox="1"/>
              <p:nvPr/>
            </p:nvSpPr>
            <p:spPr>
              <a:xfrm>
                <a:off x="7577154" y="2611387"/>
                <a:ext cx="1508306" cy="646331"/>
              </a:xfrm>
              <a:prstGeom prst="rect">
                <a:avLst/>
              </a:prstGeom>
              <a:noFill/>
            </p:spPr>
            <p:txBody>
              <a:bodyPr wrap="square" rtlCol="0">
                <a:spAutoFit/>
              </a:bodyPr>
              <a:lstStyle/>
              <a:p>
                <a:pPr algn="ctr"/>
                <a:r>
                  <a:rPr lang="en-US" sz="1200">
                    <a:solidFill>
                      <a:srgbClr val="5F6B73"/>
                    </a:solidFill>
                  </a:rPr>
                  <a:t>Authentication</a:t>
                </a:r>
              </a:p>
              <a:p>
                <a:pPr algn="ctr"/>
                <a:r>
                  <a:rPr lang="en-US" sz="1200">
                    <a:solidFill>
                      <a:srgbClr val="5F6B73"/>
                    </a:solidFill>
                  </a:rPr>
                  <a:t>Landing Page</a:t>
                </a:r>
              </a:p>
              <a:p>
                <a:pPr algn="ctr"/>
                <a:r>
                  <a:rPr lang="en-US" sz="1200">
                    <a:solidFill>
                      <a:srgbClr val="5F6B73"/>
                    </a:solidFill>
                  </a:rPr>
                  <a:t>Admin Permissions</a:t>
                </a:r>
              </a:p>
            </p:txBody>
          </p:sp>
          <p:sp>
            <p:nvSpPr>
              <p:cNvPr id="1038" name="TextBox 1037">
                <a:extLst>
                  <a:ext uri="{FF2B5EF4-FFF2-40B4-BE49-F238E27FC236}">
                    <a16:creationId xmlns:a16="http://schemas.microsoft.com/office/drawing/2014/main" id="{EBD79E7A-88D6-62AE-F6B4-964F75738E03}"/>
                  </a:ext>
                </a:extLst>
              </p:cNvPr>
              <p:cNvSpPr txBox="1"/>
              <p:nvPr/>
            </p:nvSpPr>
            <p:spPr>
              <a:xfrm>
                <a:off x="7955721" y="2383387"/>
                <a:ext cx="751172" cy="307777"/>
              </a:xfrm>
              <a:prstGeom prst="rect">
                <a:avLst/>
              </a:prstGeom>
              <a:noFill/>
            </p:spPr>
            <p:txBody>
              <a:bodyPr wrap="square" rtlCol="0">
                <a:spAutoFit/>
              </a:bodyPr>
              <a:lstStyle/>
              <a:p>
                <a:pPr algn="ctr"/>
                <a:r>
                  <a:rPr lang="en-US" sz="1400" b="1">
                    <a:solidFill>
                      <a:srgbClr val="7CA7A5"/>
                    </a:solidFill>
                  </a:rPr>
                  <a:t>Focus</a:t>
                </a:r>
                <a:endParaRPr lang="en-US" sz="1200" b="1">
                  <a:solidFill>
                    <a:srgbClr val="7CA7A5"/>
                  </a:solidFill>
                </a:endParaRPr>
              </a:p>
            </p:txBody>
          </p:sp>
          <p:pic>
            <p:nvPicPr>
              <p:cNvPr id="1040" name="Picture 1039" descr="Ricardo Serrano">
                <a:extLst>
                  <a:ext uri="{FF2B5EF4-FFF2-40B4-BE49-F238E27FC236}">
                    <a16:creationId xmlns:a16="http://schemas.microsoft.com/office/drawing/2014/main" id="{66E3520F-EDE1-0D69-308F-73F526DF3D92}"/>
                  </a:ext>
                </a:extLst>
              </p:cNvPr>
              <p:cNvPicPr>
                <a:picLocks noChangeAspect="1"/>
              </p:cNvPicPr>
              <p:nvPr/>
            </p:nvPicPr>
            <p:blipFill>
              <a:blip r:embed="rId4"/>
              <a:stretch>
                <a:fillRect/>
              </a:stretch>
            </p:blipFill>
            <p:spPr>
              <a:xfrm>
                <a:off x="7759807" y="330965"/>
                <a:ext cx="1143000" cy="1143000"/>
              </a:xfrm>
              <a:prstGeom prst="ellipse">
                <a:avLst/>
              </a:prstGeom>
              <a:ln>
                <a:solidFill>
                  <a:srgbClr val="7CA7A5"/>
                </a:solidFill>
              </a:ln>
            </p:spPr>
          </p:pic>
        </p:grpSp>
        <p:cxnSp>
          <p:nvCxnSpPr>
            <p:cNvPr id="1080" name="Straight Connector 1079">
              <a:extLst>
                <a:ext uri="{FF2B5EF4-FFF2-40B4-BE49-F238E27FC236}">
                  <a16:creationId xmlns:a16="http://schemas.microsoft.com/office/drawing/2014/main" id="{83C1553F-1412-404E-38C1-5183DB1922DC}"/>
                </a:ext>
              </a:extLst>
            </p:cNvPr>
            <p:cNvCxnSpPr>
              <a:cxnSpLocks/>
            </p:cNvCxnSpPr>
            <p:nvPr/>
          </p:nvCxnSpPr>
          <p:spPr>
            <a:xfrm>
              <a:off x="7874107" y="2308956"/>
              <a:ext cx="914400" cy="0"/>
            </a:xfrm>
            <a:prstGeom prst="line">
              <a:avLst/>
            </a:prstGeom>
            <a:ln w="28575">
              <a:solidFill>
                <a:srgbClr val="5F6B73">
                  <a:alpha val="20000"/>
                </a:srgbClr>
              </a:solidFill>
            </a:ln>
          </p:spPr>
          <p:style>
            <a:lnRef idx="2">
              <a:schemeClr val="accent1"/>
            </a:lnRef>
            <a:fillRef idx="0">
              <a:schemeClr val="accent1"/>
            </a:fillRef>
            <a:effectRef idx="1">
              <a:schemeClr val="accent1"/>
            </a:effectRef>
            <a:fontRef idx="minor">
              <a:schemeClr val="tx1"/>
            </a:fontRef>
          </p:style>
        </p:cxnSp>
      </p:grpSp>
      <p:grpSp>
        <p:nvGrpSpPr>
          <p:cNvPr id="1088" name="Group 1087">
            <a:extLst>
              <a:ext uri="{FF2B5EF4-FFF2-40B4-BE49-F238E27FC236}">
                <a16:creationId xmlns:a16="http://schemas.microsoft.com/office/drawing/2014/main" id="{0DB6C5C7-91B9-CF89-9D3B-C0877A4561A9}"/>
              </a:ext>
            </a:extLst>
          </p:cNvPr>
          <p:cNvGrpSpPr/>
          <p:nvPr/>
        </p:nvGrpSpPr>
        <p:grpSpPr>
          <a:xfrm>
            <a:off x="10085446" y="185387"/>
            <a:ext cx="1828800" cy="3165299"/>
            <a:chOff x="9867339" y="198080"/>
            <a:chExt cx="1828800" cy="3165299"/>
          </a:xfrm>
          <a:solidFill>
            <a:srgbClr val="151F29"/>
          </a:solidFill>
          <a:effectLst>
            <a:outerShdw blurRad="381000" dist="38100" sx="50000" sy="50000" algn="ctr" rotWithShape="0">
              <a:srgbClr val="000000">
                <a:alpha val="20000"/>
              </a:srgbClr>
            </a:outerShdw>
          </a:effectLst>
        </p:grpSpPr>
        <p:grpSp>
          <p:nvGrpSpPr>
            <p:cNvPr id="1072" name="Group 1071">
              <a:extLst>
                <a:ext uri="{FF2B5EF4-FFF2-40B4-BE49-F238E27FC236}">
                  <a16:creationId xmlns:a16="http://schemas.microsoft.com/office/drawing/2014/main" id="{E5A3A317-DD44-DE52-27BC-7DDC1750A68C}"/>
                </a:ext>
              </a:extLst>
            </p:cNvPr>
            <p:cNvGrpSpPr/>
            <p:nvPr/>
          </p:nvGrpSpPr>
          <p:grpSpPr>
            <a:xfrm>
              <a:off x="9867339" y="198080"/>
              <a:ext cx="1828800" cy="3165299"/>
              <a:chOff x="9867339" y="198080"/>
              <a:chExt cx="1828800" cy="3165299"/>
            </a:xfrm>
            <a:grpFill/>
          </p:grpSpPr>
          <p:sp>
            <p:nvSpPr>
              <p:cNvPr id="1041" name="Rectangle: Rounded Corners 1040">
                <a:extLst>
                  <a:ext uri="{FF2B5EF4-FFF2-40B4-BE49-F238E27FC236}">
                    <a16:creationId xmlns:a16="http://schemas.microsoft.com/office/drawing/2014/main" id="{61548149-4644-2027-B85B-29D1A4B0D0E7}"/>
                  </a:ext>
                </a:extLst>
              </p:cNvPr>
              <p:cNvSpPr/>
              <p:nvPr/>
            </p:nvSpPr>
            <p:spPr>
              <a:xfrm>
                <a:off x="9867339" y="198080"/>
                <a:ext cx="1828800" cy="3165299"/>
              </a:xfrm>
              <a:prstGeom prst="roundRect">
                <a:avLst>
                  <a:gd name="adj" fmla="val 25194"/>
                </a:avLst>
              </a:prstGeom>
              <a:solidFill>
                <a:srgbClr val="F7F9F9"/>
              </a:solidFill>
              <a:ln w="6350">
                <a:solidFill>
                  <a:srgbClr val="7CA7A5"/>
                </a:solidFill>
              </a:ln>
              <a:effectLst>
                <a:outerShdw blurRad="3810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TextBox 1041">
                <a:extLst>
                  <a:ext uri="{FF2B5EF4-FFF2-40B4-BE49-F238E27FC236}">
                    <a16:creationId xmlns:a16="http://schemas.microsoft.com/office/drawing/2014/main" id="{C8429AE3-2FF6-AA8D-6E5E-0677BF61C416}"/>
                  </a:ext>
                </a:extLst>
              </p:cNvPr>
              <p:cNvSpPr txBox="1"/>
              <p:nvPr/>
            </p:nvSpPr>
            <p:spPr>
              <a:xfrm>
                <a:off x="9947162" y="1521347"/>
                <a:ext cx="1608133" cy="338554"/>
              </a:xfrm>
              <a:prstGeom prst="rect">
                <a:avLst/>
              </a:prstGeom>
              <a:noFill/>
            </p:spPr>
            <p:txBody>
              <a:bodyPr wrap="none" rtlCol="0">
                <a:spAutoFit/>
              </a:bodyPr>
              <a:lstStyle/>
              <a:p>
                <a:pPr algn="ctr"/>
                <a:r>
                  <a:rPr lang="en-US" sz="1600" b="1">
                    <a:solidFill>
                      <a:srgbClr val="7CA7A5"/>
                    </a:solidFill>
                  </a:rPr>
                  <a:t>Dewey Mccrary</a:t>
                </a:r>
              </a:p>
            </p:txBody>
          </p:sp>
          <p:sp>
            <p:nvSpPr>
              <p:cNvPr id="1043" name="TextBox 1042">
                <a:extLst>
                  <a:ext uri="{FF2B5EF4-FFF2-40B4-BE49-F238E27FC236}">
                    <a16:creationId xmlns:a16="http://schemas.microsoft.com/office/drawing/2014/main" id="{9877B48A-D4A4-6B4C-37EA-8662E5646B50}"/>
                  </a:ext>
                </a:extLst>
              </p:cNvPr>
              <p:cNvSpPr txBox="1"/>
              <p:nvPr/>
            </p:nvSpPr>
            <p:spPr>
              <a:xfrm>
                <a:off x="9966075" y="1811633"/>
                <a:ext cx="1570302" cy="276999"/>
              </a:xfrm>
              <a:prstGeom prst="rect">
                <a:avLst/>
              </a:prstGeom>
              <a:noFill/>
            </p:spPr>
            <p:txBody>
              <a:bodyPr wrap="none" rtlCol="0">
                <a:spAutoFit/>
              </a:bodyPr>
              <a:lstStyle/>
              <a:p>
                <a:pPr algn="ctr"/>
                <a:r>
                  <a:rPr lang="en-US" sz="1200">
                    <a:solidFill>
                      <a:srgbClr val="5F6B73"/>
                    </a:solidFill>
                  </a:rPr>
                  <a:t>Full-Stack Developer</a:t>
                </a:r>
              </a:p>
            </p:txBody>
          </p:sp>
          <p:sp>
            <p:nvSpPr>
              <p:cNvPr id="1044" name="TextBox 1043">
                <a:extLst>
                  <a:ext uri="{FF2B5EF4-FFF2-40B4-BE49-F238E27FC236}">
                    <a16:creationId xmlns:a16="http://schemas.microsoft.com/office/drawing/2014/main" id="{6DF0B4AE-D415-0154-FAB1-460468F1B05F}"/>
                  </a:ext>
                </a:extLst>
              </p:cNvPr>
              <p:cNvSpPr txBox="1"/>
              <p:nvPr/>
            </p:nvSpPr>
            <p:spPr>
              <a:xfrm>
                <a:off x="9897246" y="2611387"/>
                <a:ext cx="1745405" cy="461665"/>
              </a:xfrm>
              <a:prstGeom prst="rect">
                <a:avLst/>
              </a:prstGeom>
              <a:noFill/>
            </p:spPr>
            <p:txBody>
              <a:bodyPr wrap="square" rtlCol="0">
                <a:spAutoFit/>
              </a:bodyPr>
              <a:lstStyle/>
              <a:p>
                <a:pPr algn="ctr"/>
                <a:r>
                  <a:rPr lang="en-US" sz="1200">
                    <a:solidFill>
                      <a:srgbClr val="5F6B73"/>
                    </a:solidFill>
                  </a:rPr>
                  <a:t>Calendar Functionality</a:t>
                </a:r>
              </a:p>
              <a:p>
                <a:pPr algn="ctr"/>
                <a:r>
                  <a:rPr lang="en-US" sz="1200">
                    <a:solidFill>
                      <a:srgbClr val="5F6B73"/>
                    </a:solidFill>
                  </a:rPr>
                  <a:t>Calendar Notifications</a:t>
                </a:r>
              </a:p>
            </p:txBody>
          </p:sp>
          <p:sp>
            <p:nvSpPr>
              <p:cNvPr id="1045" name="TextBox 1044">
                <a:extLst>
                  <a:ext uri="{FF2B5EF4-FFF2-40B4-BE49-F238E27FC236}">
                    <a16:creationId xmlns:a16="http://schemas.microsoft.com/office/drawing/2014/main" id="{8E67BE34-FDFC-27BD-0355-B2FA4FAFD9C2}"/>
                  </a:ext>
                </a:extLst>
              </p:cNvPr>
              <p:cNvSpPr txBox="1"/>
              <p:nvPr/>
            </p:nvSpPr>
            <p:spPr>
              <a:xfrm>
                <a:off x="10375640" y="2383387"/>
                <a:ext cx="751172" cy="307777"/>
              </a:xfrm>
              <a:prstGeom prst="rect">
                <a:avLst/>
              </a:prstGeom>
              <a:noFill/>
            </p:spPr>
            <p:txBody>
              <a:bodyPr wrap="square" rtlCol="0">
                <a:spAutoFit/>
              </a:bodyPr>
              <a:lstStyle/>
              <a:p>
                <a:pPr algn="ctr"/>
                <a:r>
                  <a:rPr lang="en-US" sz="1400" b="1">
                    <a:solidFill>
                      <a:srgbClr val="7CA7A5"/>
                    </a:solidFill>
                  </a:rPr>
                  <a:t>Focus</a:t>
                </a:r>
              </a:p>
            </p:txBody>
          </p:sp>
          <p:pic>
            <p:nvPicPr>
              <p:cNvPr id="1047" name="Picture 4" descr="Dewey Mccrary">
                <a:extLst>
                  <a:ext uri="{FF2B5EF4-FFF2-40B4-BE49-F238E27FC236}">
                    <a16:creationId xmlns:a16="http://schemas.microsoft.com/office/drawing/2014/main" id="{13B7A9AE-93CF-D042-8642-5097456C8CC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179727" y="330965"/>
                <a:ext cx="1143000" cy="1143000"/>
              </a:xfrm>
              <a:prstGeom prst="ellipse">
                <a:avLst/>
              </a:prstGeom>
              <a:grpFill/>
              <a:ln>
                <a:solidFill>
                  <a:srgbClr val="7CA7A5"/>
                </a:solidFill>
              </a:ln>
            </p:spPr>
          </p:pic>
        </p:grpSp>
        <p:cxnSp>
          <p:nvCxnSpPr>
            <p:cNvPr id="1081" name="Straight Connector 1080">
              <a:extLst>
                <a:ext uri="{FF2B5EF4-FFF2-40B4-BE49-F238E27FC236}">
                  <a16:creationId xmlns:a16="http://schemas.microsoft.com/office/drawing/2014/main" id="{AACE676B-36E1-371B-F9EA-62024C39E650}"/>
                </a:ext>
              </a:extLst>
            </p:cNvPr>
            <p:cNvCxnSpPr/>
            <p:nvPr/>
          </p:nvCxnSpPr>
          <p:spPr>
            <a:xfrm>
              <a:off x="10294026" y="2276678"/>
              <a:ext cx="914400" cy="0"/>
            </a:xfrm>
            <a:prstGeom prst="line">
              <a:avLst/>
            </a:prstGeom>
            <a:grpFill/>
            <a:ln w="28575">
              <a:solidFill>
                <a:srgbClr val="5F6B73">
                  <a:alpha val="20000"/>
                </a:srgbClr>
              </a:solidFill>
            </a:ln>
          </p:spPr>
          <p:style>
            <a:lnRef idx="2">
              <a:schemeClr val="accent1"/>
            </a:lnRef>
            <a:fillRef idx="0">
              <a:schemeClr val="accent1"/>
            </a:fillRef>
            <a:effectRef idx="1">
              <a:schemeClr val="accent1"/>
            </a:effectRef>
            <a:fontRef idx="minor">
              <a:schemeClr val="tx1"/>
            </a:fontRef>
          </p:style>
        </p:cxnSp>
      </p:grpSp>
      <p:grpSp>
        <p:nvGrpSpPr>
          <p:cNvPr id="1087" name="Group 1086">
            <a:extLst>
              <a:ext uri="{FF2B5EF4-FFF2-40B4-BE49-F238E27FC236}">
                <a16:creationId xmlns:a16="http://schemas.microsoft.com/office/drawing/2014/main" id="{2A515244-1224-C30A-C0A8-77B4BDA74C69}"/>
              </a:ext>
            </a:extLst>
          </p:cNvPr>
          <p:cNvGrpSpPr/>
          <p:nvPr/>
        </p:nvGrpSpPr>
        <p:grpSpPr>
          <a:xfrm>
            <a:off x="6185082" y="3543223"/>
            <a:ext cx="1828800" cy="3165299"/>
            <a:chOff x="4930413" y="3539871"/>
            <a:chExt cx="1828800" cy="3165299"/>
          </a:xfrm>
          <a:effectLst>
            <a:outerShdw blurRad="381000" dist="38100" sx="50000" sy="50000" algn="ctr" rotWithShape="0">
              <a:srgbClr val="000000">
                <a:alpha val="20000"/>
              </a:srgbClr>
            </a:outerShdw>
          </a:effectLst>
        </p:grpSpPr>
        <p:grpSp>
          <p:nvGrpSpPr>
            <p:cNvPr id="1078" name="Group 1077">
              <a:extLst>
                <a:ext uri="{FF2B5EF4-FFF2-40B4-BE49-F238E27FC236}">
                  <a16:creationId xmlns:a16="http://schemas.microsoft.com/office/drawing/2014/main" id="{9C4820F9-ADE0-1861-09CC-32B5281C1839}"/>
                </a:ext>
              </a:extLst>
            </p:cNvPr>
            <p:cNvGrpSpPr/>
            <p:nvPr/>
          </p:nvGrpSpPr>
          <p:grpSpPr>
            <a:xfrm>
              <a:off x="4930413" y="3539871"/>
              <a:ext cx="1828800" cy="3165299"/>
              <a:chOff x="4930413" y="3539871"/>
              <a:chExt cx="1828800" cy="3165299"/>
            </a:xfrm>
          </p:grpSpPr>
          <p:grpSp>
            <p:nvGrpSpPr>
              <p:cNvPr id="1073" name="Group 1072">
                <a:extLst>
                  <a:ext uri="{FF2B5EF4-FFF2-40B4-BE49-F238E27FC236}">
                    <a16:creationId xmlns:a16="http://schemas.microsoft.com/office/drawing/2014/main" id="{1D396EAD-ABBA-330C-F067-B88E87BAC22C}"/>
                  </a:ext>
                </a:extLst>
              </p:cNvPr>
              <p:cNvGrpSpPr/>
              <p:nvPr/>
            </p:nvGrpSpPr>
            <p:grpSpPr>
              <a:xfrm>
                <a:off x="4930413" y="3539871"/>
                <a:ext cx="1828800" cy="3165299"/>
                <a:chOff x="4930413" y="3539871"/>
                <a:chExt cx="1828800" cy="3165299"/>
              </a:xfrm>
            </p:grpSpPr>
            <p:sp>
              <p:nvSpPr>
                <p:cNvPr id="1048" name="Rectangle: Rounded Corners 1047">
                  <a:extLst>
                    <a:ext uri="{FF2B5EF4-FFF2-40B4-BE49-F238E27FC236}">
                      <a16:creationId xmlns:a16="http://schemas.microsoft.com/office/drawing/2014/main" id="{FC605D02-B791-DE92-2574-7BE362359D08}"/>
                    </a:ext>
                  </a:extLst>
                </p:cNvPr>
                <p:cNvSpPr/>
                <p:nvPr/>
              </p:nvSpPr>
              <p:spPr>
                <a:xfrm>
                  <a:off x="4930413" y="3539871"/>
                  <a:ext cx="1828800" cy="3165299"/>
                </a:xfrm>
                <a:prstGeom prst="roundRect">
                  <a:avLst>
                    <a:gd name="adj" fmla="val 25194"/>
                  </a:avLst>
                </a:prstGeom>
                <a:solidFill>
                  <a:srgbClr val="F7F9F9"/>
                </a:solidFill>
                <a:ln w="6350">
                  <a:solidFill>
                    <a:srgbClr val="7CA7A5"/>
                  </a:solidFill>
                </a:ln>
                <a:effectLst>
                  <a:outerShdw blurRad="3810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TextBox 1048">
                  <a:extLst>
                    <a:ext uri="{FF2B5EF4-FFF2-40B4-BE49-F238E27FC236}">
                      <a16:creationId xmlns:a16="http://schemas.microsoft.com/office/drawing/2014/main" id="{EF81A70F-DADB-9B73-889B-062AB3DF1DA8}"/>
                    </a:ext>
                  </a:extLst>
                </p:cNvPr>
                <p:cNvSpPr txBox="1"/>
                <p:nvPr/>
              </p:nvSpPr>
              <p:spPr>
                <a:xfrm>
                  <a:off x="5168050" y="4918405"/>
                  <a:ext cx="1346907" cy="584775"/>
                </a:xfrm>
                <a:prstGeom prst="rect">
                  <a:avLst/>
                </a:prstGeom>
                <a:noFill/>
              </p:spPr>
              <p:txBody>
                <a:bodyPr wrap="none" rtlCol="0">
                  <a:spAutoFit/>
                </a:bodyPr>
                <a:lstStyle/>
                <a:p>
                  <a:pPr algn="ctr"/>
                  <a:r>
                    <a:rPr lang="en-US" sz="1600" b="1">
                      <a:solidFill>
                        <a:srgbClr val="7CA7A5"/>
                      </a:solidFill>
                    </a:rPr>
                    <a:t>Dayne </a:t>
                  </a:r>
                </a:p>
                <a:p>
                  <a:pPr algn="ctr"/>
                  <a:r>
                    <a:rPr lang="en-US" sz="1600" b="1">
                      <a:solidFill>
                        <a:srgbClr val="7CA7A5"/>
                      </a:solidFill>
                    </a:rPr>
                    <a:t>Allen-Wright</a:t>
                  </a:r>
                </a:p>
              </p:txBody>
            </p:sp>
            <p:sp>
              <p:nvSpPr>
                <p:cNvPr id="1050" name="TextBox 1049">
                  <a:extLst>
                    <a:ext uri="{FF2B5EF4-FFF2-40B4-BE49-F238E27FC236}">
                      <a16:creationId xmlns:a16="http://schemas.microsoft.com/office/drawing/2014/main" id="{3064EC3C-ED11-ABC1-AB10-AEA81696A611}"/>
                    </a:ext>
                  </a:extLst>
                </p:cNvPr>
                <p:cNvSpPr txBox="1"/>
                <p:nvPr/>
              </p:nvSpPr>
              <p:spPr>
                <a:xfrm>
                  <a:off x="5056352" y="5461850"/>
                  <a:ext cx="1570302" cy="276999"/>
                </a:xfrm>
                <a:prstGeom prst="rect">
                  <a:avLst/>
                </a:prstGeom>
                <a:noFill/>
              </p:spPr>
              <p:txBody>
                <a:bodyPr wrap="none" rtlCol="0">
                  <a:spAutoFit/>
                </a:bodyPr>
                <a:lstStyle/>
                <a:p>
                  <a:pPr algn="ctr"/>
                  <a:r>
                    <a:rPr lang="en-US" sz="1200">
                      <a:solidFill>
                        <a:srgbClr val="5F6B73"/>
                      </a:solidFill>
                    </a:rPr>
                    <a:t>Full-Stack Developer</a:t>
                  </a:r>
                </a:p>
              </p:txBody>
            </p:sp>
            <p:sp>
              <p:nvSpPr>
                <p:cNvPr id="1051" name="TextBox 1050">
                  <a:extLst>
                    <a:ext uri="{FF2B5EF4-FFF2-40B4-BE49-F238E27FC236}">
                      <a16:creationId xmlns:a16="http://schemas.microsoft.com/office/drawing/2014/main" id="{43799580-C23D-A6D2-81E0-24B8A2D0159C}"/>
                    </a:ext>
                  </a:extLst>
                </p:cNvPr>
                <p:cNvSpPr txBox="1"/>
                <p:nvPr/>
              </p:nvSpPr>
              <p:spPr>
                <a:xfrm>
                  <a:off x="4984933" y="6008445"/>
                  <a:ext cx="1713141" cy="461665"/>
                </a:xfrm>
                <a:prstGeom prst="rect">
                  <a:avLst/>
                </a:prstGeom>
                <a:noFill/>
              </p:spPr>
              <p:txBody>
                <a:bodyPr wrap="square" rtlCol="0">
                  <a:spAutoFit/>
                </a:bodyPr>
                <a:lstStyle/>
                <a:p>
                  <a:pPr algn="ctr"/>
                  <a:r>
                    <a:rPr lang="en-US" sz="1200">
                      <a:solidFill>
                        <a:srgbClr val="5F6B73"/>
                      </a:solidFill>
                    </a:rPr>
                    <a:t>Calendar Functionality</a:t>
                  </a:r>
                </a:p>
                <a:p>
                  <a:pPr algn="ctr"/>
                  <a:r>
                    <a:rPr lang="en-US" sz="1200">
                      <a:solidFill>
                        <a:srgbClr val="5F6B73"/>
                      </a:solidFill>
                    </a:rPr>
                    <a:t>User FAQ</a:t>
                  </a:r>
                </a:p>
              </p:txBody>
            </p:sp>
            <p:sp>
              <p:nvSpPr>
                <p:cNvPr id="1052" name="TextBox 1051">
                  <a:extLst>
                    <a:ext uri="{FF2B5EF4-FFF2-40B4-BE49-F238E27FC236}">
                      <a16:creationId xmlns:a16="http://schemas.microsoft.com/office/drawing/2014/main" id="{F16D6788-4D99-6BC6-3CF5-45F22BFE7EE4}"/>
                    </a:ext>
                  </a:extLst>
                </p:cNvPr>
                <p:cNvSpPr txBox="1"/>
                <p:nvPr/>
              </p:nvSpPr>
              <p:spPr>
                <a:xfrm>
                  <a:off x="5465917" y="5780445"/>
                  <a:ext cx="751172" cy="307777"/>
                </a:xfrm>
                <a:prstGeom prst="rect">
                  <a:avLst/>
                </a:prstGeom>
                <a:noFill/>
              </p:spPr>
              <p:txBody>
                <a:bodyPr wrap="square" rtlCol="0">
                  <a:spAutoFit/>
                </a:bodyPr>
                <a:lstStyle/>
                <a:p>
                  <a:pPr algn="ctr"/>
                  <a:r>
                    <a:rPr lang="en-US" sz="1400" b="1">
                      <a:solidFill>
                        <a:srgbClr val="7CA7A5"/>
                      </a:solidFill>
                    </a:rPr>
                    <a:t>Focus</a:t>
                  </a:r>
                </a:p>
              </p:txBody>
            </p:sp>
            <p:sp>
              <p:nvSpPr>
                <p:cNvPr id="1054" name="Oval 1053">
                  <a:extLst>
                    <a:ext uri="{FF2B5EF4-FFF2-40B4-BE49-F238E27FC236}">
                      <a16:creationId xmlns:a16="http://schemas.microsoft.com/office/drawing/2014/main" id="{582FDB60-1E45-738A-8EB2-BAB641BC344A}"/>
                    </a:ext>
                  </a:extLst>
                </p:cNvPr>
                <p:cNvSpPr/>
                <p:nvPr/>
              </p:nvSpPr>
              <p:spPr>
                <a:xfrm>
                  <a:off x="5270003" y="3728023"/>
                  <a:ext cx="1143000" cy="1143000"/>
                </a:xfrm>
                <a:prstGeom prst="ellipse">
                  <a:avLst/>
                </a:prstGeom>
                <a:solidFill>
                  <a:srgbClr val="D6E5E2"/>
                </a:solidFill>
                <a:ln w="9525">
                  <a:solidFill>
                    <a:srgbClr val="7CA7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77" name="Graphic 1076">
                <a:extLst>
                  <a:ext uri="{FF2B5EF4-FFF2-40B4-BE49-F238E27FC236}">
                    <a16:creationId xmlns:a16="http://schemas.microsoft.com/office/drawing/2014/main" id="{FA099F11-C6C6-D76A-B5B0-01B449C9853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93729" y="3786683"/>
                <a:ext cx="914400" cy="914400"/>
              </a:xfrm>
              <a:prstGeom prst="rect">
                <a:avLst/>
              </a:prstGeom>
            </p:spPr>
          </p:pic>
        </p:grpSp>
        <p:cxnSp>
          <p:nvCxnSpPr>
            <p:cNvPr id="1082" name="Straight Connector 1081">
              <a:extLst>
                <a:ext uri="{FF2B5EF4-FFF2-40B4-BE49-F238E27FC236}">
                  <a16:creationId xmlns:a16="http://schemas.microsoft.com/office/drawing/2014/main" id="{075242A9-0702-62C0-43E6-51D188156466}"/>
                </a:ext>
              </a:extLst>
            </p:cNvPr>
            <p:cNvCxnSpPr>
              <a:cxnSpLocks/>
            </p:cNvCxnSpPr>
            <p:nvPr/>
          </p:nvCxnSpPr>
          <p:spPr>
            <a:xfrm>
              <a:off x="5384303" y="5765400"/>
              <a:ext cx="914400" cy="0"/>
            </a:xfrm>
            <a:prstGeom prst="line">
              <a:avLst/>
            </a:prstGeom>
            <a:ln w="28575">
              <a:solidFill>
                <a:srgbClr val="5F6B73">
                  <a:alpha val="20000"/>
                </a:srgbClr>
              </a:solidFill>
            </a:ln>
          </p:spPr>
          <p:style>
            <a:lnRef idx="2">
              <a:schemeClr val="accent1"/>
            </a:lnRef>
            <a:fillRef idx="0">
              <a:schemeClr val="accent1"/>
            </a:fillRef>
            <a:effectRef idx="1">
              <a:schemeClr val="accent1"/>
            </a:effectRef>
            <a:fontRef idx="minor">
              <a:schemeClr val="tx1"/>
            </a:fontRef>
          </p:style>
        </p:cxnSp>
      </p:grpSp>
      <p:grpSp>
        <p:nvGrpSpPr>
          <p:cNvPr id="1086" name="Group 1085">
            <a:extLst>
              <a:ext uri="{FF2B5EF4-FFF2-40B4-BE49-F238E27FC236}">
                <a16:creationId xmlns:a16="http://schemas.microsoft.com/office/drawing/2014/main" id="{82A77B14-9231-0ADC-4437-EABD47DA0AC0}"/>
              </a:ext>
            </a:extLst>
          </p:cNvPr>
          <p:cNvGrpSpPr/>
          <p:nvPr/>
        </p:nvGrpSpPr>
        <p:grpSpPr>
          <a:xfrm>
            <a:off x="8135264" y="3543223"/>
            <a:ext cx="1828800" cy="3165299"/>
            <a:chOff x="7432512" y="3555996"/>
            <a:chExt cx="1828800" cy="3165299"/>
          </a:xfrm>
          <a:effectLst>
            <a:outerShdw blurRad="381000" dist="38100" sx="50000" sy="50000" algn="ctr" rotWithShape="0">
              <a:srgbClr val="000000">
                <a:alpha val="20000"/>
              </a:srgbClr>
            </a:outerShdw>
          </a:effectLst>
        </p:grpSpPr>
        <p:grpSp>
          <p:nvGrpSpPr>
            <p:cNvPr id="1074" name="Group 1073">
              <a:extLst>
                <a:ext uri="{FF2B5EF4-FFF2-40B4-BE49-F238E27FC236}">
                  <a16:creationId xmlns:a16="http://schemas.microsoft.com/office/drawing/2014/main" id="{2B59571F-6E0D-327B-9ADD-497B5E34B891}"/>
                </a:ext>
              </a:extLst>
            </p:cNvPr>
            <p:cNvGrpSpPr/>
            <p:nvPr/>
          </p:nvGrpSpPr>
          <p:grpSpPr>
            <a:xfrm>
              <a:off x="7432512" y="3555996"/>
              <a:ext cx="1828800" cy="3165299"/>
              <a:chOff x="7432512" y="3555996"/>
              <a:chExt cx="1828800" cy="3165299"/>
            </a:xfrm>
          </p:grpSpPr>
          <p:sp>
            <p:nvSpPr>
              <p:cNvPr id="1055" name="Rectangle: Rounded Corners 1054">
                <a:extLst>
                  <a:ext uri="{FF2B5EF4-FFF2-40B4-BE49-F238E27FC236}">
                    <a16:creationId xmlns:a16="http://schemas.microsoft.com/office/drawing/2014/main" id="{C2EC0C07-AE05-86C3-035F-258DD2F171B9}"/>
                  </a:ext>
                </a:extLst>
              </p:cNvPr>
              <p:cNvSpPr/>
              <p:nvPr/>
            </p:nvSpPr>
            <p:spPr>
              <a:xfrm>
                <a:off x="7432512" y="3555996"/>
                <a:ext cx="1828800" cy="3165299"/>
              </a:xfrm>
              <a:prstGeom prst="roundRect">
                <a:avLst>
                  <a:gd name="adj" fmla="val 25194"/>
                </a:avLst>
              </a:prstGeom>
              <a:solidFill>
                <a:srgbClr val="F7F9F9"/>
              </a:solidFill>
              <a:ln w="6350">
                <a:solidFill>
                  <a:srgbClr val="7CA7A5"/>
                </a:solidFill>
              </a:ln>
              <a:effectLst>
                <a:outerShdw blurRad="3810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TextBox 1055">
                <a:extLst>
                  <a:ext uri="{FF2B5EF4-FFF2-40B4-BE49-F238E27FC236}">
                    <a16:creationId xmlns:a16="http://schemas.microsoft.com/office/drawing/2014/main" id="{BF4988AA-ADF4-305B-5D04-AE42CE1F7BCD}"/>
                  </a:ext>
                </a:extLst>
              </p:cNvPr>
              <p:cNvSpPr txBox="1"/>
              <p:nvPr/>
            </p:nvSpPr>
            <p:spPr>
              <a:xfrm>
                <a:off x="7604088" y="4918405"/>
                <a:ext cx="1475661" cy="338554"/>
              </a:xfrm>
              <a:prstGeom prst="rect">
                <a:avLst/>
              </a:prstGeom>
              <a:noFill/>
            </p:spPr>
            <p:txBody>
              <a:bodyPr wrap="none" rtlCol="0">
                <a:spAutoFit/>
              </a:bodyPr>
              <a:lstStyle/>
              <a:p>
                <a:pPr algn="ctr"/>
                <a:r>
                  <a:rPr lang="en-US" sz="1600" b="1">
                    <a:solidFill>
                      <a:srgbClr val="7CA7A5"/>
                    </a:solidFill>
                  </a:rPr>
                  <a:t>Tamia Jenkins</a:t>
                </a:r>
              </a:p>
            </p:txBody>
          </p:sp>
          <p:sp>
            <p:nvSpPr>
              <p:cNvPr id="1057" name="TextBox 1056">
                <a:extLst>
                  <a:ext uri="{FF2B5EF4-FFF2-40B4-BE49-F238E27FC236}">
                    <a16:creationId xmlns:a16="http://schemas.microsoft.com/office/drawing/2014/main" id="{7AB8B24F-DE2B-5FE6-8AE4-39047E8373E8}"/>
                  </a:ext>
                </a:extLst>
              </p:cNvPr>
              <p:cNvSpPr txBox="1"/>
              <p:nvPr/>
            </p:nvSpPr>
            <p:spPr>
              <a:xfrm>
                <a:off x="7556767" y="5208691"/>
                <a:ext cx="1570302" cy="276999"/>
              </a:xfrm>
              <a:prstGeom prst="rect">
                <a:avLst/>
              </a:prstGeom>
              <a:noFill/>
            </p:spPr>
            <p:txBody>
              <a:bodyPr wrap="none" rtlCol="0">
                <a:spAutoFit/>
              </a:bodyPr>
              <a:lstStyle/>
              <a:p>
                <a:pPr algn="ctr"/>
                <a:r>
                  <a:rPr lang="en-US" sz="1200">
                    <a:solidFill>
                      <a:srgbClr val="5F6B73"/>
                    </a:solidFill>
                  </a:rPr>
                  <a:t>Full-Stack Developer</a:t>
                </a:r>
              </a:p>
            </p:txBody>
          </p:sp>
          <p:sp>
            <p:nvSpPr>
              <p:cNvPr id="1058" name="TextBox 1057">
                <a:extLst>
                  <a:ext uri="{FF2B5EF4-FFF2-40B4-BE49-F238E27FC236}">
                    <a16:creationId xmlns:a16="http://schemas.microsoft.com/office/drawing/2014/main" id="{6E30100F-5F53-0232-B43E-30AB8F4E9073}"/>
                  </a:ext>
                </a:extLst>
              </p:cNvPr>
              <p:cNvSpPr txBox="1"/>
              <p:nvPr/>
            </p:nvSpPr>
            <p:spPr>
              <a:xfrm>
                <a:off x="7469216" y="6008445"/>
                <a:ext cx="1745405" cy="461665"/>
              </a:xfrm>
              <a:prstGeom prst="rect">
                <a:avLst/>
              </a:prstGeom>
              <a:noFill/>
            </p:spPr>
            <p:txBody>
              <a:bodyPr wrap="square" rtlCol="0">
                <a:spAutoFit/>
              </a:bodyPr>
              <a:lstStyle/>
              <a:p>
                <a:pPr algn="ctr"/>
                <a:r>
                  <a:rPr lang="en-US" sz="1200">
                    <a:solidFill>
                      <a:srgbClr val="5F6B73"/>
                    </a:solidFill>
                  </a:rPr>
                  <a:t>User Connections</a:t>
                </a:r>
              </a:p>
              <a:p>
                <a:pPr algn="ctr"/>
                <a:r>
                  <a:rPr lang="en-US" sz="1200">
                    <a:solidFill>
                      <a:srgbClr val="5F6B73"/>
                    </a:solidFill>
                  </a:rPr>
                  <a:t>User FAQ</a:t>
                </a:r>
              </a:p>
            </p:txBody>
          </p:sp>
          <p:sp>
            <p:nvSpPr>
              <p:cNvPr id="1059" name="TextBox 1058">
                <a:extLst>
                  <a:ext uri="{FF2B5EF4-FFF2-40B4-BE49-F238E27FC236}">
                    <a16:creationId xmlns:a16="http://schemas.microsoft.com/office/drawing/2014/main" id="{B74E755A-0783-BF33-B7A8-FA338DE394EB}"/>
                  </a:ext>
                </a:extLst>
              </p:cNvPr>
              <p:cNvSpPr txBox="1"/>
              <p:nvPr/>
            </p:nvSpPr>
            <p:spPr>
              <a:xfrm>
                <a:off x="7966332" y="5780445"/>
                <a:ext cx="751172" cy="307777"/>
              </a:xfrm>
              <a:prstGeom prst="rect">
                <a:avLst/>
              </a:prstGeom>
              <a:noFill/>
            </p:spPr>
            <p:txBody>
              <a:bodyPr wrap="square" rtlCol="0">
                <a:spAutoFit/>
              </a:bodyPr>
              <a:lstStyle/>
              <a:p>
                <a:pPr algn="ctr"/>
                <a:r>
                  <a:rPr lang="en-US" sz="1400" b="1">
                    <a:solidFill>
                      <a:srgbClr val="7CA7A5"/>
                    </a:solidFill>
                  </a:rPr>
                  <a:t>Focus</a:t>
                </a:r>
                <a:endParaRPr lang="en-US" sz="1200" b="1">
                  <a:solidFill>
                    <a:srgbClr val="7CA7A5"/>
                  </a:solidFill>
                </a:endParaRPr>
              </a:p>
            </p:txBody>
          </p:sp>
          <p:pic>
            <p:nvPicPr>
              <p:cNvPr id="1061" name="Picture 6" descr="Tamia Jenkins">
                <a:extLst>
                  <a:ext uri="{FF2B5EF4-FFF2-40B4-BE49-F238E27FC236}">
                    <a16:creationId xmlns:a16="http://schemas.microsoft.com/office/drawing/2014/main" id="{85118226-DE35-5822-E057-B189B719725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70418" y="3728023"/>
                <a:ext cx="1143000" cy="1143000"/>
              </a:xfrm>
              <a:prstGeom prst="ellipse">
                <a:avLst/>
              </a:prstGeom>
              <a:noFill/>
              <a:ln>
                <a:solidFill>
                  <a:srgbClr val="7CA7A5"/>
                </a:solidFill>
              </a:ln>
              <a:extLst>
                <a:ext uri="{909E8E84-426E-40DD-AFC4-6F175D3DCCD1}">
                  <a14:hiddenFill xmlns:a14="http://schemas.microsoft.com/office/drawing/2010/main">
                    <a:solidFill>
                      <a:srgbClr val="FFFFFF"/>
                    </a:solidFill>
                  </a14:hiddenFill>
                </a:ext>
              </a:extLst>
            </p:spPr>
          </p:pic>
        </p:grpSp>
        <p:cxnSp>
          <p:nvCxnSpPr>
            <p:cNvPr id="1083" name="Straight Connector 1082">
              <a:extLst>
                <a:ext uri="{FF2B5EF4-FFF2-40B4-BE49-F238E27FC236}">
                  <a16:creationId xmlns:a16="http://schemas.microsoft.com/office/drawing/2014/main" id="{84562450-99C7-63CA-8B72-0DB064DA8379}"/>
                </a:ext>
              </a:extLst>
            </p:cNvPr>
            <p:cNvCxnSpPr/>
            <p:nvPr/>
          </p:nvCxnSpPr>
          <p:spPr>
            <a:xfrm>
              <a:off x="7884718" y="5737913"/>
              <a:ext cx="914400" cy="0"/>
            </a:xfrm>
            <a:prstGeom prst="line">
              <a:avLst/>
            </a:prstGeom>
            <a:ln w="28575">
              <a:solidFill>
                <a:srgbClr val="7CA7A5">
                  <a:alpha val="20000"/>
                </a:srgbClr>
              </a:solidFill>
            </a:ln>
          </p:spPr>
          <p:style>
            <a:lnRef idx="2">
              <a:schemeClr val="accent1"/>
            </a:lnRef>
            <a:fillRef idx="0">
              <a:schemeClr val="accent1"/>
            </a:fillRef>
            <a:effectRef idx="1">
              <a:schemeClr val="accent1"/>
            </a:effectRef>
            <a:fontRef idx="minor">
              <a:schemeClr val="tx1"/>
            </a:fontRef>
          </p:style>
        </p:cxnSp>
      </p:grpSp>
      <p:grpSp>
        <p:nvGrpSpPr>
          <p:cNvPr id="1085" name="Group 1084">
            <a:extLst>
              <a:ext uri="{FF2B5EF4-FFF2-40B4-BE49-F238E27FC236}">
                <a16:creationId xmlns:a16="http://schemas.microsoft.com/office/drawing/2014/main" id="{B0C518E9-7EC4-31CD-91C4-B2A604C01B67}"/>
              </a:ext>
            </a:extLst>
          </p:cNvPr>
          <p:cNvGrpSpPr/>
          <p:nvPr/>
        </p:nvGrpSpPr>
        <p:grpSpPr>
          <a:xfrm>
            <a:off x="10085446" y="3543223"/>
            <a:ext cx="1852622" cy="3165299"/>
            <a:chOff x="9855208" y="3555868"/>
            <a:chExt cx="1852622" cy="3165299"/>
          </a:xfrm>
          <a:effectLst>
            <a:outerShdw blurRad="381000" dist="38100" sx="50000" sy="50000" algn="ctr" rotWithShape="0">
              <a:srgbClr val="000000">
                <a:alpha val="20000"/>
              </a:srgbClr>
            </a:outerShdw>
          </a:effectLst>
        </p:grpSpPr>
        <p:grpSp>
          <p:nvGrpSpPr>
            <p:cNvPr id="1075" name="Group 1074">
              <a:extLst>
                <a:ext uri="{FF2B5EF4-FFF2-40B4-BE49-F238E27FC236}">
                  <a16:creationId xmlns:a16="http://schemas.microsoft.com/office/drawing/2014/main" id="{D7E4A7CD-DC98-6401-960C-905F4A36C95F}"/>
                </a:ext>
              </a:extLst>
            </p:cNvPr>
            <p:cNvGrpSpPr/>
            <p:nvPr/>
          </p:nvGrpSpPr>
          <p:grpSpPr>
            <a:xfrm>
              <a:off x="9855208" y="3555868"/>
              <a:ext cx="1852622" cy="3165299"/>
              <a:chOff x="9855208" y="3555868"/>
              <a:chExt cx="1852622" cy="3165299"/>
            </a:xfrm>
          </p:grpSpPr>
          <p:sp>
            <p:nvSpPr>
              <p:cNvPr id="1062" name="Rectangle: Rounded Corners 1061">
                <a:extLst>
                  <a:ext uri="{FF2B5EF4-FFF2-40B4-BE49-F238E27FC236}">
                    <a16:creationId xmlns:a16="http://schemas.microsoft.com/office/drawing/2014/main" id="{E4EE666C-94FC-1428-4C6B-6C260631266D}"/>
                  </a:ext>
                </a:extLst>
              </p:cNvPr>
              <p:cNvSpPr/>
              <p:nvPr/>
            </p:nvSpPr>
            <p:spPr>
              <a:xfrm>
                <a:off x="9867118" y="3555868"/>
                <a:ext cx="1828800" cy="3165299"/>
              </a:xfrm>
              <a:prstGeom prst="roundRect">
                <a:avLst>
                  <a:gd name="adj" fmla="val 25194"/>
                </a:avLst>
              </a:prstGeom>
              <a:solidFill>
                <a:srgbClr val="F7F9F9"/>
              </a:solidFill>
              <a:ln w="6350">
                <a:solidFill>
                  <a:srgbClr val="7CA7A5"/>
                </a:solidFill>
              </a:ln>
              <a:effectLst>
                <a:outerShdw blurRad="3810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TextBox 1062">
                <a:extLst>
                  <a:ext uri="{FF2B5EF4-FFF2-40B4-BE49-F238E27FC236}">
                    <a16:creationId xmlns:a16="http://schemas.microsoft.com/office/drawing/2014/main" id="{3F1E0F68-CC19-5EDC-8A63-D04604C4625B}"/>
                  </a:ext>
                </a:extLst>
              </p:cNvPr>
              <p:cNvSpPr txBox="1"/>
              <p:nvPr/>
            </p:nvSpPr>
            <p:spPr>
              <a:xfrm>
                <a:off x="9855208" y="4918405"/>
                <a:ext cx="1852622" cy="569387"/>
              </a:xfrm>
              <a:prstGeom prst="rect">
                <a:avLst/>
              </a:prstGeom>
              <a:noFill/>
            </p:spPr>
            <p:txBody>
              <a:bodyPr wrap="none" rtlCol="0">
                <a:spAutoFit/>
              </a:bodyPr>
              <a:lstStyle/>
              <a:p>
                <a:pPr algn="ctr"/>
                <a:r>
                  <a:rPr lang="en-US" sz="1600" b="1">
                    <a:solidFill>
                      <a:srgbClr val="7CA7A5"/>
                    </a:solidFill>
                  </a:rPr>
                  <a:t>Baudelaire </a:t>
                </a:r>
                <a:br>
                  <a:rPr lang="en-US" sz="1600" b="1">
                    <a:solidFill>
                      <a:srgbClr val="7CA7A5"/>
                    </a:solidFill>
                  </a:rPr>
                </a:br>
                <a:r>
                  <a:rPr lang="en-US" sz="1500" b="1">
                    <a:solidFill>
                      <a:srgbClr val="7CA7A5"/>
                    </a:solidFill>
                  </a:rPr>
                  <a:t>Messago Ngumouo</a:t>
                </a:r>
              </a:p>
            </p:txBody>
          </p:sp>
          <p:sp>
            <p:nvSpPr>
              <p:cNvPr id="1064" name="TextBox 1063">
                <a:extLst>
                  <a:ext uri="{FF2B5EF4-FFF2-40B4-BE49-F238E27FC236}">
                    <a16:creationId xmlns:a16="http://schemas.microsoft.com/office/drawing/2014/main" id="{55B44577-4830-4E6E-4301-0CB69496B2D3}"/>
                  </a:ext>
                </a:extLst>
              </p:cNvPr>
              <p:cNvSpPr txBox="1"/>
              <p:nvPr/>
            </p:nvSpPr>
            <p:spPr>
              <a:xfrm>
                <a:off x="10026880" y="5426564"/>
                <a:ext cx="1570302" cy="276999"/>
              </a:xfrm>
              <a:prstGeom prst="rect">
                <a:avLst/>
              </a:prstGeom>
              <a:noFill/>
            </p:spPr>
            <p:txBody>
              <a:bodyPr wrap="none" rtlCol="0">
                <a:spAutoFit/>
              </a:bodyPr>
              <a:lstStyle/>
              <a:p>
                <a:pPr algn="ctr"/>
                <a:r>
                  <a:rPr lang="en-US" sz="1200">
                    <a:solidFill>
                      <a:srgbClr val="5F6B73"/>
                    </a:solidFill>
                  </a:rPr>
                  <a:t>Full-Stack Developer</a:t>
                </a:r>
              </a:p>
            </p:txBody>
          </p:sp>
          <p:sp>
            <p:nvSpPr>
              <p:cNvPr id="1066" name="TextBox 1065">
                <a:extLst>
                  <a:ext uri="{FF2B5EF4-FFF2-40B4-BE49-F238E27FC236}">
                    <a16:creationId xmlns:a16="http://schemas.microsoft.com/office/drawing/2014/main" id="{5C3EC334-7533-3603-8C07-39019ADAF37A}"/>
                  </a:ext>
                </a:extLst>
              </p:cNvPr>
              <p:cNvSpPr txBox="1"/>
              <p:nvPr/>
            </p:nvSpPr>
            <p:spPr>
              <a:xfrm>
                <a:off x="10405932" y="5780445"/>
                <a:ext cx="751172" cy="307777"/>
              </a:xfrm>
              <a:prstGeom prst="rect">
                <a:avLst/>
              </a:prstGeom>
              <a:noFill/>
            </p:spPr>
            <p:txBody>
              <a:bodyPr wrap="square" rtlCol="0">
                <a:spAutoFit/>
              </a:bodyPr>
              <a:lstStyle/>
              <a:p>
                <a:pPr algn="ctr"/>
                <a:r>
                  <a:rPr lang="en-US" sz="1400" b="1">
                    <a:solidFill>
                      <a:srgbClr val="7CA7A5"/>
                    </a:solidFill>
                  </a:rPr>
                  <a:t>Focus</a:t>
                </a:r>
              </a:p>
            </p:txBody>
          </p:sp>
          <p:pic>
            <p:nvPicPr>
              <p:cNvPr id="1068" name="Picture 8" descr="Baudelaire Messago Ngumouo">
                <a:extLst>
                  <a:ext uri="{FF2B5EF4-FFF2-40B4-BE49-F238E27FC236}">
                    <a16:creationId xmlns:a16="http://schemas.microsoft.com/office/drawing/2014/main" id="{B0881E63-2C68-F5DD-33D7-53FA46F26FC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210018" y="3719504"/>
                <a:ext cx="1143000" cy="1143000"/>
              </a:xfrm>
              <a:prstGeom prst="ellipse">
                <a:avLst/>
              </a:prstGeom>
              <a:noFill/>
              <a:ln>
                <a:solidFill>
                  <a:srgbClr val="7CA7A5"/>
                </a:solidFill>
              </a:ln>
              <a:extLst>
                <a:ext uri="{909E8E84-426E-40DD-AFC4-6F175D3DCCD1}">
                  <a14:hiddenFill xmlns:a14="http://schemas.microsoft.com/office/drawing/2010/main">
                    <a:solidFill>
                      <a:srgbClr val="FFFFFF"/>
                    </a:solidFill>
                  </a14:hiddenFill>
                </a:ext>
              </a:extLst>
            </p:spPr>
          </p:pic>
          <p:sp>
            <p:nvSpPr>
              <p:cNvPr id="1069" name="TextBox 1068">
                <a:extLst>
                  <a:ext uri="{FF2B5EF4-FFF2-40B4-BE49-F238E27FC236}">
                    <a16:creationId xmlns:a16="http://schemas.microsoft.com/office/drawing/2014/main" id="{69835ACA-730C-8722-0895-9B04FF6FF593}"/>
                  </a:ext>
                </a:extLst>
              </p:cNvPr>
              <p:cNvSpPr txBox="1"/>
              <p:nvPr/>
            </p:nvSpPr>
            <p:spPr>
              <a:xfrm>
                <a:off x="9908816" y="6008445"/>
                <a:ext cx="1745405" cy="461665"/>
              </a:xfrm>
              <a:prstGeom prst="rect">
                <a:avLst/>
              </a:prstGeom>
              <a:noFill/>
            </p:spPr>
            <p:txBody>
              <a:bodyPr wrap="square" rtlCol="0">
                <a:spAutoFit/>
              </a:bodyPr>
              <a:lstStyle/>
              <a:p>
                <a:pPr algn="ctr"/>
                <a:r>
                  <a:rPr lang="en-US" sz="1200">
                    <a:solidFill>
                      <a:srgbClr val="5F6B73"/>
                    </a:solidFill>
                  </a:rPr>
                  <a:t>User Connections</a:t>
                </a:r>
              </a:p>
              <a:p>
                <a:pPr algn="ctr"/>
                <a:r>
                  <a:rPr lang="en-US" sz="1200">
                    <a:solidFill>
                      <a:srgbClr val="5F6B73"/>
                    </a:solidFill>
                  </a:rPr>
                  <a:t>User Feedback</a:t>
                </a:r>
              </a:p>
            </p:txBody>
          </p:sp>
        </p:grpSp>
        <p:cxnSp>
          <p:nvCxnSpPr>
            <p:cNvPr id="1084" name="Straight Connector 1083">
              <a:extLst>
                <a:ext uri="{FF2B5EF4-FFF2-40B4-BE49-F238E27FC236}">
                  <a16:creationId xmlns:a16="http://schemas.microsoft.com/office/drawing/2014/main" id="{CCC0D940-DE86-3B02-8DBF-C4B9479B2914}"/>
                </a:ext>
              </a:extLst>
            </p:cNvPr>
            <p:cNvCxnSpPr/>
            <p:nvPr/>
          </p:nvCxnSpPr>
          <p:spPr>
            <a:xfrm>
              <a:off x="10324318" y="5748546"/>
              <a:ext cx="914400" cy="0"/>
            </a:xfrm>
            <a:prstGeom prst="line">
              <a:avLst/>
            </a:prstGeom>
            <a:ln w="28575">
              <a:solidFill>
                <a:srgbClr val="5F6B73">
                  <a:alpha val="20000"/>
                </a:srgbClr>
              </a:solidFill>
            </a:ln>
          </p:spPr>
          <p:style>
            <a:lnRef idx="2">
              <a:schemeClr val="accent1"/>
            </a:lnRef>
            <a:fillRef idx="0">
              <a:schemeClr val="accent1"/>
            </a:fillRef>
            <a:effectRef idx="1">
              <a:schemeClr val="accent1"/>
            </a:effectRef>
            <a:fontRef idx="minor">
              <a:schemeClr val="tx1"/>
            </a:fontRef>
          </p:style>
        </p:cxnSp>
      </p:grpSp>
      <p:cxnSp>
        <p:nvCxnSpPr>
          <p:cNvPr id="1094" name="Straight Connector 1093">
            <a:extLst>
              <a:ext uri="{FF2B5EF4-FFF2-40B4-BE49-F238E27FC236}">
                <a16:creationId xmlns:a16="http://schemas.microsoft.com/office/drawing/2014/main" id="{292ABB4F-10F1-476C-3C93-55A25AED6C84}"/>
              </a:ext>
            </a:extLst>
          </p:cNvPr>
          <p:cNvCxnSpPr/>
          <p:nvPr/>
        </p:nvCxnSpPr>
        <p:spPr>
          <a:xfrm>
            <a:off x="754911" y="2251497"/>
            <a:ext cx="1977655" cy="0"/>
          </a:xfrm>
          <a:prstGeom prst="line">
            <a:avLst/>
          </a:prstGeom>
          <a:ln w="28575">
            <a:solidFill>
              <a:srgbClr val="7CA7A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2778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D723F75D-7486-C41D-4B0A-F8EF2A196C84}"/>
              </a:ext>
            </a:extLst>
          </p:cNvPr>
          <p:cNvSpPr/>
          <p:nvPr/>
        </p:nvSpPr>
        <p:spPr>
          <a:xfrm>
            <a:off x="6995666" y="-1095154"/>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650055B-266D-EB86-15E8-EE68F8D57A22}"/>
              </a:ext>
            </a:extLst>
          </p:cNvPr>
          <p:cNvSpPr txBox="1"/>
          <p:nvPr/>
        </p:nvSpPr>
        <p:spPr>
          <a:xfrm>
            <a:off x="2335358" y="589286"/>
            <a:ext cx="7521284" cy="584775"/>
          </a:xfrm>
          <a:prstGeom prst="rect">
            <a:avLst/>
          </a:prstGeom>
          <a:noFill/>
        </p:spPr>
        <p:txBody>
          <a:bodyPr wrap="square" rtlCol="0">
            <a:spAutoFit/>
          </a:bodyPr>
          <a:lstStyle/>
          <a:p>
            <a:r>
              <a:rPr lang="en-US" sz="3200" b="1">
                <a:solidFill>
                  <a:srgbClr val="151F29"/>
                </a:solidFill>
              </a:rPr>
              <a:t>Project Overview &amp; Frontend Objectives</a:t>
            </a:r>
          </a:p>
        </p:txBody>
      </p:sp>
      <p:sp>
        <p:nvSpPr>
          <p:cNvPr id="3" name="Oval 2">
            <a:extLst>
              <a:ext uri="{FF2B5EF4-FFF2-40B4-BE49-F238E27FC236}">
                <a16:creationId xmlns:a16="http://schemas.microsoft.com/office/drawing/2014/main" id="{FA5C41F1-9051-8281-C922-31B763BE1F76}"/>
              </a:ext>
            </a:extLst>
          </p:cNvPr>
          <p:cNvSpPr/>
          <p:nvPr/>
        </p:nvSpPr>
        <p:spPr>
          <a:xfrm>
            <a:off x="-2052450" y="4557608"/>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60337FD8-E182-53B4-1F75-3EA22A5BCD0B}"/>
              </a:ext>
            </a:extLst>
          </p:cNvPr>
          <p:cNvSpPr/>
          <p:nvPr/>
        </p:nvSpPr>
        <p:spPr>
          <a:xfrm>
            <a:off x="790575" y="1545973"/>
            <a:ext cx="4895849" cy="4722741"/>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F585B3D9-F628-0225-B4A6-33A4357A017D}"/>
              </a:ext>
            </a:extLst>
          </p:cNvPr>
          <p:cNvSpPr/>
          <p:nvPr/>
        </p:nvSpPr>
        <p:spPr>
          <a:xfrm>
            <a:off x="6505576" y="1545972"/>
            <a:ext cx="4895849" cy="4722741"/>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EF90F28-109E-7853-14D1-7ACF0257A5EE}"/>
              </a:ext>
            </a:extLst>
          </p:cNvPr>
          <p:cNvSpPr txBox="1"/>
          <p:nvPr/>
        </p:nvSpPr>
        <p:spPr>
          <a:xfrm>
            <a:off x="1298973" y="2066375"/>
            <a:ext cx="1578636" cy="461665"/>
          </a:xfrm>
          <a:prstGeom prst="rect">
            <a:avLst/>
          </a:prstGeom>
          <a:noFill/>
        </p:spPr>
        <p:txBody>
          <a:bodyPr wrap="square" rtlCol="0">
            <a:spAutoFit/>
          </a:bodyPr>
          <a:lstStyle/>
          <a:p>
            <a:r>
              <a:rPr lang="en-US" sz="2400" b="1" dirty="0">
                <a:solidFill>
                  <a:srgbClr val="151F29"/>
                </a:solidFill>
              </a:rPr>
              <a:t>Overview</a:t>
            </a:r>
          </a:p>
        </p:txBody>
      </p:sp>
      <p:sp>
        <p:nvSpPr>
          <p:cNvPr id="14" name="TextBox 13">
            <a:extLst>
              <a:ext uri="{FF2B5EF4-FFF2-40B4-BE49-F238E27FC236}">
                <a16:creationId xmlns:a16="http://schemas.microsoft.com/office/drawing/2014/main" id="{039A49ED-6F0F-6145-1E80-2493429FAF21}"/>
              </a:ext>
            </a:extLst>
          </p:cNvPr>
          <p:cNvSpPr txBox="1"/>
          <p:nvPr/>
        </p:nvSpPr>
        <p:spPr>
          <a:xfrm>
            <a:off x="1298973" y="2638709"/>
            <a:ext cx="3911396" cy="3108543"/>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151F29"/>
                </a:solidFill>
              </a:rPr>
              <a:t>Angular-based frontend serving three main user roles: Senior, Caregiver, and Admin</a:t>
            </a:r>
          </a:p>
          <a:p>
            <a:endParaRPr lang="en-US" sz="1400" dirty="0">
              <a:solidFill>
                <a:srgbClr val="151F29"/>
              </a:solidFill>
            </a:endParaRPr>
          </a:p>
          <a:p>
            <a:pPr marL="285750" indent="-285750">
              <a:buFont typeface="Arial" panose="020B0604020202020204" pitchFamily="34" charset="0"/>
              <a:buChar char="•"/>
            </a:pPr>
            <a:r>
              <a:rPr lang="en-US" sz="1400" dirty="0">
                <a:solidFill>
                  <a:srgbClr val="151F29"/>
                </a:solidFill>
              </a:rPr>
              <a:t>Appointment calendar with notification reminders for upcoming events</a:t>
            </a:r>
          </a:p>
          <a:p>
            <a:endParaRPr lang="en-US" sz="1400" dirty="0">
              <a:solidFill>
                <a:srgbClr val="151F29"/>
              </a:solidFill>
            </a:endParaRPr>
          </a:p>
          <a:p>
            <a:pPr marL="285750" indent="-285750">
              <a:buFont typeface="Arial" panose="020B0604020202020204" pitchFamily="34" charset="0"/>
              <a:buChar char="•"/>
            </a:pPr>
            <a:r>
              <a:rPr lang="en-US" sz="1400" dirty="0">
                <a:solidFill>
                  <a:srgbClr val="151F29"/>
                </a:solidFill>
              </a:rPr>
              <a:t>Online safety education through scam-awareness lessons and quizzes</a:t>
            </a:r>
          </a:p>
          <a:p>
            <a:endParaRPr lang="en-US" sz="1400" dirty="0">
              <a:solidFill>
                <a:srgbClr val="151F29"/>
              </a:solidFill>
            </a:endParaRPr>
          </a:p>
          <a:p>
            <a:pPr marL="285750" indent="-285750">
              <a:buFont typeface="Arial" panose="020B0604020202020204" pitchFamily="34" charset="0"/>
              <a:buChar char="•"/>
            </a:pPr>
            <a:r>
              <a:rPr lang="en-US" sz="1400" dirty="0">
                <a:solidFill>
                  <a:srgbClr val="151F29"/>
                </a:solidFill>
              </a:rPr>
              <a:t>Caregiver linking system giving family members visibility into a senior’s schedule</a:t>
            </a:r>
          </a:p>
          <a:p>
            <a:endParaRPr lang="en-US" sz="1400" dirty="0">
              <a:solidFill>
                <a:srgbClr val="151F29"/>
              </a:solidFill>
            </a:endParaRPr>
          </a:p>
          <a:p>
            <a:pPr marL="285750" indent="-285750">
              <a:buFont typeface="Arial" panose="020B0604020202020204" pitchFamily="34" charset="0"/>
              <a:buChar char="•"/>
            </a:pPr>
            <a:r>
              <a:rPr lang="en-US" sz="1400" dirty="0">
                <a:solidFill>
                  <a:srgbClr val="151F29"/>
                </a:solidFill>
              </a:rPr>
              <a:t>Accessible design with dark mode, large text, and simple navigation</a:t>
            </a:r>
          </a:p>
        </p:txBody>
      </p:sp>
      <p:grpSp>
        <p:nvGrpSpPr>
          <p:cNvPr id="25" name="Group 24">
            <a:extLst>
              <a:ext uri="{FF2B5EF4-FFF2-40B4-BE49-F238E27FC236}">
                <a16:creationId xmlns:a16="http://schemas.microsoft.com/office/drawing/2014/main" id="{EAC1EE42-69E0-583A-6785-E95A3307EFFA}"/>
              </a:ext>
            </a:extLst>
          </p:cNvPr>
          <p:cNvGrpSpPr/>
          <p:nvPr/>
        </p:nvGrpSpPr>
        <p:grpSpPr>
          <a:xfrm>
            <a:off x="6995666" y="2066375"/>
            <a:ext cx="3969948" cy="3681934"/>
            <a:chOff x="6995665" y="1901359"/>
            <a:chExt cx="3969948" cy="3681934"/>
          </a:xfrm>
        </p:grpSpPr>
        <p:sp>
          <p:nvSpPr>
            <p:cNvPr id="12" name="TextBox 11">
              <a:extLst>
                <a:ext uri="{FF2B5EF4-FFF2-40B4-BE49-F238E27FC236}">
                  <a16:creationId xmlns:a16="http://schemas.microsoft.com/office/drawing/2014/main" id="{9698D25B-B060-078F-1020-5DDD1A21DF22}"/>
                </a:ext>
              </a:extLst>
            </p:cNvPr>
            <p:cNvSpPr txBox="1"/>
            <p:nvPr/>
          </p:nvSpPr>
          <p:spPr>
            <a:xfrm>
              <a:off x="6995665" y="1901359"/>
              <a:ext cx="1715197" cy="461665"/>
            </a:xfrm>
            <a:prstGeom prst="rect">
              <a:avLst/>
            </a:prstGeom>
            <a:noFill/>
          </p:spPr>
          <p:txBody>
            <a:bodyPr wrap="square" rtlCol="0">
              <a:spAutoFit/>
            </a:bodyPr>
            <a:lstStyle/>
            <a:p>
              <a:r>
                <a:rPr lang="en-US" sz="2400" b="1">
                  <a:solidFill>
                    <a:srgbClr val="151F29"/>
                  </a:solidFill>
                </a:rPr>
                <a:t>Objectives</a:t>
              </a:r>
            </a:p>
          </p:txBody>
        </p:sp>
        <p:sp>
          <p:nvSpPr>
            <p:cNvPr id="15" name="TextBox 14">
              <a:extLst>
                <a:ext uri="{FF2B5EF4-FFF2-40B4-BE49-F238E27FC236}">
                  <a16:creationId xmlns:a16="http://schemas.microsoft.com/office/drawing/2014/main" id="{045D4CFE-A775-2C08-5980-CC714143BF18}"/>
                </a:ext>
              </a:extLst>
            </p:cNvPr>
            <p:cNvSpPr txBox="1"/>
            <p:nvPr/>
          </p:nvSpPr>
          <p:spPr>
            <a:xfrm>
              <a:off x="7719461" y="2473693"/>
              <a:ext cx="3246152" cy="3108543"/>
            </a:xfrm>
            <a:prstGeom prst="rect">
              <a:avLst/>
            </a:prstGeom>
            <a:noFill/>
          </p:spPr>
          <p:txBody>
            <a:bodyPr wrap="square" rtlCol="0">
              <a:spAutoFit/>
            </a:bodyPr>
            <a:lstStyle/>
            <a:p>
              <a:r>
                <a:rPr lang="en-US" sz="1400">
                  <a:solidFill>
                    <a:srgbClr val="151F29"/>
                  </a:solidFill>
                </a:rPr>
                <a:t>Build an intuitive, accessible Angular frontend framework for seniors with minimal tech experience</a:t>
              </a:r>
            </a:p>
            <a:p>
              <a:endParaRPr lang="en-US" sz="1400">
                <a:solidFill>
                  <a:srgbClr val="151F29"/>
                </a:solidFill>
              </a:endParaRPr>
            </a:p>
            <a:p>
              <a:r>
                <a:rPr lang="en-US" sz="1400">
                  <a:solidFill>
                    <a:srgbClr val="151F29"/>
                  </a:solidFill>
                </a:rPr>
                <a:t>Implement responsive UI components for appointments, modules, lessons, quizzes, and caregiver connections</a:t>
              </a:r>
            </a:p>
            <a:p>
              <a:endParaRPr lang="en-US" sz="1400">
                <a:solidFill>
                  <a:srgbClr val="151F29"/>
                </a:solidFill>
              </a:endParaRPr>
            </a:p>
            <a:p>
              <a:r>
                <a:rPr lang="en-US" sz="1400">
                  <a:solidFill>
                    <a:srgbClr val="151F29"/>
                  </a:solidFill>
                </a:rPr>
                <a:t>Integrate securely with the Spring Boot REST API using token-based authentication</a:t>
              </a:r>
            </a:p>
            <a:p>
              <a:endParaRPr lang="en-US" sz="1400">
                <a:solidFill>
                  <a:srgbClr val="151F29"/>
                </a:solidFill>
              </a:endParaRPr>
            </a:p>
            <a:p>
              <a:r>
                <a:rPr lang="en-US" sz="1400">
                  <a:solidFill>
                    <a:srgbClr val="151F29"/>
                  </a:solidFill>
                </a:rPr>
                <a:t>Deliver end-to-end tested user flows with Cypress</a:t>
              </a:r>
            </a:p>
          </p:txBody>
        </p:sp>
        <p:grpSp>
          <p:nvGrpSpPr>
            <p:cNvPr id="24" name="Group 23">
              <a:extLst>
                <a:ext uri="{FF2B5EF4-FFF2-40B4-BE49-F238E27FC236}">
                  <a16:creationId xmlns:a16="http://schemas.microsoft.com/office/drawing/2014/main" id="{465B3421-33FD-04B9-A995-79921C8FE50C}"/>
                </a:ext>
              </a:extLst>
            </p:cNvPr>
            <p:cNvGrpSpPr/>
            <p:nvPr/>
          </p:nvGrpSpPr>
          <p:grpSpPr>
            <a:xfrm>
              <a:off x="6995665" y="2515892"/>
              <a:ext cx="548640" cy="3067401"/>
              <a:chOff x="6995665" y="2515892"/>
              <a:chExt cx="548640" cy="3067401"/>
            </a:xfrm>
          </p:grpSpPr>
          <p:pic>
            <p:nvPicPr>
              <p:cNvPr id="17" name="Graphic 16">
                <a:extLst>
                  <a:ext uri="{FF2B5EF4-FFF2-40B4-BE49-F238E27FC236}">
                    <a16:creationId xmlns:a16="http://schemas.microsoft.com/office/drawing/2014/main" id="{DFB1ADF5-0259-F6E2-3B6A-AEEE7807D4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95665" y="2515892"/>
                <a:ext cx="548640" cy="548640"/>
              </a:xfrm>
              <a:prstGeom prst="rect">
                <a:avLst/>
              </a:prstGeom>
            </p:spPr>
          </p:pic>
          <p:pic>
            <p:nvPicPr>
              <p:cNvPr id="19" name="Graphic 18">
                <a:extLst>
                  <a:ext uri="{FF2B5EF4-FFF2-40B4-BE49-F238E27FC236}">
                    <a16:creationId xmlns:a16="http://schemas.microsoft.com/office/drawing/2014/main" id="{BB3760B8-2ADF-19FC-3F7A-BB05AC5432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95665" y="4230698"/>
                <a:ext cx="548640" cy="548640"/>
              </a:xfrm>
              <a:prstGeom prst="rect">
                <a:avLst/>
              </a:prstGeom>
            </p:spPr>
          </p:pic>
          <p:pic>
            <p:nvPicPr>
              <p:cNvPr id="21" name="Graphic 20">
                <a:extLst>
                  <a:ext uri="{FF2B5EF4-FFF2-40B4-BE49-F238E27FC236}">
                    <a16:creationId xmlns:a16="http://schemas.microsoft.com/office/drawing/2014/main" id="{FCD30938-1861-63FC-02EB-6F6A9FE9E3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95665" y="5034653"/>
                <a:ext cx="548640" cy="548640"/>
              </a:xfrm>
              <a:prstGeom prst="rect">
                <a:avLst/>
              </a:prstGeom>
            </p:spPr>
          </p:pic>
          <p:pic>
            <p:nvPicPr>
              <p:cNvPr id="23" name="Graphic 22">
                <a:extLst>
                  <a:ext uri="{FF2B5EF4-FFF2-40B4-BE49-F238E27FC236}">
                    <a16:creationId xmlns:a16="http://schemas.microsoft.com/office/drawing/2014/main" id="{526AAD62-2FFF-BC15-7E77-91125CF2CE6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95665" y="3388380"/>
                <a:ext cx="548640" cy="548640"/>
              </a:xfrm>
              <a:prstGeom prst="rect">
                <a:avLst/>
              </a:prstGeom>
            </p:spPr>
          </p:pic>
        </p:grpSp>
      </p:grpSp>
    </p:spTree>
    <p:extLst>
      <p:ext uri="{BB962C8B-B14F-4D97-AF65-F5344CB8AC3E}">
        <p14:creationId xmlns:p14="http://schemas.microsoft.com/office/powerpoint/2010/main" val="3347419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Oval 20">
            <a:extLst>
              <a:ext uri="{FF2B5EF4-FFF2-40B4-BE49-F238E27FC236}">
                <a16:creationId xmlns:a16="http://schemas.microsoft.com/office/drawing/2014/main" id="{1E1CAA8A-218A-7F12-16EB-063F6E368401}"/>
              </a:ext>
            </a:extLst>
          </p:cNvPr>
          <p:cNvSpPr/>
          <p:nvPr/>
        </p:nvSpPr>
        <p:spPr>
          <a:xfrm>
            <a:off x="6995666" y="-1095154"/>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383287E9-C763-5AD6-E53F-0502F63E1B9C}"/>
              </a:ext>
            </a:extLst>
          </p:cNvPr>
          <p:cNvSpPr/>
          <p:nvPr/>
        </p:nvSpPr>
        <p:spPr>
          <a:xfrm>
            <a:off x="-2052450" y="4557608"/>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82D045C0-C1E0-3E79-01A3-253856C15AC5}"/>
              </a:ext>
            </a:extLst>
          </p:cNvPr>
          <p:cNvSpPr/>
          <p:nvPr/>
        </p:nvSpPr>
        <p:spPr>
          <a:xfrm>
            <a:off x="6505576" y="1545972"/>
            <a:ext cx="4895849" cy="4722741"/>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F79BBB6-95AF-A6C1-0B2E-9DEC3B00E1C2}"/>
              </a:ext>
            </a:extLst>
          </p:cNvPr>
          <p:cNvSpPr txBox="1"/>
          <p:nvPr/>
        </p:nvSpPr>
        <p:spPr>
          <a:xfrm>
            <a:off x="2824788" y="589286"/>
            <a:ext cx="6542424" cy="584775"/>
          </a:xfrm>
          <a:prstGeom prst="rect">
            <a:avLst/>
          </a:prstGeom>
          <a:noFill/>
        </p:spPr>
        <p:txBody>
          <a:bodyPr wrap="square" rtlCol="0">
            <a:spAutoFit/>
          </a:bodyPr>
          <a:lstStyle/>
          <a:p>
            <a:r>
              <a:rPr lang="en-US" sz="3200" b="1">
                <a:solidFill>
                  <a:srgbClr val="151F29"/>
                </a:solidFill>
              </a:rPr>
              <a:t>Project Vision: Problem &amp; Solution</a:t>
            </a:r>
          </a:p>
        </p:txBody>
      </p:sp>
      <p:pic>
        <p:nvPicPr>
          <p:cNvPr id="10" name="Graphic 9">
            <a:extLst>
              <a:ext uri="{FF2B5EF4-FFF2-40B4-BE49-F238E27FC236}">
                <a16:creationId xmlns:a16="http://schemas.microsoft.com/office/drawing/2014/main" id="{3A7370BE-ACFC-4DF4-2A64-9966DA1CE9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96300" y="1815633"/>
            <a:ext cx="914400" cy="914400"/>
          </a:xfrm>
          <a:prstGeom prst="rect">
            <a:avLst/>
          </a:prstGeom>
        </p:spPr>
      </p:pic>
      <p:sp>
        <p:nvSpPr>
          <p:cNvPr id="12" name="TextBox 11">
            <a:extLst>
              <a:ext uri="{FF2B5EF4-FFF2-40B4-BE49-F238E27FC236}">
                <a16:creationId xmlns:a16="http://schemas.microsoft.com/office/drawing/2014/main" id="{D158BBF3-9FDB-5F15-8E93-8E0F9521CFA7}"/>
              </a:ext>
            </a:extLst>
          </p:cNvPr>
          <p:cNvSpPr txBox="1"/>
          <p:nvPr/>
        </p:nvSpPr>
        <p:spPr>
          <a:xfrm>
            <a:off x="7959626" y="2730033"/>
            <a:ext cx="1987749" cy="461665"/>
          </a:xfrm>
          <a:prstGeom prst="rect">
            <a:avLst/>
          </a:prstGeom>
          <a:noFill/>
        </p:spPr>
        <p:txBody>
          <a:bodyPr wrap="square" rtlCol="0">
            <a:spAutoFit/>
          </a:bodyPr>
          <a:lstStyle/>
          <a:p>
            <a:r>
              <a:rPr lang="en-US" sz="2400" b="1">
                <a:solidFill>
                  <a:srgbClr val="151F29"/>
                </a:solidFill>
              </a:rPr>
              <a:t>Our Solution</a:t>
            </a:r>
          </a:p>
        </p:txBody>
      </p:sp>
      <p:sp>
        <p:nvSpPr>
          <p:cNvPr id="13" name="TextBox 12">
            <a:extLst>
              <a:ext uri="{FF2B5EF4-FFF2-40B4-BE49-F238E27FC236}">
                <a16:creationId xmlns:a16="http://schemas.microsoft.com/office/drawing/2014/main" id="{73578334-92DB-1AF6-244B-FF0B37118A57}"/>
              </a:ext>
            </a:extLst>
          </p:cNvPr>
          <p:cNvSpPr txBox="1"/>
          <p:nvPr/>
        </p:nvSpPr>
        <p:spPr>
          <a:xfrm>
            <a:off x="6997803" y="3174638"/>
            <a:ext cx="3911396" cy="2677656"/>
          </a:xfrm>
          <a:prstGeom prst="rect">
            <a:avLst/>
          </a:prstGeom>
          <a:noFill/>
        </p:spPr>
        <p:txBody>
          <a:bodyPr wrap="square" rtlCol="0">
            <a:spAutoFit/>
          </a:bodyPr>
          <a:lstStyle/>
          <a:p>
            <a:pPr marL="285750" indent="-285750">
              <a:buFont typeface="Arial" panose="020B0604020202020204" pitchFamily="34" charset="0"/>
              <a:buChar char="•"/>
            </a:pPr>
            <a:r>
              <a:rPr lang="en-US" sz="1400">
                <a:solidFill>
                  <a:srgbClr val="151F29"/>
                </a:solidFill>
              </a:rPr>
              <a:t>A clean, accessible frontend designed from the group up with seniors as the primary user</a:t>
            </a:r>
          </a:p>
          <a:p>
            <a:endParaRPr lang="en-US" sz="1400">
              <a:solidFill>
                <a:srgbClr val="151F29"/>
              </a:solidFill>
            </a:endParaRPr>
          </a:p>
          <a:p>
            <a:pPr marL="285750" indent="-285750">
              <a:buFont typeface="Arial" panose="020B0604020202020204" pitchFamily="34" charset="0"/>
              <a:buChar char="•"/>
            </a:pPr>
            <a:r>
              <a:rPr lang="en-US" sz="1400">
                <a:solidFill>
                  <a:srgbClr val="151F29"/>
                </a:solidFill>
              </a:rPr>
              <a:t>Integrated appointment calendar with customizable reminders, shared with caregivers</a:t>
            </a:r>
          </a:p>
          <a:p>
            <a:endParaRPr lang="en-US" sz="1400">
              <a:solidFill>
                <a:srgbClr val="151F29"/>
              </a:solidFill>
            </a:endParaRPr>
          </a:p>
          <a:p>
            <a:pPr marL="285750" indent="-285750">
              <a:buFont typeface="Arial" panose="020B0604020202020204" pitchFamily="34" charset="0"/>
              <a:buChar char="•"/>
            </a:pPr>
            <a:r>
              <a:rPr lang="en-US" sz="1400">
                <a:solidFill>
                  <a:srgbClr val="151F29"/>
                </a:solidFill>
              </a:rPr>
              <a:t>Dedicated scam-awareness lessons and quizzes built into the application</a:t>
            </a:r>
          </a:p>
          <a:p>
            <a:endParaRPr lang="en-US" sz="1400">
              <a:solidFill>
                <a:srgbClr val="151F29"/>
              </a:solidFill>
            </a:endParaRPr>
          </a:p>
          <a:p>
            <a:pPr marL="285750" indent="-285750">
              <a:buFont typeface="Arial" panose="020B0604020202020204" pitchFamily="34" charset="0"/>
              <a:buChar char="•"/>
            </a:pPr>
            <a:r>
              <a:rPr lang="en-US" sz="1400">
                <a:solidFill>
                  <a:srgbClr val="151F29"/>
                </a:solidFill>
              </a:rPr>
              <a:t>Role-based navigation tailored for Seniors and Caregivers</a:t>
            </a:r>
          </a:p>
        </p:txBody>
      </p:sp>
      <p:sp>
        <p:nvSpPr>
          <p:cNvPr id="15" name="Rectangle: Rounded Corners 14">
            <a:extLst>
              <a:ext uri="{FF2B5EF4-FFF2-40B4-BE49-F238E27FC236}">
                <a16:creationId xmlns:a16="http://schemas.microsoft.com/office/drawing/2014/main" id="{84AD2516-D11A-726B-6D84-EE3592E50950}"/>
              </a:ext>
            </a:extLst>
          </p:cNvPr>
          <p:cNvSpPr/>
          <p:nvPr/>
        </p:nvSpPr>
        <p:spPr>
          <a:xfrm>
            <a:off x="790575" y="1545972"/>
            <a:ext cx="4895849" cy="4722741"/>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90FB816-3A26-7253-FE07-FA17FB83AEF9}"/>
              </a:ext>
            </a:extLst>
          </p:cNvPr>
          <p:cNvSpPr txBox="1"/>
          <p:nvPr/>
        </p:nvSpPr>
        <p:spPr>
          <a:xfrm>
            <a:off x="2244626" y="2730033"/>
            <a:ext cx="1933836" cy="461665"/>
          </a:xfrm>
          <a:prstGeom prst="rect">
            <a:avLst/>
          </a:prstGeom>
          <a:noFill/>
        </p:spPr>
        <p:txBody>
          <a:bodyPr wrap="square" rtlCol="0">
            <a:spAutoFit/>
          </a:bodyPr>
          <a:lstStyle/>
          <a:p>
            <a:r>
              <a:rPr lang="en-US" sz="2400" b="1" dirty="0">
                <a:solidFill>
                  <a:srgbClr val="151F29"/>
                </a:solidFill>
              </a:rPr>
              <a:t>The Problem</a:t>
            </a:r>
          </a:p>
        </p:txBody>
      </p:sp>
      <p:pic>
        <p:nvPicPr>
          <p:cNvPr id="20" name="Graphic 19">
            <a:extLst>
              <a:ext uri="{FF2B5EF4-FFF2-40B4-BE49-F238E27FC236}">
                <a16:creationId xmlns:a16="http://schemas.microsoft.com/office/drawing/2014/main" id="{4D2AEEEE-087D-1028-A489-8E8990931F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81299" y="1833822"/>
            <a:ext cx="914400" cy="914400"/>
          </a:xfrm>
          <a:prstGeom prst="rect">
            <a:avLst/>
          </a:prstGeom>
        </p:spPr>
      </p:pic>
      <p:sp>
        <p:nvSpPr>
          <p:cNvPr id="18" name="TextBox 17">
            <a:extLst>
              <a:ext uri="{FF2B5EF4-FFF2-40B4-BE49-F238E27FC236}">
                <a16:creationId xmlns:a16="http://schemas.microsoft.com/office/drawing/2014/main" id="{ADEB1890-BDBC-CD72-D8D4-B34FE7A8878E}"/>
              </a:ext>
            </a:extLst>
          </p:cNvPr>
          <p:cNvSpPr txBox="1"/>
          <p:nvPr/>
        </p:nvSpPr>
        <p:spPr>
          <a:xfrm>
            <a:off x="1282801" y="3174638"/>
            <a:ext cx="3911396" cy="3108543"/>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151F29"/>
                </a:solidFill>
              </a:rPr>
              <a:t>Seniors are among the fastest-growing demographics targeted by online scams</a:t>
            </a:r>
          </a:p>
          <a:p>
            <a:endParaRPr lang="en-US" sz="1400" dirty="0">
              <a:solidFill>
                <a:srgbClr val="151F29"/>
              </a:solidFill>
            </a:endParaRPr>
          </a:p>
          <a:p>
            <a:pPr marL="285750" indent="-285750">
              <a:buFont typeface="Arial" panose="020B0604020202020204" pitchFamily="34" charset="0"/>
              <a:buChar char="•"/>
            </a:pPr>
            <a:r>
              <a:rPr lang="en-US" sz="1400" dirty="0">
                <a:solidFill>
                  <a:srgbClr val="151F29"/>
                </a:solidFill>
              </a:rPr>
              <a:t>Existing tools like Google Calendar weren’t built for seniors who may be using a computer or smartphone for the first time</a:t>
            </a:r>
          </a:p>
          <a:p>
            <a:endParaRPr lang="en-US" sz="1400" dirty="0">
              <a:solidFill>
                <a:srgbClr val="151F29"/>
              </a:solidFill>
            </a:endParaRPr>
          </a:p>
          <a:p>
            <a:pPr marL="285750" indent="-285750">
              <a:buFont typeface="Arial" panose="020B0604020202020204" pitchFamily="34" charset="0"/>
              <a:buChar char="•"/>
            </a:pPr>
            <a:r>
              <a:rPr lang="en-US" sz="1400" dirty="0">
                <a:solidFill>
                  <a:srgbClr val="151F29"/>
                </a:solidFill>
              </a:rPr>
              <a:t>Caregivers and family members are often left out of the loop, relying on phone calls to stay updated on a senior’s schedule</a:t>
            </a:r>
          </a:p>
          <a:p>
            <a:endParaRPr lang="en-US" sz="1400" dirty="0">
              <a:solidFill>
                <a:srgbClr val="151F29"/>
              </a:solidFill>
            </a:endParaRPr>
          </a:p>
          <a:p>
            <a:pPr marL="285750" indent="-285750">
              <a:buFont typeface="Arial" panose="020B0604020202020204" pitchFamily="34" charset="0"/>
              <a:buChar char="•"/>
            </a:pPr>
            <a:r>
              <a:rPr lang="en-US" sz="1400" dirty="0">
                <a:solidFill>
                  <a:srgbClr val="151F29"/>
                </a:solidFill>
              </a:rPr>
              <a:t>No single platform combines organization, safety, and caregiver access in one place</a:t>
            </a:r>
          </a:p>
          <a:p>
            <a:pPr marL="285750" indent="-285750">
              <a:buFont typeface="Arial" panose="020B0604020202020204" pitchFamily="34" charset="0"/>
              <a:buChar char="•"/>
            </a:pPr>
            <a:endParaRPr lang="en-US" sz="1400" dirty="0">
              <a:solidFill>
                <a:srgbClr val="151F29"/>
              </a:solidFill>
            </a:endParaRPr>
          </a:p>
        </p:txBody>
      </p:sp>
    </p:spTree>
    <p:extLst>
      <p:ext uri="{BB962C8B-B14F-4D97-AF65-F5344CB8AC3E}">
        <p14:creationId xmlns:p14="http://schemas.microsoft.com/office/powerpoint/2010/main" val="2254582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1493429D-4607-46CC-CA9B-2B0C17EAEE33}"/>
              </a:ext>
            </a:extLst>
          </p:cNvPr>
          <p:cNvSpPr/>
          <p:nvPr/>
        </p:nvSpPr>
        <p:spPr>
          <a:xfrm>
            <a:off x="7488635" y="3861486"/>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3F08405D-E9A5-99BF-D810-46A902D1AB6E}"/>
              </a:ext>
            </a:extLst>
          </p:cNvPr>
          <p:cNvSpPr/>
          <p:nvPr/>
        </p:nvSpPr>
        <p:spPr>
          <a:xfrm>
            <a:off x="-2047315" y="-3188991"/>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C6242F8-42DA-A6C5-F2BA-664BA05EF63C}"/>
              </a:ext>
            </a:extLst>
          </p:cNvPr>
          <p:cNvSpPr txBox="1"/>
          <p:nvPr/>
        </p:nvSpPr>
        <p:spPr>
          <a:xfrm>
            <a:off x="821495" y="930002"/>
            <a:ext cx="4076843" cy="584775"/>
          </a:xfrm>
          <a:prstGeom prst="rect">
            <a:avLst/>
          </a:prstGeom>
          <a:noFill/>
        </p:spPr>
        <p:txBody>
          <a:bodyPr wrap="square" rtlCol="0">
            <a:spAutoFit/>
          </a:bodyPr>
          <a:lstStyle/>
          <a:p>
            <a:r>
              <a:rPr lang="en-US" sz="3200" b="1" dirty="0">
                <a:solidFill>
                  <a:srgbClr val="151F29"/>
                </a:solidFill>
              </a:rPr>
              <a:t>Tools &amp; Processes</a:t>
            </a:r>
          </a:p>
        </p:txBody>
      </p:sp>
      <p:cxnSp>
        <p:nvCxnSpPr>
          <p:cNvPr id="7" name="Straight Connector 6">
            <a:extLst>
              <a:ext uri="{FF2B5EF4-FFF2-40B4-BE49-F238E27FC236}">
                <a16:creationId xmlns:a16="http://schemas.microsoft.com/office/drawing/2014/main" id="{1DF031DE-4736-AAA6-05A8-B77EAF949C25}"/>
              </a:ext>
            </a:extLst>
          </p:cNvPr>
          <p:cNvCxnSpPr/>
          <p:nvPr/>
        </p:nvCxnSpPr>
        <p:spPr>
          <a:xfrm>
            <a:off x="882261" y="1633196"/>
            <a:ext cx="1977655" cy="0"/>
          </a:xfrm>
          <a:prstGeom prst="line">
            <a:avLst/>
          </a:prstGeom>
          <a:ln w="28575">
            <a:solidFill>
              <a:srgbClr val="7CA7A5"/>
            </a:solidFill>
          </a:ln>
        </p:spPr>
        <p:style>
          <a:lnRef idx="2">
            <a:schemeClr val="accent1"/>
          </a:lnRef>
          <a:fillRef idx="0">
            <a:schemeClr val="accent1"/>
          </a:fillRef>
          <a:effectRef idx="1">
            <a:schemeClr val="accent1"/>
          </a:effectRef>
          <a:fontRef idx="minor">
            <a:schemeClr val="tx1"/>
          </a:fontRef>
        </p:style>
      </p:cxnSp>
      <p:sp>
        <p:nvSpPr>
          <p:cNvPr id="8" name="Rectangle: Rounded Corners 7">
            <a:extLst>
              <a:ext uri="{FF2B5EF4-FFF2-40B4-BE49-F238E27FC236}">
                <a16:creationId xmlns:a16="http://schemas.microsoft.com/office/drawing/2014/main" id="{DE0C5EA2-2753-E90B-8272-3D0488496FB3}"/>
              </a:ext>
            </a:extLst>
          </p:cNvPr>
          <p:cNvSpPr/>
          <p:nvPr/>
        </p:nvSpPr>
        <p:spPr>
          <a:xfrm>
            <a:off x="790575" y="2028306"/>
            <a:ext cx="4895849" cy="4240408"/>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F3B4E5D5-96EB-5DF6-F11F-21EDB9B97D83}"/>
              </a:ext>
            </a:extLst>
          </p:cNvPr>
          <p:cNvSpPr/>
          <p:nvPr/>
        </p:nvSpPr>
        <p:spPr>
          <a:xfrm>
            <a:off x="6505576" y="2028305"/>
            <a:ext cx="4895849" cy="4240408"/>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6A7F18EA-2ADF-910F-E86C-F3AF7C88A7BC}"/>
              </a:ext>
            </a:extLst>
          </p:cNvPr>
          <p:cNvPicPr>
            <a:picLocks noChangeAspect="1"/>
          </p:cNvPicPr>
          <p:nvPr/>
        </p:nvPicPr>
        <p:blipFill>
          <a:blip r:embed="rId3"/>
          <a:stretch>
            <a:fillRect/>
          </a:stretch>
        </p:blipFill>
        <p:spPr>
          <a:xfrm>
            <a:off x="7017900" y="2535541"/>
            <a:ext cx="1258424" cy="1296850"/>
          </a:xfrm>
          <a:prstGeom prst="rect">
            <a:avLst/>
          </a:prstGeom>
        </p:spPr>
      </p:pic>
      <p:pic>
        <p:nvPicPr>
          <p:cNvPr id="11" name="Picture 10" descr="A blue ribbon with a cross&#10;&#10;AI-generated content may be incorrect.">
            <a:extLst>
              <a:ext uri="{FF2B5EF4-FFF2-40B4-BE49-F238E27FC236}">
                <a16:creationId xmlns:a16="http://schemas.microsoft.com/office/drawing/2014/main" id="{AA588AFA-DA77-49A7-EEED-D6A6D52C8209}"/>
              </a:ext>
            </a:extLst>
          </p:cNvPr>
          <p:cNvPicPr>
            <a:picLocks noChangeAspect="1"/>
          </p:cNvPicPr>
          <p:nvPr/>
        </p:nvPicPr>
        <p:blipFill>
          <a:blip r:embed="rId4"/>
          <a:stretch>
            <a:fillRect/>
          </a:stretch>
        </p:blipFill>
        <p:spPr>
          <a:xfrm>
            <a:off x="9315112" y="2552575"/>
            <a:ext cx="1239465" cy="1221371"/>
          </a:xfrm>
          <a:prstGeom prst="rect">
            <a:avLst/>
          </a:prstGeom>
        </p:spPr>
      </p:pic>
      <p:pic>
        <p:nvPicPr>
          <p:cNvPr id="12" name="Picture 11" descr="A blue and purple triangles&#10;&#10;AI-generated content may be incorrect.">
            <a:extLst>
              <a:ext uri="{FF2B5EF4-FFF2-40B4-BE49-F238E27FC236}">
                <a16:creationId xmlns:a16="http://schemas.microsoft.com/office/drawing/2014/main" id="{67C4EB6D-905F-1F5D-C0E5-EA35B96928E2}"/>
              </a:ext>
            </a:extLst>
          </p:cNvPr>
          <p:cNvPicPr>
            <a:picLocks noChangeAspect="1"/>
          </p:cNvPicPr>
          <p:nvPr/>
        </p:nvPicPr>
        <p:blipFill>
          <a:blip r:embed="rId5"/>
          <a:srcRect r="-380" b="3297"/>
          <a:stretch>
            <a:fillRect/>
          </a:stretch>
        </p:blipFill>
        <p:spPr>
          <a:xfrm>
            <a:off x="7574588" y="4128759"/>
            <a:ext cx="2757823" cy="184358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5" name="TextBox 14">
            <a:extLst>
              <a:ext uri="{FF2B5EF4-FFF2-40B4-BE49-F238E27FC236}">
                <a16:creationId xmlns:a16="http://schemas.microsoft.com/office/drawing/2014/main" id="{C8674357-89BB-A588-A5F5-F1C61A6B28C6}"/>
              </a:ext>
            </a:extLst>
          </p:cNvPr>
          <p:cNvSpPr txBox="1"/>
          <p:nvPr/>
        </p:nvSpPr>
        <p:spPr>
          <a:xfrm>
            <a:off x="1045432" y="3261427"/>
            <a:ext cx="4386133" cy="1938992"/>
          </a:xfrm>
          <a:prstGeom prst="rect">
            <a:avLst/>
          </a:prstGeom>
          <a:noFill/>
        </p:spPr>
        <p:txBody>
          <a:bodyPr wrap="square" rtlCol="0">
            <a:spAutoFit/>
          </a:bodyPr>
          <a:lstStyle/>
          <a:p>
            <a:r>
              <a:rPr lang="en-US" sz="2400" b="1" dirty="0">
                <a:solidFill>
                  <a:srgbClr val="151F29"/>
                </a:solidFill>
              </a:rPr>
              <a:t>Visual Studio Code </a:t>
            </a:r>
            <a:r>
              <a:rPr lang="en-US" sz="2000" dirty="0">
                <a:solidFill>
                  <a:srgbClr val="151F29"/>
                </a:solidFill>
              </a:rPr>
              <a:t>(Frontend)</a:t>
            </a:r>
            <a:endParaRPr lang="en-US" sz="2000" b="1" dirty="0">
              <a:solidFill>
                <a:srgbClr val="151F29"/>
              </a:solidFill>
            </a:endParaRPr>
          </a:p>
          <a:p>
            <a:endParaRPr lang="en-US" sz="2400" b="1" dirty="0">
              <a:solidFill>
                <a:srgbClr val="151F29"/>
              </a:solidFill>
            </a:endParaRPr>
          </a:p>
          <a:p>
            <a:r>
              <a:rPr lang="en-US" sz="2400" b="1" dirty="0">
                <a:solidFill>
                  <a:srgbClr val="151F29"/>
                </a:solidFill>
              </a:rPr>
              <a:t>JetBrains IntelliJ </a:t>
            </a:r>
            <a:r>
              <a:rPr lang="en-US" sz="2000" dirty="0">
                <a:solidFill>
                  <a:srgbClr val="151F29"/>
                </a:solidFill>
              </a:rPr>
              <a:t>(Backend)</a:t>
            </a:r>
            <a:endParaRPr lang="en-US" sz="2000" b="1" dirty="0">
              <a:solidFill>
                <a:srgbClr val="151F29"/>
              </a:solidFill>
            </a:endParaRPr>
          </a:p>
          <a:p>
            <a:endParaRPr lang="en-US" sz="2400" b="1" dirty="0">
              <a:solidFill>
                <a:srgbClr val="151F29"/>
              </a:solidFill>
            </a:endParaRPr>
          </a:p>
          <a:p>
            <a:r>
              <a:rPr lang="en-US" sz="2400" b="1" dirty="0">
                <a:solidFill>
                  <a:srgbClr val="151F29"/>
                </a:solidFill>
              </a:rPr>
              <a:t>PgAdmin4 </a:t>
            </a:r>
            <a:r>
              <a:rPr lang="en-US" sz="2000" dirty="0">
                <a:solidFill>
                  <a:srgbClr val="151F29"/>
                </a:solidFill>
              </a:rPr>
              <a:t>(Database)</a:t>
            </a:r>
            <a:endParaRPr lang="en-US" sz="2400" b="1" dirty="0">
              <a:solidFill>
                <a:srgbClr val="151F29"/>
              </a:solidFill>
            </a:endParaRPr>
          </a:p>
        </p:txBody>
      </p:sp>
    </p:spTree>
    <p:extLst>
      <p:ext uri="{BB962C8B-B14F-4D97-AF65-F5344CB8AC3E}">
        <p14:creationId xmlns:p14="http://schemas.microsoft.com/office/powerpoint/2010/main" val="4184609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2CB2AE86-9897-4600-F621-7ACDCE67690B}"/>
              </a:ext>
            </a:extLst>
          </p:cNvPr>
          <p:cNvSpPr/>
          <p:nvPr/>
        </p:nvSpPr>
        <p:spPr>
          <a:xfrm>
            <a:off x="7488635" y="3861486"/>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AB020222-5D29-2D14-41C6-182D4AA1F108}"/>
              </a:ext>
            </a:extLst>
          </p:cNvPr>
          <p:cNvSpPr/>
          <p:nvPr/>
        </p:nvSpPr>
        <p:spPr>
          <a:xfrm>
            <a:off x="-2047315" y="-3188991"/>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B8E0DD3-E3E2-71CB-4A44-52B575150EC6}"/>
              </a:ext>
            </a:extLst>
          </p:cNvPr>
          <p:cNvSpPr txBox="1"/>
          <p:nvPr/>
        </p:nvSpPr>
        <p:spPr>
          <a:xfrm>
            <a:off x="821495" y="497746"/>
            <a:ext cx="4076843" cy="1077218"/>
          </a:xfrm>
          <a:prstGeom prst="rect">
            <a:avLst/>
          </a:prstGeom>
          <a:noFill/>
        </p:spPr>
        <p:txBody>
          <a:bodyPr wrap="square" rtlCol="0">
            <a:spAutoFit/>
          </a:bodyPr>
          <a:lstStyle/>
          <a:p>
            <a:r>
              <a:rPr lang="en-US" sz="3200" b="1" dirty="0">
                <a:solidFill>
                  <a:srgbClr val="151F29"/>
                </a:solidFill>
              </a:rPr>
              <a:t>Tools &amp; Processes</a:t>
            </a:r>
          </a:p>
          <a:p>
            <a:r>
              <a:rPr lang="en-US" sz="3200" b="1" dirty="0">
                <a:solidFill>
                  <a:srgbClr val="7CA7A5"/>
                </a:solidFill>
              </a:rPr>
              <a:t>(Frameworks)</a:t>
            </a:r>
          </a:p>
        </p:txBody>
      </p:sp>
      <p:cxnSp>
        <p:nvCxnSpPr>
          <p:cNvPr id="5" name="Straight Connector 4">
            <a:extLst>
              <a:ext uri="{FF2B5EF4-FFF2-40B4-BE49-F238E27FC236}">
                <a16:creationId xmlns:a16="http://schemas.microsoft.com/office/drawing/2014/main" id="{E1D8943F-6B0B-A919-92BE-203038E17660}"/>
              </a:ext>
            </a:extLst>
          </p:cNvPr>
          <p:cNvCxnSpPr/>
          <p:nvPr/>
        </p:nvCxnSpPr>
        <p:spPr>
          <a:xfrm>
            <a:off x="882261" y="1633196"/>
            <a:ext cx="1977655" cy="0"/>
          </a:xfrm>
          <a:prstGeom prst="line">
            <a:avLst/>
          </a:prstGeom>
          <a:ln w="28575">
            <a:solidFill>
              <a:srgbClr val="7CA7A5"/>
            </a:solidFill>
          </a:ln>
        </p:spPr>
        <p:style>
          <a:lnRef idx="2">
            <a:schemeClr val="accent1"/>
          </a:lnRef>
          <a:fillRef idx="0">
            <a:schemeClr val="accent1"/>
          </a:fillRef>
          <a:effectRef idx="1">
            <a:schemeClr val="accent1"/>
          </a:effectRef>
          <a:fontRef idx="minor">
            <a:schemeClr val="tx1"/>
          </a:fontRef>
        </p:style>
      </p:cxnSp>
      <p:sp>
        <p:nvSpPr>
          <p:cNvPr id="6" name="Rectangle: Rounded Corners 5">
            <a:extLst>
              <a:ext uri="{FF2B5EF4-FFF2-40B4-BE49-F238E27FC236}">
                <a16:creationId xmlns:a16="http://schemas.microsoft.com/office/drawing/2014/main" id="{D7069B59-5E5C-6F11-1240-1222838EFEA3}"/>
              </a:ext>
            </a:extLst>
          </p:cNvPr>
          <p:cNvSpPr/>
          <p:nvPr/>
        </p:nvSpPr>
        <p:spPr>
          <a:xfrm>
            <a:off x="790575" y="2028306"/>
            <a:ext cx="4895849" cy="4240408"/>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73C16B68-620B-3F53-3797-C115C21DF696}"/>
              </a:ext>
            </a:extLst>
          </p:cNvPr>
          <p:cNvSpPr/>
          <p:nvPr/>
        </p:nvSpPr>
        <p:spPr>
          <a:xfrm>
            <a:off x="6505576" y="2028305"/>
            <a:ext cx="4895849" cy="4240408"/>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FCFA1A5-776E-CCD5-EAD6-81740D8BF0C2}"/>
              </a:ext>
            </a:extLst>
          </p:cNvPr>
          <p:cNvSpPr txBox="1"/>
          <p:nvPr/>
        </p:nvSpPr>
        <p:spPr>
          <a:xfrm>
            <a:off x="1045432" y="2887674"/>
            <a:ext cx="4386133" cy="2677656"/>
          </a:xfrm>
          <a:prstGeom prst="rect">
            <a:avLst/>
          </a:prstGeom>
          <a:noFill/>
        </p:spPr>
        <p:txBody>
          <a:bodyPr wrap="square" rtlCol="0">
            <a:spAutoFit/>
          </a:bodyPr>
          <a:lstStyle/>
          <a:p>
            <a:r>
              <a:rPr lang="en-US" sz="2400" b="1" dirty="0">
                <a:solidFill>
                  <a:srgbClr val="151F29"/>
                </a:solidFill>
              </a:rPr>
              <a:t>Angular </a:t>
            </a:r>
            <a:r>
              <a:rPr lang="en-US" sz="2000" dirty="0">
                <a:solidFill>
                  <a:srgbClr val="151F29"/>
                </a:solidFill>
              </a:rPr>
              <a:t>(Frontend Development)</a:t>
            </a:r>
            <a:endParaRPr lang="en-US" sz="2000" b="1" dirty="0">
              <a:solidFill>
                <a:srgbClr val="151F29"/>
              </a:solidFill>
            </a:endParaRPr>
          </a:p>
          <a:p>
            <a:endParaRPr lang="en-US" sz="2400" b="1" dirty="0">
              <a:solidFill>
                <a:srgbClr val="151F29"/>
              </a:solidFill>
            </a:endParaRPr>
          </a:p>
          <a:p>
            <a:r>
              <a:rPr lang="en-US" sz="2400" b="1" dirty="0">
                <a:solidFill>
                  <a:srgbClr val="151F29"/>
                </a:solidFill>
              </a:rPr>
              <a:t>Maven </a:t>
            </a:r>
            <a:r>
              <a:rPr lang="en-US" sz="2000" dirty="0">
                <a:solidFill>
                  <a:srgbClr val="151F29"/>
                </a:solidFill>
              </a:rPr>
              <a:t>(Backend Development)</a:t>
            </a:r>
            <a:endParaRPr lang="en-US" sz="2000" b="1" dirty="0">
              <a:solidFill>
                <a:srgbClr val="151F29"/>
              </a:solidFill>
            </a:endParaRPr>
          </a:p>
          <a:p>
            <a:endParaRPr lang="en-US" sz="2400" b="1" dirty="0">
              <a:solidFill>
                <a:srgbClr val="151F29"/>
              </a:solidFill>
            </a:endParaRPr>
          </a:p>
          <a:p>
            <a:r>
              <a:rPr lang="en-US" sz="2400" b="1" dirty="0">
                <a:solidFill>
                  <a:srgbClr val="151F29"/>
                </a:solidFill>
              </a:rPr>
              <a:t>Cypress </a:t>
            </a:r>
            <a:r>
              <a:rPr lang="en-US" sz="2000" dirty="0">
                <a:solidFill>
                  <a:srgbClr val="151F29"/>
                </a:solidFill>
              </a:rPr>
              <a:t>(Testing and QA)</a:t>
            </a:r>
            <a:endParaRPr lang="en-US" sz="2000" b="1" dirty="0">
              <a:solidFill>
                <a:srgbClr val="151F29"/>
              </a:solidFill>
            </a:endParaRPr>
          </a:p>
          <a:p>
            <a:endParaRPr lang="en-US" sz="2400" b="1" dirty="0">
              <a:solidFill>
                <a:srgbClr val="151F29"/>
              </a:solidFill>
            </a:endParaRPr>
          </a:p>
          <a:p>
            <a:r>
              <a:rPr lang="en-US" sz="2400" b="1" dirty="0">
                <a:solidFill>
                  <a:srgbClr val="151F29"/>
                </a:solidFill>
              </a:rPr>
              <a:t>Figma </a:t>
            </a:r>
            <a:r>
              <a:rPr lang="en-US" sz="2000" dirty="0">
                <a:solidFill>
                  <a:srgbClr val="151F29"/>
                </a:solidFill>
              </a:rPr>
              <a:t>(UI and UX Design)</a:t>
            </a:r>
            <a:endParaRPr lang="en-US" sz="2000" b="1" dirty="0">
              <a:solidFill>
                <a:srgbClr val="151F29"/>
              </a:solidFill>
            </a:endParaRPr>
          </a:p>
        </p:txBody>
      </p:sp>
      <p:pic>
        <p:nvPicPr>
          <p:cNvPr id="9" name="Picture 8" descr="A logo on a colorful background&#10;&#10;AI-generated content may be incorrect.">
            <a:extLst>
              <a:ext uri="{FF2B5EF4-FFF2-40B4-BE49-F238E27FC236}">
                <a16:creationId xmlns:a16="http://schemas.microsoft.com/office/drawing/2014/main" id="{25A264C5-9BD4-5E51-0EA1-6CFC8C51A4F1}"/>
              </a:ext>
            </a:extLst>
          </p:cNvPr>
          <p:cNvPicPr>
            <a:picLocks noChangeAspect="1"/>
          </p:cNvPicPr>
          <p:nvPr/>
        </p:nvPicPr>
        <p:blipFill>
          <a:blip r:embed="rId3"/>
          <a:stretch>
            <a:fillRect/>
          </a:stretch>
        </p:blipFill>
        <p:spPr>
          <a:xfrm>
            <a:off x="6841750" y="2495210"/>
            <a:ext cx="2751137" cy="136627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0" name="Picture 9" descr="A logo with a green circle&#10;&#10;AI-generated content may be incorrect.">
            <a:extLst>
              <a:ext uri="{FF2B5EF4-FFF2-40B4-BE49-F238E27FC236}">
                <a16:creationId xmlns:a16="http://schemas.microsoft.com/office/drawing/2014/main" id="{78589452-EA43-4994-A6A0-145A92683992}"/>
              </a:ext>
            </a:extLst>
          </p:cNvPr>
          <p:cNvPicPr>
            <a:picLocks noChangeAspect="1"/>
          </p:cNvPicPr>
          <p:nvPr/>
        </p:nvPicPr>
        <p:blipFill>
          <a:blip r:embed="rId4"/>
          <a:srcRect l="-111" b="4461"/>
          <a:stretch>
            <a:fillRect/>
          </a:stretch>
        </p:blipFill>
        <p:spPr>
          <a:xfrm>
            <a:off x="6841750" y="4212085"/>
            <a:ext cx="2688167" cy="1353245"/>
          </a:xfrm>
          <a:prstGeom prst="rect">
            <a:avLst/>
          </a:prstGeom>
        </p:spPr>
      </p:pic>
      <p:pic>
        <p:nvPicPr>
          <p:cNvPr id="12" name="Picture 11" descr="A colorful feather on a black background&#10;&#10;AI-generated content may be incorrect.">
            <a:extLst>
              <a:ext uri="{FF2B5EF4-FFF2-40B4-BE49-F238E27FC236}">
                <a16:creationId xmlns:a16="http://schemas.microsoft.com/office/drawing/2014/main" id="{8CE1C160-532F-7E01-67D8-6AC4B9583935}"/>
              </a:ext>
            </a:extLst>
          </p:cNvPr>
          <p:cNvPicPr>
            <a:picLocks noChangeAspect="1"/>
          </p:cNvPicPr>
          <p:nvPr/>
        </p:nvPicPr>
        <p:blipFill>
          <a:blip r:embed="rId5"/>
          <a:stretch>
            <a:fillRect/>
          </a:stretch>
        </p:blipFill>
        <p:spPr>
          <a:xfrm>
            <a:off x="9619519" y="2396043"/>
            <a:ext cx="1676678" cy="1465443"/>
          </a:xfrm>
          <a:prstGeom prst="rect">
            <a:avLst/>
          </a:prstGeom>
        </p:spPr>
      </p:pic>
      <p:pic>
        <p:nvPicPr>
          <p:cNvPr id="14" name="Picture 13">
            <a:extLst>
              <a:ext uri="{FF2B5EF4-FFF2-40B4-BE49-F238E27FC236}">
                <a16:creationId xmlns:a16="http://schemas.microsoft.com/office/drawing/2014/main" id="{87316957-2F74-38A9-F052-1CF2882B279E}"/>
              </a:ext>
            </a:extLst>
          </p:cNvPr>
          <p:cNvPicPr>
            <a:picLocks noChangeAspect="1"/>
          </p:cNvPicPr>
          <p:nvPr/>
        </p:nvPicPr>
        <p:blipFill>
          <a:blip r:embed="rId6"/>
          <a:stretch>
            <a:fillRect/>
          </a:stretch>
        </p:blipFill>
        <p:spPr>
          <a:xfrm>
            <a:off x="9832892" y="4212085"/>
            <a:ext cx="1032354" cy="1353245"/>
          </a:xfrm>
          <a:prstGeom prst="rect">
            <a:avLst/>
          </a:prstGeom>
        </p:spPr>
      </p:pic>
    </p:spTree>
    <p:extLst>
      <p:ext uri="{BB962C8B-B14F-4D97-AF65-F5344CB8AC3E}">
        <p14:creationId xmlns:p14="http://schemas.microsoft.com/office/powerpoint/2010/main" val="611793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EE4D6569-0799-267C-8201-2010FB9DAF2F}"/>
              </a:ext>
            </a:extLst>
          </p:cNvPr>
          <p:cNvSpPr/>
          <p:nvPr/>
        </p:nvSpPr>
        <p:spPr>
          <a:xfrm>
            <a:off x="7488635" y="3861486"/>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6283307-EB63-0550-C60B-F78F0E34F8EC}"/>
              </a:ext>
            </a:extLst>
          </p:cNvPr>
          <p:cNvSpPr/>
          <p:nvPr/>
        </p:nvSpPr>
        <p:spPr>
          <a:xfrm>
            <a:off x="-2047315" y="-3188991"/>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512A920-D8C0-027A-0012-4FBA099D09D3}"/>
              </a:ext>
            </a:extLst>
          </p:cNvPr>
          <p:cNvSpPr txBox="1"/>
          <p:nvPr/>
        </p:nvSpPr>
        <p:spPr>
          <a:xfrm>
            <a:off x="821495" y="497746"/>
            <a:ext cx="4076843" cy="1077218"/>
          </a:xfrm>
          <a:prstGeom prst="rect">
            <a:avLst/>
          </a:prstGeom>
          <a:noFill/>
        </p:spPr>
        <p:txBody>
          <a:bodyPr wrap="square" rtlCol="0">
            <a:spAutoFit/>
          </a:bodyPr>
          <a:lstStyle/>
          <a:p>
            <a:r>
              <a:rPr lang="en-US" sz="3200" b="1" dirty="0">
                <a:solidFill>
                  <a:srgbClr val="151F29"/>
                </a:solidFill>
              </a:rPr>
              <a:t>Tools &amp; Processes</a:t>
            </a:r>
          </a:p>
          <a:p>
            <a:r>
              <a:rPr lang="en-US" sz="3200" b="1" dirty="0">
                <a:solidFill>
                  <a:srgbClr val="7CA7A5"/>
                </a:solidFill>
              </a:rPr>
              <a:t>(Agile Workflow)</a:t>
            </a:r>
          </a:p>
        </p:txBody>
      </p:sp>
      <p:cxnSp>
        <p:nvCxnSpPr>
          <p:cNvPr id="11" name="Straight Connector 10">
            <a:extLst>
              <a:ext uri="{FF2B5EF4-FFF2-40B4-BE49-F238E27FC236}">
                <a16:creationId xmlns:a16="http://schemas.microsoft.com/office/drawing/2014/main" id="{E1E7C4EE-5714-DA13-A897-2FE2B4A08354}"/>
              </a:ext>
            </a:extLst>
          </p:cNvPr>
          <p:cNvCxnSpPr/>
          <p:nvPr/>
        </p:nvCxnSpPr>
        <p:spPr>
          <a:xfrm>
            <a:off x="882261" y="1633196"/>
            <a:ext cx="1977655" cy="0"/>
          </a:xfrm>
          <a:prstGeom prst="line">
            <a:avLst/>
          </a:prstGeom>
          <a:ln w="28575">
            <a:solidFill>
              <a:srgbClr val="7CA7A5"/>
            </a:solidFill>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AB0D429B-FCD7-F831-77CD-21AA3EC00EA9}"/>
              </a:ext>
            </a:extLst>
          </p:cNvPr>
          <p:cNvSpPr/>
          <p:nvPr/>
        </p:nvSpPr>
        <p:spPr>
          <a:xfrm>
            <a:off x="790575" y="2028306"/>
            <a:ext cx="4895849" cy="4240408"/>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5370E4F6-3E6F-E800-2C7D-C06386D28624}"/>
              </a:ext>
            </a:extLst>
          </p:cNvPr>
          <p:cNvSpPr/>
          <p:nvPr/>
        </p:nvSpPr>
        <p:spPr>
          <a:xfrm>
            <a:off x="6505576" y="2028305"/>
            <a:ext cx="4895849" cy="4240408"/>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blue circle with white logo&#10;&#10;AI-generated content may be incorrect.">
            <a:extLst>
              <a:ext uri="{FF2B5EF4-FFF2-40B4-BE49-F238E27FC236}">
                <a16:creationId xmlns:a16="http://schemas.microsoft.com/office/drawing/2014/main" id="{18FBCB4C-945F-7568-18DA-5274CD2C0883}"/>
              </a:ext>
            </a:extLst>
          </p:cNvPr>
          <p:cNvPicPr>
            <a:picLocks noChangeAspect="1"/>
          </p:cNvPicPr>
          <p:nvPr/>
        </p:nvPicPr>
        <p:blipFill>
          <a:blip r:embed="rId3"/>
          <a:srcRect l="21889" r="21198" b="2869"/>
          <a:stretch>
            <a:fillRect/>
          </a:stretch>
        </p:blipFill>
        <p:spPr>
          <a:xfrm>
            <a:off x="8059453" y="2469892"/>
            <a:ext cx="1788093" cy="1678617"/>
          </a:xfrm>
          <a:prstGeom prst="rect">
            <a:avLst/>
          </a:prstGeom>
        </p:spPr>
      </p:pic>
      <p:pic>
        <p:nvPicPr>
          <p:cNvPr id="15" name="Picture 14" descr="A close-up of a logo&#10;&#10;AI-generated content may be incorrect.">
            <a:extLst>
              <a:ext uri="{FF2B5EF4-FFF2-40B4-BE49-F238E27FC236}">
                <a16:creationId xmlns:a16="http://schemas.microsoft.com/office/drawing/2014/main" id="{A3C2E3AB-33ED-FD85-C9A4-98BC1B93AA53}"/>
              </a:ext>
            </a:extLst>
          </p:cNvPr>
          <p:cNvPicPr>
            <a:picLocks noChangeAspect="1"/>
          </p:cNvPicPr>
          <p:nvPr/>
        </p:nvPicPr>
        <p:blipFill>
          <a:blip r:embed="rId4"/>
          <a:srcRect l="538" r="-538" b="4808"/>
          <a:stretch>
            <a:fillRect/>
          </a:stretch>
        </p:blipFill>
        <p:spPr>
          <a:xfrm>
            <a:off x="7181847" y="4265635"/>
            <a:ext cx="3543306" cy="1885952"/>
          </a:xfrm>
          <a:prstGeom prst="rect">
            <a:avLst/>
          </a:prstGeom>
        </p:spPr>
      </p:pic>
      <p:sp>
        <p:nvSpPr>
          <p:cNvPr id="17" name="TextBox 16">
            <a:extLst>
              <a:ext uri="{FF2B5EF4-FFF2-40B4-BE49-F238E27FC236}">
                <a16:creationId xmlns:a16="http://schemas.microsoft.com/office/drawing/2014/main" id="{DA309208-8437-43E4-1E56-5440ABAD8B87}"/>
              </a:ext>
            </a:extLst>
          </p:cNvPr>
          <p:cNvSpPr txBox="1"/>
          <p:nvPr/>
        </p:nvSpPr>
        <p:spPr>
          <a:xfrm>
            <a:off x="1045432" y="2588252"/>
            <a:ext cx="4386133" cy="3354765"/>
          </a:xfrm>
          <a:prstGeom prst="rect">
            <a:avLst/>
          </a:prstGeom>
          <a:noFill/>
        </p:spPr>
        <p:txBody>
          <a:bodyPr wrap="square" rtlCol="0">
            <a:spAutoFit/>
          </a:bodyPr>
          <a:lstStyle/>
          <a:p>
            <a:r>
              <a:rPr lang="en-US" sz="2400" b="1" dirty="0">
                <a:solidFill>
                  <a:srgbClr val="151F29"/>
                </a:solidFill>
              </a:rPr>
              <a:t>Sprint Planning </a:t>
            </a:r>
          </a:p>
          <a:p>
            <a:endParaRPr lang="en-US" sz="2000" dirty="0">
              <a:solidFill>
                <a:srgbClr val="151F29"/>
              </a:solidFill>
            </a:endParaRPr>
          </a:p>
          <a:p>
            <a:pPr marL="285750" indent="-285750">
              <a:buFont typeface="Arial" panose="020B0604020202020204" pitchFamily="34" charset="0"/>
              <a:buChar char="•"/>
            </a:pPr>
            <a:r>
              <a:rPr lang="en-US" dirty="0">
                <a:solidFill>
                  <a:srgbClr val="151F29"/>
                </a:solidFill>
              </a:rPr>
              <a:t>Every Wednesday, team meets were held on Webex</a:t>
            </a:r>
          </a:p>
          <a:p>
            <a:endParaRPr lang="en-US" sz="2400" b="1" dirty="0">
              <a:solidFill>
                <a:srgbClr val="151F29"/>
              </a:solidFill>
            </a:endParaRPr>
          </a:p>
          <a:p>
            <a:endParaRPr lang="en-US" sz="2400" b="1" dirty="0">
              <a:solidFill>
                <a:srgbClr val="151F29"/>
              </a:solidFill>
            </a:endParaRPr>
          </a:p>
          <a:p>
            <a:r>
              <a:rPr lang="en-US" sz="2400" b="1" dirty="0">
                <a:solidFill>
                  <a:srgbClr val="151F29"/>
                </a:solidFill>
              </a:rPr>
              <a:t>Sprint Review</a:t>
            </a:r>
          </a:p>
          <a:p>
            <a:endParaRPr lang="en-US" sz="2400" b="1" dirty="0">
              <a:solidFill>
                <a:srgbClr val="151F29"/>
              </a:solidFill>
            </a:endParaRPr>
          </a:p>
          <a:p>
            <a:pPr marL="342900" indent="-342900">
              <a:buFont typeface="Arial" panose="020B0604020202020204" pitchFamily="34" charset="0"/>
              <a:buChar char="•"/>
            </a:pPr>
            <a:r>
              <a:rPr lang="en-US" dirty="0">
                <a:solidFill>
                  <a:srgbClr val="151F29"/>
                </a:solidFill>
              </a:rPr>
              <a:t>End-of-Week meeting held on Discord to ensure all weekly goals were met</a:t>
            </a:r>
          </a:p>
        </p:txBody>
      </p:sp>
    </p:spTree>
    <p:extLst>
      <p:ext uri="{BB962C8B-B14F-4D97-AF65-F5344CB8AC3E}">
        <p14:creationId xmlns:p14="http://schemas.microsoft.com/office/powerpoint/2010/main" val="3837076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5BAB6F82-C65D-E867-56DE-96FB0809852B}"/>
              </a:ext>
            </a:extLst>
          </p:cNvPr>
          <p:cNvSpPr/>
          <p:nvPr/>
        </p:nvSpPr>
        <p:spPr>
          <a:xfrm>
            <a:off x="7488635" y="3861486"/>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3B099F0F-0A4F-7339-40BC-B6BC35EA3524}"/>
              </a:ext>
            </a:extLst>
          </p:cNvPr>
          <p:cNvSpPr/>
          <p:nvPr/>
        </p:nvSpPr>
        <p:spPr>
          <a:xfrm>
            <a:off x="-2047315" y="-3188991"/>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FD9D282-E8E7-9BEA-4EEE-F6CDB5C55947}"/>
              </a:ext>
            </a:extLst>
          </p:cNvPr>
          <p:cNvSpPr txBox="1"/>
          <p:nvPr/>
        </p:nvSpPr>
        <p:spPr>
          <a:xfrm>
            <a:off x="821495" y="497746"/>
            <a:ext cx="4489365" cy="1077218"/>
          </a:xfrm>
          <a:prstGeom prst="rect">
            <a:avLst/>
          </a:prstGeom>
          <a:noFill/>
        </p:spPr>
        <p:txBody>
          <a:bodyPr wrap="square" rtlCol="0">
            <a:spAutoFit/>
          </a:bodyPr>
          <a:lstStyle/>
          <a:p>
            <a:r>
              <a:rPr lang="en-US" sz="3200" b="1" dirty="0">
                <a:solidFill>
                  <a:srgbClr val="151F29"/>
                </a:solidFill>
              </a:rPr>
              <a:t>Tools &amp; Processes</a:t>
            </a:r>
          </a:p>
          <a:p>
            <a:r>
              <a:rPr lang="en-US" sz="3200" b="1" dirty="0">
                <a:solidFill>
                  <a:srgbClr val="7CA7A5"/>
                </a:solidFill>
              </a:rPr>
              <a:t>(CI / CD / QA Pipeline)</a:t>
            </a:r>
          </a:p>
        </p:txBody>
      </p:sp>
      <p:cxnSp>
        <p:nvCxnSpPr>
          <p:cNvPr id="5" name="Straight Connector 4">
            <a:extLst>
              <a:ext uri="{FF2B5EF4-FFF2-40B4-BE49-F238E27FC236}">
                <a16:creationId xmlns:a16="http://schemas.microsoft.com/office/drawing/2014/main" id="{13ECAE8F-EC06-0E4D-BCB9-D5B5723F10AA}"/>
              </a:ext>
            </a:extLst>
          </p:cNvPr>
          <p:cNvCxnSpPr/>
          <p:nvPr/>
        </p:nvCxnSpPr>
        <p:spPr>
          <a:xfrm>
            <a:off x="882261" y="1633196"/>
            <a:ext cx="1977655" cy="0"/>
          </a:xfrm>
          <a:prstGeom prst="line">
            <a:avLst/>
          </a:prstGeom>
          <a:ln w="28575">
            <a:solidFill>
              <a:srgbClr val="7CA7A5"/>
            </a:solidFill>
          </a:ln>
        </p:spPr>
        <p:style>
          <a:lnRef idx="2">
            <a:schemeClr val="accent1"/>
          </a:lnRef>
          <a:fillRef idx="0">
            <a:schemeClr val="accent1"/>
          </a:fillRef>
          <a:effectRef idx="1">
            <a:schemeClr val="accent1"/>
          </a:effectRef>
          <a:fontRef idx="minor">
            <a:schemeClr val="tx1"/>
          </a:fontRef>
        </p:style>
      </p:cxnSp>
      <p:sp>
        <p:nvSpPr>
          <p:cNvPr id="6" name="Rectangle: Rounded Corners 5">
            <a:extLst>
              <a:ext uri="{FF2B5EF4-FFF2-40B4-BE49-F238E27FC236}">
                <a16:creationId xmlns:a16="http://schemas.microsoft.com/office/drawing/2014/main" id="{73F343AC-1286-DF10-22A9-993E6F30C7BD}"/>
              </a:ext>
            </a:extLst>
          </p:cNvPr>
          <p:cNvSpPr/>
          <p:nvPr/>
        </p:nvSpPr>
        <p:spPr>
          <a:xfrm>
            <a:off x="790575" y="2028306"/>
            <a:ext cx="4895849" cy="4240408"/>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F488DBCE-8E2B-6896-B87C-CA2ABF487A55}"/>
              </a:ext>
            </a:extLst>
          </p:cNvPr>
          <p:cNvSpPr/>
          <p:nvPr/>
        </p:nvSpPr>
        <p:spPr>
          <a:xfrm>
            <a:off x="6505576" y="2028305"/>
            <a:ext cx="4895849" cy="4240408"/>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3C57901-5E81-A1AC-6154-71838D1D7B4F}"/>
              </a:ext>
            </a:extLst>
          </p:cNvPr>
          <p:cNvSpPr txBox="1"/>
          <p:nvPr/>
        </p:nvSpPr>
        <p:spPr>
          <a:xfrm>
            <a:off x="1045432" y="3070368"/>
            <a:ext cx="4386133" cy="2154436"/>
          </a:xfrm>
          <a:prstGeom prst="rect">
            <a:avLst/>
          </a:prstGeom>
          <a:noFill/>
        </p:spPr>
        <p:txBody>
          <a:bodyPr wrap="square" rtlCol="0">
            <a:spAutoFit/>
          </a:bodyPr>
          <a:lstStyle/>
          <a:p>
            <a:r>
              <a:rPr lang="en-US" sz="2400" b="1" dirty="0">
                <a:solidFill>
                  <a:srgbClr val="151F29"/>
                </a:solidFill>
              </a:rPr>
              <a:t>Behavior Testing</a:t>
            </a:r>
          </a:p>
          <a:p>
            <a:endParaRPr lang="en-US" sz="2000" dirty="0">
              <a:solidFill>
                <a:srgbClr val="151F29"/>
              </a:solidFill>
            </a:endParaRPr>
          </a:p>
          <a:p>
            <a:pPr marL="285750" indent="-285750">
              <a:buFont typeface="Arial" panose="020B0604020202020204" pitchFamily="34" charset="0"/>
              <a:buChar char="•"/>
            </a:pPr>
            <a:r>
              <a:rPr lang="en-US" b="1" dirty="0">
                <a:solidFill>
                  <a:srgbClr val="151F29"/>
                </a:solidFill>
              </a:rPr>
              <a:t>Isolation</a:t>
            </a:r>
            <a:r>
              <a:rPr lang="en-US" dirty="0">
                <a:solidFill>
                  <a:srgbClr val="151F29"/>
                </a:solidFill>
              </a:rPr>
              <a:t>: Decoupling the frontend and backend</a:t>
            </a:r>
          </a:p>
          <a:p>
            <a:endParaRPr lang="en-US" dirty="0">
              <a:solidFill>
                <a:srgbClr val="151F29"/>
              </a:solidFill>
            </a:endParaRPr>
          </a:p>
          <a:p>
            <a:pPr marL="285750" indent="-285750">
              <a:buFont typeface="Arial" panose="020B0604020202020204" pitchFamily="34" charset="0"/>
              <a:buChar char="•"/>
            </a:pPr>
            <a:r>
              <a:rPr lang="en-US" b="1" dirty="0">
                <a:solidFill>
                  <a:srgbClr val="151F29"/>
                </a:solidFill>
              </a:rPr>
              <a:t>Validation</a:t>
            </a:r>
            <a:r>
              <a:rPr lang="en-US" dirty="0">
                <a:solidFill>
                  <a:srgbClr val="151F29"/>
                </a:solidFill>
              </a:rPr>
              <a:t>: Verifying proper Angular state changes</a:t>
            </a:r>
          </a:p>
        </p:txBody>
      </p:sp>
      <p:pic>
        <p:nvPicPr>
          <p:cNvPr id="9" name="Picture 8" descr="A logo with a green circle&#10;&#10;AI-generated content may be incorrect.">
            <a:extLst>
              <a:ext uri="{FF2B5EF4-FFF2-40B4-BE49-F238E27FC236}">
                <a16:creationId xmlns:a16="http://schemas.microsoft.com/office/drawing/2014/main" id="{573D842E-1F17-CA67-F3E3-075588A9E09A}"/>
              </a:ext>
            </a:extLst>
          </p:cNvPr>
          <p:cNvPicPr>
            <a:picLocks noChangeAspect="1"/>
          </p:cNvPicPr>
          <p:nvPr/>
        </p:nvPicPr>
        <p:blipFill>
          <a:blip r:embed="rId3"/>
          <a:srcRect l="-111" b="4461"/>
          <a:stretch>
            <a:fillRect/>
          </a:stretch>
        </p:blipFill>
        <p:spPr>
          <a:xfrm>
            <a:off x="6669483" y="2964289"/>
            <a:ext cx="4630738" cy="2368439"/>
          </a:xfrm>
          <a:prstGeom prst="rect">
            <a:avLst/>
          </a:prstGeom>
        </p:spPr>
      </p:pic>
    </p:spTree>
    <p:extLst>
      <p:ext uri="{BB962C8B-B14F-4D97-AF65-F5344CB8AC3E}">
        <p14:creationId xmlns:p14="http://schemas.microsoft.com/office/powerpoint/2010/main" val="2222610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F25554F0-F83D-0491-6285-B3880623C176}"/>
              </a:ext>
            </a:extLst>
          </p:cNvPr>
          <p:cNvSpPr/>
          <p:nvPr/>
        </p:nvSpPr>
        <p:spPr>
          <a:xfrm>
            <a:off x="-2052450" y="4557608"/>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4E9E36FA-8D53-506B-0965-15A4FF26AC38}"/>
              </a:ext>
            </a:extLst>
          </p:cNvPr>
          <p:cNvSpPr/>
          <p:nvPr/>
        </p:nvSpPr>
        <p:spPr>
          <a:xfrm>
            <a:off x="6995666" y="-1095154"/>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0AD26BE2-C509-C7DA-BDB3-4E20BFE71C33}"/>
              </a:ext>
            </a:extLst>
          </p:cNvPr>
          <p:cNvSpPr/>
          <p:nvPr/>
        </p:nvSpPr>
        <p:spPr>
          <a:xfrm>
            <a:off x="790575" y="1545973"/>
            <a:ext cx="4895849" cy="4722741"/>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59B1BC69-E404-6D72-BF96-06C63A7E3F41}"/>
              </a:ext>
            </a:extLst>
          </p:cNvPr>
          <p:cNvGrpSpPr/>
          <p:nvPr/>
        </p:nvGrpSpPr>
        <p:grpSpPr>
          <a:xfrm>
            <a:off x="1298972" y="2066375"/>
            <a:ext cx="3911397" cy="3680877"/>
            <a:chOff x="1298972" y="2066375"/>
            <a:chExt cx="3911397" cy="3680877"/>
          </a:xfrm>
        </p:grpSpPr>
        <p:sp>
          <p:nvSpPr>
            <p:cNvPr id="8" name="TextBox 7">
              <a:extLst>
                <a:ext uri="{FF2B5EF4-FFF2-40B4-BE49-F238E27FC236}">
                  <a16:creationId xmlns:a16="http://schemas.microsoft.com/office/drawing/2014/main" id="{EECEB701-6E52-3AF7-CE93-C8EECA50F95B}"/>
                </a:ext>
              </a:extLst>
            </p:cNvPr>
            <p:cNvSpPr txBox="1"/>
            <p:nvPr/>
          </p:nvSpPr>
          <p:spPr>
            <a:xfrm>
              <a:off x="1298972" y="2066375"/>
              <a:ext cx="2053827" cy="461665"/>
            </a:xfrm>
            <a:prstGeom prst="rect">
              <a:avLst/>
            </a:prstGeom>
            <a:noFill/>
          </p:spPr>
          <p:txBody>
            <a:bodyPr wrap="square" rtlCol="0">
              <a:spAutoFit/>
            </a:bodyPr>
            <a:lstStyle/>
            <a:p>
              <a:r>
                <a:rPr lang="en-US" sz="2400" b="1" dirty="0">
                  <a:solidFill>
                    <a:srgbClr val="151F29"/>
                  </a:solidFill>
                </a:rPr>
                <a:t>Design </a:t>
              </a:r>
              <a:r>
                <a:rPr lang="en-US" sz="2400" b="1" dirty="0">
                  <a:solidFill>
                    <a:srgbClr val="7CA7A5"/>
                  </a:solidFill>
                </a:rPr>
                <a:t>Steps</a:t>
              </a:r>
            </a:p>
          </p:txBody>
        </p:sp>
        <p:sp>
          <p:nvSpPr>
            <p:cNvPr id="9" name="TextBox 8">
              <a:extLst>
                <a:ext uri="{FF2B5EF4-FFF2-40B4-BE49-F238E27FC236}">
                  <a16:creationId xmlns:a16="http://schemas.microsoft.com/office/drawing/2014/main" id="{8E89023C-352F-3DCB-02A7-3F48959B6553}"/>
                </a:ext>
              </a:extLst>
            </p:cNvPr>
            <p:cNvSpPr txBox="1"/>
            <p:nvPr/>
          </p:nvSpPr>
          <p:spPr>
            <a:xfrm>
              <a:off x="1298973" y="2638709"/>
              <a:ext cx="3911396" cy="3108543"/>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151F29"/>
                  </a:solidFill>
                </a:rPr>
                <a:t>Started with 9 user stories, but as features expanded and user needs became clearer, we grew to </a:t>
              </a:r>
              <a:r>
                <a:rPr lang="en-US" sz="1400" b="1" dirty="0">
                  <a:solidFill>
                    <a:srgbClr val="7CA7A5"/>
                  </a:solidFill>
                </a:rPr>
                <a:t>14 completed </a:t>
              </a:r>
              <a:r>
                <a:rPr lang="en-US" sz="1400" dirty="0">
                  <a:solidFill>
                    <a:srgbClr val="151F29"/>
                  </a:solidFill>
                </a:rPr>
                <a:t>and </a:t>
              </a:r>
              <a:r>
                <a:rPr lang="en-US" sz="1400" b="1" dirty="0">
                  <a:solidFill>
                    <a:srgbClr val="7CA7A5"/>
                  </a:solidFill>
                </a:rPr>
                <a:t>5 backlogged </a:t>
              </a:r>
              <a:r>
                <a:rPr lang="en-US" sz="1400" dirty="0">
                  <a:solidFill>
                    <a:srgbClr val="151F29"/>
                  </a:solidFill>
                </a:rPr>
                <a:t>user stories by the end of the project</a:t>
              </a:r>
            </a:p>
            <a:p>
              <a:endParaRPr lang="en-US" sz="1400" dirty="0">
                <a:solidFill>
                  <a:srgbClr val="151F29"/>
                </a:solidFill>
              </a:endParaRPr>
            </a:p>
            <a:p>
              <a:endParaRPr lang="en-US" sz="1400" dirty="0">
                <a:solidFill>
                  <a:srgbClr val="151F29"/>
                </a:solidFill>
              </a:endParaRPr>
            </a:p>
            <a:p>
              <a:pPr marL="285750" indent="-285750">
                <a:buFont typeface="Arial" panose="020B0604020202020204" pitchFamily="34" charset="0"/>
                <a:buChar char="•"/>
              </a:pPr>
              <a:r>
                <a:rPr lang="en-US" sz="1400" dirty="0">
                  <a:solidFill>
                    <a:srgbClr val="151F29"/>
                  </a:solidFill>
                </a:rPr>
                <a:t>Shifted from </a:t>
              </a:r>
              <a:r>
                <a:rPr lang="en-US" sz="1400" b="1" dirty="0">
                  <a:solidFill>
                    <a:srgbClr val="7CA7A5"/>
                  </a:solidFill>
                </a:rPr>
                <a:t>functionality-based</a:t>
              </a:r>
              <a:r>
                <a:rPr lang="en-US" sz="1400" dirty="0">
                  <a:solidFill>
                    <a:srgbClr val="151F29"/>
                  </a:solidFill>
                </a:rPr>
                <a:t> groups to </a:t>
              </a:r>
              <a:r>
                <a:rPr lang="en-US" sz="1400" b="1" dirty="0">
                  <a:solidFill>
                    <a:srgbClr val="7CA7A5"/>
                  </a:solidFill>
                </a:rPr>
                <a:t>feature-owned</a:t>
              </a:r>
              <a:r>
                <a:rPr lang="en-US" sz="1400" dirty="0">
                  <a:solidFill>
                    <a:srgbClr val="151F29"/>
                  </a:solidFill>
                </a:rPr>
                <a:t> assignments for better accountability</a:t>
              </a:r>
            </a:p>
            <a:p>
              <a:endParaRPr lang="en-US" sz="1400" dirty="0">
                <a:solidFill>
                  <a:srgbClr val="151F29"/>
                </a:solidFill>
              </a:endParaRPr>
            </a:p>
            <a:p>
              <a:endParaRPr lang="en-US" sz="1400" dirty="0">
                <a:solidFill>
                  <a:srgbClr val="151F29"/>
                </a:solidFill>
              </a:endParaRPr>
            </a:p>
            <a:p>
              <a:pPr marL="285750" indent="-285750">
                <a:buFont typeface="Arial" panose="020B0604020202020204" pitchFamily="34" charset="0"/>
                <a:buChar char="•"/>
              </a:pPr>
              <a:r>
                <a:rPr lang="en-US" sz="1400" b="1" dirty="0">
                  <a:solidFill>
                    <a:srgbClr val="7CA7A5"/>
                  </a:solidFill>
                </a:rPr>
                <a:t>Wireframes</a:t>
              </a:r>
              <a:r>
                <a:rPr lang="en-US" sz="1400" dirty="0">
                  <a:solidFill>
                    <a:srgbClr val="151F29"/>
                  </a:solidFill>
                </a:rPr>
                <a:t> and </a:t>
              </a:r>
              <a:r>
                <a:rPr lang="en-US" sz="1400" b="1" dirty="0">
                  <a:solidFill>
                    <a:srgbClr val="7CA7A5"/>
                  </a:solidFill>
                </a:rPr>
                <a:t>sketches</a:t>
              </a:r>
              <a:r>
                <a:rPr lang="en-US" sz="1400" dirty="0">
                  <a:solidFill>
                    <a:srgbClr val="151F29"/>
                  </a:solidFill>
                </a:rPr>
                <a:t> guided every screen before development began, keeping the UI consistent across all 6 developers</a:t>
              </a:r>
            </a:p>
          </p:txBody>
        </p:sp>
      </p:grpSp>
      <p:pic>
        <p:nvPicPr>
          <p:cNvPr id="11" name="Picture 10">
            <a:extLst>
              <a:ext uri="{FF2B5EF4-FFF2-40B4-BE49-F238E27FC236}">
                <a16:creationId xmlns:a16="http://schemas.microsoft.com/office/drawing/2014/main" id="{8255ACEA-4983-2619-C3C5-6F8EF110CE12}"/>
              </a:ext>
            </a:extLst>
          </p:cNvPr>
          <p:cNvPicPr>
            <a:picLocks/>
          </p:cNvPicPr>
          <p:nvPr/>
        </p:nvPicPr>
        <p:blipFill>
          <a:blip r:embed="rId3"/>
          <a:stretch>
            <a:fillRect/>
          </a:stretch>
        </p:blipFill>
        <p:spPr>
          <a:xfrm>
            <a:off x="7834645" y="2377440"/>
            <a:ext cx="3566780" cy="2103120"/>
          </a:xfrm>
          <a:prstGeom prst="rect">
            <a:avLst/>
          </a:prstGeom>
          <a:ln w="6350">
            <a:solidFill>
              <a:srgbClr val="7CA7A5"/>
            </a:solidFill>
          </a:ln>
          <a:effectLst>
            <a:outerShdw blurRad="190500" dist="63500" algn="ctr" rotWithShape="0">
              <a:srgbClr val="000000">
                <a:alpha val="15000"/>
              </a:srgbClr>
            </a:outerShdw>
          </a:effectLst>
        </p:spPr>
      </p:pic>
      <p:pic>
        <p:nvPicPr>
          <p:cNvPr id="13" name="Picture 12">
            <a:extLst>
              <a:ext uri="{FF2B5EF4-FFF2-40B4-BE49-F238E27FC236}">
                <a16:creationId xmlns:a16="http://schemas.microsoft.com/office/drawing/2014/main" id="{28EEA4A2-E55F-5DB5-93D6-7A4F160DFE46}"/>
              </a:ext>
            </a:extLst>
          </p:cNvPr>
          <p:cNvPicPr>
            <a:picLocks/>
          </p:cNvPicPr>
          <p:nvPr/>
        </p:nvPicPr>
        <p:blipFill>
          <a:blip r:embed="rId4"/>
          <a:stretch>
            <a:fillRect/>
          </a:stretch>
        </p:blipFill>
        <p:spPr>
          <a:xfrm>
            <a:off x="6194821" y="166737"/>
            <a:ext cx="3566160" cy="2103120"/>
          </a:xfrm>
          <a:prstGeom prst="rect">
            <a:avLst/>
          </a:prstGeom>
          <a:ln w="6350">
            <a:solidFill>
              <a:srgbClr val="7CA7A5"/>
            </a:solidFill>
          </a:ln>
          <a:effectLst>
            <a:outerShdw blurRad="190500" dist="50800" algn="ctr" rotWithShape="0">
              <a:srgbClr val="000000">
                <a:alpha val="15000"/>
              </a:srgbClr>
            </a:outerShdw>
          </a:effectLst>
        </p:spPr>
      </p:pic>
      <p:pic>
        <p:nvPicPr>
          <p:cNvPr id="15" name="Picture 14">
            <a:extLst>
              <a:ext uri="{FF2B5EF4-FFF2-40B4-BE49-F238E27FC236}">
                <a16:creationId xmlns:a16="http://schemas.microsoft.com/office/drawing/2014/main" id="{56F70920-F3D7-2E74-F7F9-28C3900123A9}"/>
              </a:ext>
            </a:extLst>
          </p:cNvPr>
          <p:cNvPicPr>
            <a:picLocks/>
          </p:cNvPicPr>
          <p:nvPr/>
        </p:nvPicPr>
        <p:blipFill>
          <a:blip r:embed="rId5"/>
          <a:stretch>
            <a:fillRect/>
          </a:stretch>
        </p:blipFill>
        <p:spPr>
          <a:xfrm>
            <a:off x="6194821" y="4588143"/>
            <a:ext cx="3566160" cy="2103120"/>
          </a:xfrm>
          <a:prstGeom prst="rect">
            <a:avLst/>
          </a:prstGeom>
          <a:ln w="6350">
            <a:solidFill>
              <a:srgbClr val="7CA7A5"/>
            </a:solidFill>
          </a:ln>
          <a:effectLst>
            <a:outerShdw blurRad="190500" dist="63500" algn="ctr" rotWithShape="0">
              <a:srgbClr val="000000">
                <a:alpha val="15000"/>
              </a:srgbClr>
            </a:outerShdw>
          </a:effectLst>
        </p:spPr>
      </p:pic>
    </p:spTree>
    <p:extLst>
      <p:ext uri="{BB962C8B-B14F-4D97-AF65-F5344CB8AC3E}">
        <p14:creationId xmlns:p14="http://schemas.microsoft.com/office/powerpoint/2010/main" val="1848578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1D470CC9-29B3-130E-3CE4-CD63DFA7A07B}"/>
              </a:ext>
            </a:extLst>
          </p:cNvPr>
          <p:cNvSpPr/>
          <p:nvPr/>
        </p:nvSpPr>
        <p:spPr>
          <a:xfrm>
            <a:off x="6995666" y="-1095154"/>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5A096C4E-F9E5-7124-AC4B-A93E6C0BD71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867614" y="361522"/>
            <a:ext cx="3002397" cy="6134956"/>
          </a:xfrm>
          <a:prstGeom prst="rect">
            <a:avLst/>
          </a:prstGeom>
          <a:ln w="6350">
            <a:solidFill>
              <a:srgbClr val="7CA7A5"/>
            </a:solidFill>
          </a:ln>
          <a:effectLst>
            <a:outerShdw blurRad="190500" dist="63500" algn="ctr" rotWithShape="0">
              <a:srgbClr val="000000">
                <a:alpha val="20000"/>
              </a:srgbClr>
            </a:outerShdw>
          </a:effectLst>
        </p:spPr>
      </p:pic>
      <p:grpSp>
        <p:nvGrpSpPr>
          <p:cNvPr id="5" name="Group 4">
            <a:extLst>
              <a:ext uri="{FF2B5EF4-FFF2-40B4-BE49-F238E27FC236}">
                <a16:creationId xmlns:a16="http://schemas.microsoft.com/office/drawing/2014/main" id="{60E3D59C-0115-152F-ACC8-373849DE7F2E}"/>
              </a:ext>
            </a:extLst>
          </p:cNvPr>
          <p:cNvGrpSpPr/>
          <p:nvPr/>
        </p:nvGrpSpPr>
        <p:grpSpPr>
          <a:xfrm>
            <a:off x="651166" y="922661"/>
            <a:ext cx="5443725" cy="5443565"/>
            <a:chOff x="651166" y="922661"/>
            <a:chExt cx="5443725" cy="5443565"/>
          </a:xfrm>
        </p:grpSpPr>
        <p:sp>
          <p:nvSpPr>
            <p:cNvPr id="3" name="TextBox 2">
              <a:extLst>
                <a:ext uri="{FF2B5EF4-FFF2-40B4-BE49-F238E27FC236}">
                  <a16:creationId xmlns:a16="http://schemas.microsoft.com/office/drawing/2014/main" id="{89839630-EDD7-8C65-6311-ADF589BAC19E}"/>
                </a:ext>
              </a:extLst>
            </p:cNvPr>
            <p:cNvSpPr txBox="1"/>
            <p:nvPr/>
          </p:nvSpPr>
          <p:spPr>
            <a:xfrm>
              <a:off x="651166" y="922661"/>
              <a:ext cx="4076843" cy="1077218"/>
            </a:xfrm>
            <a:prstGeom prst="rect">
              <a:avLst/>
            </a:prstGeom>
            <a:noFill/>
          </p:spPr>
          <p:txBody>
            <a:bodyPr wrap="square" rtlCol="0">
              <a:spAutoFit/>
            </a:bodyPr>
            <a:lstStyle/>
            <a:p>
              <a:r>
                <a:rPr lang="en-US" sz="3200" b="1" dirty="0">
                  <a:solidFill>
                    <a:srgbClr val="151F29"/>
                  </a:solidFill>
                </a:rPr>
                <a:t>Backlogged </a:t>
              </a:r>
              <a:br>
                <a:rPr lang="en-US" sz="3200" b="1" dirty="0">
                  <a:solidFill>
                    <a:srgbClr val="151F29"/>
                  </a:solidFill>
                </a:rPr>
              </a:br>
              <a:r>
                <a:rPr lang="en-US" sz="3200" b="1" dirty="0">
                  <a:solidFill>
                    <a:srgbClr val="7CA7A5"/>
                  </a:solidFill>
                </a:rPr>
                <a:t>Tasks </a:t>
              </a:r>
              <a:r>
                <a:rPr lang="en-US" sz="3200" b="1" dirty="0">
                  <a:solidFill>
                    <a:srgbClr val="151F29"/>
                  </a:solidFill>
                </a:rPr>
                <a:t>&amp;</a:t>
              </a:r>
              <a:r>
                <a:rPr lang="en-US" sz="3200" b="1" dirty="0">
                  <a:solidFill>
                    <a:srgbClr val="7CA7A5"/>
                  </a:solidFill>
                </a:rPr>
                <a:t> Features</a:t>
              </a:r>
            </a:p>
          </p:txBody>
        </p:sp>
        <p:cxnSp>
          <p:nvCxnSpPr>
            <p:cNvPr id="4" name="Straight Connector 3">
              <a:extLst>
                <a:ext uri="{FF2B5EF4-FFF2-40B4-BE49-F238E27FC236}">
                  <a16:creationId xmlns:a16="http://schemas.microsoft.com/office/drawing/2014/main" id="{3CCCC7A4-CB6F-49B7-DC26-CAA7A1B163DF}"/>
                </a:ext>
              </a:extLst>
            </p:cNvPr>
            <p:cNvCxnSpPr/>
            <p:nvPr/>
          </p:nvCxnSpPr>
          <p:spPr>
            <a:xfrm>
              <a:off x="754911" y="2251497"/>
              <a:ext cx="1977655" cy="0"/>
            </a:xfrm>
            <a:prstGeom prst="line">
              <a:avLst/>
            </a:prstGeom>
            <a:ln w="28575">
              <a:solidFill>
                <a:srgbClr val="7CA7A5"/>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E94D9FBC-B0BA-E80B-37D3-C82E951679DE}"/>
                </a:ext>
              </a:extLst>
            </p:cNvPr>
            <p:cNvSpPr txBox="1"/>
            <p:nvPr/>
          </p:nvSpPr>
          <p:spPr>
            <a:xfrm>
              <a:off x="1450157" y="2611352"/>
              <a:ext cx="4644734" cy="3754874"/>
            </a:xfrm>
            <a:prstGeom prst="rect">
              <a:avLst/>
            </a:prstGeom>
            <a:noFill/>
          </p:spPr>
          <p:txBody>
            <a:bodyPr wrap="square" rtlCol="0">
              <a:spAutoFit/>
            </a:bodyPr>
            <a:lstStyle/>
            <a:p>
              <a:r>
                <a:rPr lang="en-US" sz="1400" b="1">
                  <a:solidFill>
                    <a:srgbClr val="151F29"/>
                  </a:solidFill>
                </a:rPr>
                <a:t>Health &amp; Care Coordination</a:t>
              </a:r>
            </a:p>
            <a:p>
              <a:r>
                <a:rPr lang="en-US" sz="1400">
                  <a:solidFill>
                    <a:srgbClr val="151F29"/>
                  </a:solidFill>
                </a:rPr>
                <a:t>Enable Seniors to log medications and provide Caregivers with real-time visibility into their medication adherence.</a:t>
              </a:r>
            </a:p>
            <a:p>
              <a:endParaRPr lang="en-US" sz="1400">
                <a:solidFill>
                  <a:srgbClr val="151F29"/>
                </a:solidFill>
              </a:endParaRPr>
            </a:p>
            <a:p>
              <a:endParaRPr lang="en-US" sz="1400">
                <a:solidFill>
                  <a:srgbClr val="151F29"/>
                </a:solidFill>
              </a:endParaRPr>
            </a:p>
            <a:p>
              <a:endParaRPr lang="en-US" sz="1400">
                <a:solidFill>
                  <a:srgbClr val="151F29"/>
                </a:solidFill>
              </a:endParaRPr>
            </a:p>
            <a:p>
              <a:r>
                <a:rPr lang="en-US" sz="1400" b="1">
                  <a:solidFill>
                    <a:srgbClr val="151F29"/>
                  </a:solidFill>
                </a:rPr>
                <a:t>Security &amp; Scam Prevention</a:t>
              </a:r>
            </a:p>
            <a:p>
              <a:r>
                <a:rPr lang="en-US" sz="1400">
                  <a:solidFill>
                    <a:srgbClr val="151F29"/>
                  </a:solidFill>
                </a:rPr>
                <a:t>Introduce an AI-driven Scam Tracker to help Seniors identify and avoid fraudulent messages.</a:t>
              </a:r>
            </a:p>
            <a:p>
              <a:endParaRPr lang="en-US" sz="1400">
                <a:solidFill>
                  <a:srgbClr val="151F29"/>
                </a:solidFill>
              </a:endParaRPr>
            </a:p>
            <a:p>
              <a:endParaRPr lang="en-US" sz="1400">
                <a:solidFill>
                  <a:srgbClr val="151F29"/>
                </a:solidFill>
              </a:endParaRPr>
            </a:p>
            <a:p>
              <a:endParaRPr lang="en-US" sz="1400">
                <a:solidFill>
                  <a:srgbClr val="151F29"/>
                </a:solidFill>
              </a:endParaRPr>
            </a:p>
            <a:p>
              <a:r>
                <a:rPr lang="en-US" sz="1400" b="1">
                  <a:solidFill>
                    <a:srgbClr val="151F29"/>
                  </a:solidFill>
                </a:rPr>
                <a:t>Refined User Management</a:t>
              </a:r>
            </a:p>
            <a:p>
              <a:r>
                <a:rPr lang="en-US" sz="1400">
                  <a:solidFill>
                    <a:srgbClr val="151F29"/>
                  </a:solidFill>
                </a:rPr>
                <a:t>Equip Admins with tools to edit and update user profile details to ensure platform data remains accurate and current.</a:t>
              </a:r>
            </a:p>
            <a:p>
              <a:pPr marL="742950" lvl="1" indent="-285750">
                <a:buFont typeface="Arial" panose="020B0604020202020204" pitchFamily="34" charset="0"/>
                <a:buChar char="•"/>
              </a:pPr>
              <a:endParaRPr lang="en-US" sz="1400">
                <a:solidFill>
                  <a:srgbClr val="151F29"/>
                </a:solidFill>
              </a:endParaRPr>
            </a:p>
          </p:txBody>
        </p:sp>
        <p:pic>
          <p:nvPicPr>
            <p:cNvPr id="15" name="Graphic 14">
              <a:extLst>
                <a:ext uri="{FF2B5EF4-FFF2-40B4-BE49-F238E27FC236}">
                  <a16:creationId xmlns:a16="http://schemas.microsoft.com/office/drawing/2014/main" id="{FFAF06F2-AE4A-FC9D-C11E-D3D87232BC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4911" y="2691934"/>
              <a:ext cx="548640" cy="548640"/>
            </a:xfrm>
            <a:prstGeom prst="rect">
              <a:avLst/>
            </a:prstGeom>
          </p:spPr>
        </p:pic>
        <p:pic>
          <p:nvPicPr>
            <p:cNvPr id="17" name="Graphic 16">
              <a:extLst>
                <a:ext uri="{FF2B5EF4-FFF2-40B4-BE49-F238E27FC236}">
                  <a16:creationId xmlns:a16="http://schemas.microsoft.com/office/drawing/2014/main" id="{7278FFD3-7E4B-D414-9C15-F4CB5DC0B6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4911" y="4035334"/>
              <a:ext cx="548640" cy="548640"/>
            </a:xfrm>
            <a:prstGeom prst="rect">
              <a:avLst/>
            </a:prstGeom>
          </p:spPr>
        </p:pic>
        <p:pic>
          <p:nvPicPr>
            <p:cNvPr id="19" name="Graphic 18">
              <a:extLst>
                <a:ext uri="{FF2B5EF4-FFF2-40B4-BE49-F238E27FC236}">
                  <a16:creationId xmlns:a16="http://schemas.microsoft.com/office/drawing/2014/main" id="{DBDFA3A8-52E5-F520-840E-D34FD4A5643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4911" y="5342657"/>
              <a:ext cx="548640" cy="548640"/>
            </a:xfrm>
            <a:prstGeom prst="rect">
              <a:avLst/>
            </a:prstGeom>
          </p:spPr>
        </p:pic>
      </p:grpSp>
    </p:spTree>
    <p:extLst>
      <p:ext uri="{BB962C8B-B14F-4D97-AF65-F5344CB8AC3E}">
        <p14:creationId xmlns:p14="http://schemas.microsoft.com/office/powerpoint/2010/main" val="2133095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F9A993B8-9157-D060-593B-DDD616439758}"/>
              </a:ext>
            </a:extLst>
          </p:cNvPr>
          <p:cNvSpPr/>
          <p:nvPr/>
        </p:nvSpPr>
        <p:spPr>
          <a:xfrm>
            <a:off x="6995666" y="-1095154"/>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24E93375-D046-95F2-E2D8-A1C6E016004C}"/>
              </a:ext>
            </a:extLst>
          </p:cNvPr>
          <p:cNvSpPr/>
          <p:nvPr/>
        </p:nvSpPr>
        <p:spPr>
          <a:xfrm>
            <a:off x="-2052450" y="4557608"/>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ED0B810-EB44-FB87-1CB2-D3318AB3CD14}"/>
              </a:ext>
            </a:extLst>
          </p:cNvPr>
          <p:cNvSpPr txBox="1"/>
          <p:nvPr/>
        </p:nvSpPr>
        <p:spPr>
          <a:xfrm>
            <a:off x="2889642" y="589286"/>
            <a:ext cx="6412716" cy="584775"/>
          </a:xfrm>
          <a:prstGeom prst="rect">
            <a:avLst/>
          </a:prstGeom>
          <a:noFill/>
        </p:spPr>
        <p:txBody>
          <a:bodyPr wrap="square" rtlCol="0">
            <a:spAutoFit/>
          </a:bodyPr>
          <a:lstStyle/>
          <a:p>
            <a:r>
              <a:rPr lang="en-US" sz="3200" b="1">
                <a:solidFill>
                  <a:srgbClr val="151F29"/>
                </a:solidFill>
              </a:rPr>
              <a:t>Architecture &amp; Main Components</a:t>
            </a:r>
          </a:p>
        </p:txBody>
      </p:sp>
      <p:grpSp>
        <p:nvGrpSpPr>
          <p:cNvPr id="7" name="Group 6">
            <a:extLst>
              <a:ext uri="{FF2B5EF4-FFF2-40B4-BE49-F238E27FC236}">
                <a16:creationId xmlns:a16="http://schemas.microsoft.com/office/drawing/2014/main" id="{66A3AB79-58DF-593B-2555-A6A2755744C3}"/>
              </a:ext>
            </a:extLst>
          </p:cNvPr>
          <p:cNvGrpSpPr/>
          <p:nvPr/>
        </p:nvGrpSpPr>
        <p:grpSpPr>
          <a:xfrm>
            <a:off x="6940155" y="1563630"/>
            <a:ext cx="4724405" cy="4705084"/>
            <a:chOff x="6940155" y="1563630"/>
            <a:chExt cx="4724405" cy="4705084"/>
          </a:xfrm>
        </p:grpSpPr>
        <p:pic>
          <p:nvPicPr>
            <p:cNvPr id="6" name="Picture 5">
              <a:extLst>
                <a:ext uri="{FF2B5EF4-FFF2-40B4-BE49-F238E27FC236}">
                  <a16:creationId xmlns:a16="http://schemas.microsoft.com/office/drawing/2014/main" id="{B288CDB6-D301-70BD-0E31-64142D32F0F6}"/>
                </a:ext>
              </a:extLst>
            </p:cNvPr>
            <p:cNvPicPr>
              <a:picLocks noChangeAspect="1"/>
            </p:cNvPicPr>
            <p:nvPr/>
          </p:nvPicPr>
          <p:blipFill>
            <a:blip r:embed="rId3"/>
            <a:stretch>
              <a:fillRect/>
            </a:stretch>
          </p:blipFill>
          <p:spPr>
            <a:xfrm>
              <a:off x="6940155" y="2376914"/>
              <a:ext cx="4724405" cy="3891800"/>
            </a:xfrm>
            <a:prstGeom prst="rect">
              <a:avLst/>
            </a:prstGeom>
            <a:ln w="6350">
              <a:solidFill>
                <a:srgbClr val="7CA7A5"/>
              </a:solidFill>
            </a:ln>
            <a:effectLst>
              <a:outerShdw blurRad="190500" dist="63500" algn="ctr" rotWithShape="0">
                <a:srgbClr val="000000">
                  <a:alpha val="20000"/>
                </a:srgbClr>
              </a:outerShdw>
            </a:effectLst>
          </p:spPr>
        </p:pic>
        <p:pic>
          <p:nvPicPr>
            <p:cNvPr id="8" name="Picture 7">
              <a:extLst>
                <a:ext uri="{FF2B5EF4-FFF2-40B4-BE49-F238E27FC236}">
                  <a16:creationId xmlns:a16="http://schemas.microsoft.com/office/drawing/2014/main" id="{11497B32-50E9-8B97-B21C-E7F25710767D}"/>
                </a:ext>
              </a:extLst>
            </p:cNvPr>
            <p:cNvPicPr>
              <a:picLocks noChangeAspect="1"/>
            </p:cNvPicPr>
            <p:nvPr/>
          </p:nvPicPr>
          <p:blipFill>
            <a:blip r:embed="rId4"/>
            <a:stretch>
              <a:fillRect/>
            </a:stretch>
          </p:blipFill>
          <p:spPr>
            <a:xfrm>
              <a:off x="6940155" y="1563630"/>
              <a:ext cx="4724405" cy="353877"/>
            </a:xfrm>
            <a:prstGeom prst="rect">
              <a:avLst/>
            </a:prstGeom>
            <a:ln w="6350">
              <a:solidFill>
                <a:srgbClr val="7CA7A5"/>
              </a:solidFill>
            </a:ln>
            <a:effectLst>
              <a:outerShdw blurRad="190500" dist="63500" algn="ctr" rotWithShape="0">
                <a:srgbClr val="000000">
                  <a:alpha val="20000"/>
                </a:srgbClr>
              </a:outerShdw>
            </a:effectLst>
          </p:spPr>
        </p:pic>
      </p:grpSp>
      <p:grpSp>
        <p:nvGrpSpPr>
          <p:cNvPr id="5" name="Group 4">
            <a:extLst>
              <a:ext uri="{FF2B5EF4-FFF2-40B4-BE49-F238E27FC236}">
                <a16:creationId xmlns:a16="http://schemas.microsoft.com/office/drawing/2014/main" id="{B501552A-7470-3B8B-505E-64DAE0B20553}"/>
              </a:ext>
            </a:extLst>
          </p:cNvPr>
          <p:cNvGrpSpPr/>
          <p:nvPr/>
        </p:nvGrpSpPr>
        <p:grpSpPr>
          <a:xfrm>
            <a:off x="790575" y="1545973"/>
            <a:ext cx="4895849" cy="4722741"/>
            <a:chOff x="790575" y="1545973"/>
            <a:chExt cx="4895849" cy="4722741"/>
          </a:xfrm>
        </p:grpSpPr>
        <p:sp>
          <p:nvSpPr>
            <p:cNvPr id="9" name="Rectangle: Rounded Corners 8">
              <a:extLst>
                <a:ext uri="{FF2B5EF4-FFF2-40B4-BE49-F238E27FC236}">
                  <a16:creationId xmlns:a16="http://schemas.microsoft.com/office/drawing/2014/main" id="{448949F0-F9FA-0516-E770-986606C7D824}"/>
                </a:ext>
              </a:extLst>
            </p:cNvPr>
            <p:cNvSpPr/>
            <p:nvPr/>
          </p:nvSpPr>
          <p:spPr>
            <a:xfrm>
              <a:off x="790575" y="1545973"/>
              <a:ext cx="4895849" cy="4722741"/>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E32D0F9-2657-E21C-63EE-2F43E8277FAA}"/>
                </a:ext>
              </a:extLst>
            </p:cNvPr>
            <p:cNvSpPr txBox="1"/>
            <p:nvPr/>
          </p:nvSpPr>
          <p:spPr>
            <a:xfrm>
              <a:off x="1298972" y="2066375"/>
              <a:ext cx="3911396" cy="830997"/>
            </a:xfrm>
            <a:prstGeom prst="rect">
              <a:avLst/>
            </a:prstGeom>
            <a:noFill/>
          </p:spPr>
          <p:txBody>
            <a:bodyPr wrap="square" rtlCol="0">
              <a:spAutoFit/>
            </a:bodyPr>
            <a:lstStyle/>
            <a:p>
              <a:r>
                <a:rPr lang="en-US" sz="2400" b="1" dirty="0">
                  <a:solidFill>
                    <a:srgbClr val="151F29"/>
                  </a:solidFill>
                </a:rPr>
                <a:t>Information </a:t>
              </a:r>
              <a:r>
                <a:rPr lang="en-US" sz="2400" b="1" dirty="0">
                  <a:solidFill>
                    <a:srgbClr val="7CA7A5"/>
                  </a:solidFill>
                </a:rPr>
                <a:t>Architecture </a:t>
              </a:r>
            </a:p>
            <a:p>
              <a:r>
                <a:rPr lang="en-US" sz="2400" b="1" dirty="0">
                  <a:solidFill>
                    <a:srgbClr val="151F29"/>
                  </a:solidFill>
                </a:rPr>
                <a:t>&amp; User </a:t>
              </a:r>
              <a:r>
                <a:rPr lang="en-US" sz="2400" b="1" dirty="0">
                  <a:solidFill>
                    <a:srgbClr val="7CA7A5"/>
                  </a:solidFill>
                </a:rPr>
                <a:t>Navigation</a:t>
              </a:r>
            </a:p>
          </p:txBody>
        </p:sp>
        <p:sp>
          <p:nvSpPr>
            <p:cNvPr id="11" name="TextBox 10">
              <a:extLst>
                <a:ext uri="{FF2B5EF4-FFF2-40B4-BE49-F238E27FC236}">
                  <a16:creationId xmlns:a16="http://schemas.microsoft.com/office/drawing/2014/main" id="{ED53F091-65EA-F595-42AF-31D03987C4E2}"/>
                </a:ext>
              </a:extLst>
            </p:cNvPr>
            <p:cNvSpPr txBox="1"/>
            <p:nvPr/>
          </p:nvSpPr>
          <p:spPr>
            <a:xfrm>
              <a:off x="1298973" y="3101045"/>
              <a:ext cx="3911396" cy="2893100"/>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151F29"/>
                  </a:solidFill>
                </a:rPr>
                <a:t>Designed a streamlined architecture to minimize cognitive load, ensuring the interface is accessible and easy for </a:t>
              </a:r>
              <a:r>
                <a:rPr lang="en-US" sz="1400" b="1" dirty="0">
                  <a:solidFill>
                    <a:srgbClr val="7CA7A5"/>
                  </a:solidFill>
                </a:rPr>
                <a:t>Seniors</a:t>
              </a:r>
              <a:r>
                <a:rPr lang="en-US" sz="1400" dirty="0">
                  <a:solidFill>
                    <a:srgbClr val="151F29"/>
                  </a:solidFill>
                </a:rPr>
                <a:t> to navigate.</a:t>
              </a:r>
            </a:p>
            <a:p>
              <a:endParaRPr lang="en-US" sz="1400" dirty="0">
                <a:solidFill>
                  <a:srgbClr val="151F29"/>
                </a:solidFill>
              </a:endParaRPr>
            </a:p>
            <a:p>
              <a:pPr marL="285750" indent="-285750">
                <a:buFont typeface="Arial" panose="020B0604020202020204" pitchFamily="34" charset="0"/>
                <a:buChar char="•"/>
              </a:pPr>
              <a:r>
                <a:rPr lang="en-US" sz="1400" dirty="0">
                  <a:solidFill>
                    <a:srgbClr val="151F29"/>
                  </a:solidFill>
                </a:rPr>
                <a:t>Core features are prioritized within a </a:t>
              </a:r>
              <a:r>
                <a:rPr lang="en-US" sz="1400" b="1" dirty="0">
                  <a:solidFill>
                    <a:srgbClr val="7CA7A5"/>
                  </a:solidFill>
                </a:rPr>
                <a:t>Global Navigation Bar </a:t>
              </a:r>
              <a:r>
                <a:rPr lang="en-US" sz="1400" dirty="0">
                  <a:solidFill>
                    <a:srgbClr val="151F29"/>
                  </a:solidFill>
                </a:rPr>
                <a:t>and a </a:t>
              </a:r>
              <a:r>
                <a:rPr lang="en-US" sz="1400" b="1" dirty="0">
                  <a:solidFill>
                    <a:srgbClr val="7CA7A5"/>
                  </a:solidFill>
                </a:rPr>
                <a:t>Central Dashboard</a:t>
              </a:r>
              <a:r>
                <a:rPr lang="en-US" sz="1400" dirty="0">
                  <a:solidFill>
                    <a:srgbClr val="151F29"/>
                  </a:solidFill>
                </a:rPr>
                <a:t>, providing one-click access to essential tools.</a:t>
              </a:r>
            </a:p>
            <a:p>
              <a:endParaRPr lang="en-US" sz="1400" dirty="0">
                <a:solidFill>
                  <a:srgbClr val="151F29"/>
                </a:solidFill>
              </a:endParaRPr>
            </a:p>
            <a:p>
              <a:pPr marL="285750" indent="-285750">
                <a:buFont typeface="Arial" panose="020B0604020202020204" pitchFamily="34" charset="0"/>
                <a:buChar char="•"/>
              </a:pPr>
              <a:r>
                <a:rPr lang="en-US" sz="1400" dirty="0">
                  <a:solidFill>
                    <a:srgbClr val="151F29"/>
                  </a:solidFill>
                </a:rPr>
                <a:t>Implemented a high-level </a:t>
              </a:r>
              <a:r>
                <a:rPr lang="en-US" sz="1400" b="1" dirty="0">
                  <a:solidFill>
                    <a:srgbClr val="7CA7A5"/>
                  </a:solidFill>
                </a:rPr>
                <a:t>Landing Page</a:t>
              </a:r>
              <a:r>
                <a:rPr lang="en-US" sz="1400" dirty="0">
                  <a:solidFill>
                    <a:srgbClr val="151F29"/>
                  </a:solidFill>
                </a:rPr>
                <a:t> to establish brand trust and provide clear value propositions before the authentication process.</a:t>
              </a:r>
            </a:p>
          </p:txBody>
        </p:sp>
      </p:grpSp>
    </p:spTree>
    <p:extLst>
      <p:ext uri="{BB962C8B-B14F-4D97-AF65-F5344CB8AC3E}">
        <p14:creationId xmlns:p14="http://schemas.microsoft.com/office/powerpoint/2010/main" val="1790595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8F61F2-E6F1-E9DC-1451-38F404AB8AA3}"/>
              </a:ext>
            </a:extLst>
          </p:cNvPr>
          <p:cNvSpPr txBox="1"/>
          <p:nvPr/>
        </p:nvSpPr>
        <p:spPr>
          <a:xfrm>
            <a:off x="821495" y="930002"/>
            <a:ext cx="4076843" cy="584775"/>
          </a:xfrm>
          <a:prstGeom prst="rect">
            <a:avLst/>
          </a:prstGeom>
          <a:noFill/>
        </p:spPr>
        <p:txBody>
          <a:bodyPr wrap="square" rtlCol="0">
            <a:spAutoFit/>
          </a:bodyPr>
          <a:lstStyle/>
          <a:p>
            <a:r>
              <a:rPr lang="en-US" sz="3200" b="1" dirty="0">
                <a:solidFill>
                  <a:srgbClr val="151F29"/>
                </a:solidFill>
              </a:rPr>
              <a:t>Implementation</a:t>
            </a:r>
          </a:p>
        </p:txBody>
      </p:sp>
      <p:sp>
        <p:nvSpPr>
          <p:cNvPr id="3" name="Oval 2">
            <a:extLst>
              <a:ext uri="{FF2B5EF4-FFF2-40B4-BE49-F238E27FC236}">
                <a16:creationId xmlns:a16="http://schemas.microsoft.com/office/drawing/2014/main" id="{701C7018-7A03-D3AA-EA75-0546A52187A4}"/>
              </a:ext>
            </a:extLst>
          </p:cNvPr>
          <p:cNvSpPr/>
          <p:nvPr/>
        </p:nvSpPr>
        <p:spPr>
          <a:xfrm>
            <a:off x="-2052450" y="4557608"/>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38ABC9AC-662D-F807-8E41-1B32C53F95C4}"/>
              </a:ext>
            </a:extLst>
          </p:cNvPr>
          <p:cNvSpPr/>
          <p:nvPr/>
        </p:nvSpPr>
        <p:spPr>
          <a:xfrm>
            <a:off x="6995666" y="-1095154"/>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3C96DD17-2172-C5FF-3F70-99EFA7E7A106}"/>
              </a:ext>
            </a:extLst>
          </p:cNvPr>
          <p:cNvSpPr/>
          <p:nvPr/>
        </p:nvSpPr>
        <p:spPr>
          <a:xfrm>
            <a:off x="821495" y="2015021"/>
            <a:ext cx="5884871" cy="4165116"/>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A9A64F1-4B88-AC4F-04F4-C52E2DE76E16}"/>
              </a:ext>
            </a:extLst>
          </p:cNvPr>
          <p:cNvSpPr txBox="1"/>
          <p:nvPr/>
        </p:nvSpPr>
        <p:spPr>
          <a:xfrm>
            <a:off x="1217061" y="2364148"/>
            <a:ext cx="5165054" cy="36335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90000"/>
              </a:lnSpc>
              <a:spcBef>
                <a:spcPts val="1000"/>
              </a:spcBef>
              <a:buFont typeface="Arial"/>
              <a:buChar char="•"/>
            </a:pPr>
            <a:r>
              <a:rPr lang="en-US" sz="2000" dirty="0">
                <a:solidFill>
                  <a:srgbClr val="151F29"/>
                </a:solidFill>
              </a:rPr>
              <a:t>Worked in small teams using feature branches to isolate development</a:t>
            </a:r>
          </a:p>
          <a:p>
            <a:pPr>
              <a:lnSpc>
                <a:spcPct val="90000"/>
              </a:lnSpc>
              <a:spcBef>
                <a:spcPts val="1000"/>
              </a:spcBef>
            </a:pPr>
            <a:endParaRPr lang="en-US" sz="2000" dirty="0">
              <a:solidFill>
                <a:srgbClr val="151F29"/>
              </a:solidFill>
            </a:endParaRPr>
          </a:p>
          <a:p>
            <a:pPr marL="285750" indent="-285750">
              <a:lnSpc>
                <a:spcPct val="90000"/>
              </a:lnSpc>
              <a:spcBef>
                <a:spcPts val="1000"/>
              </a:spcBef>
              <a:buFont typeface="Arial"/>
              <a:buChar char="•"/>
            </a:pPr>
            <a:r>
              <a:rPr lang="en-US" sz="2000" dirty="0">
                <a:solidFill>
                  <a:srgbClr val="151F29"/>
                </a:solidFill>
              </a:rPr>
              <a:t>Kept the main branch stable</a:t>
            </a:r>
          </a:p>
          <a:p>
            <a:pPr>
              <a:lnSpc>
                <a:spcPct val="90000"/>
              </a:lnSpc>
              <a:spcBef>
                <a:spcPts val="1000"/>
              </a:spcBef>
            </a:pPr>
            <a:endParaRPr lang="en-US" sz="2000" dirty="0">
              <a:solidFill>
                <a:srgbClr val="151F29"/>
              </a:solidFill>
            </a:endParaRPr>
          </a:p>
          <a:p>
            <a:pPr marL="285750" indent="-285750">
              <a:lnSpc>
                <a:spcPct val="90000"/>
              </a:lnSpc>
              <a:spcBef>
                <a:spcPts val="1000"/>
              </a:spcBef>
              <a:buFont typeface="Arial"/>
              <a:buChar char="•"/>
            </a:pPr>
            <a:r>
              <a:rPr lang="en-US" sz="2000" dirty="0">
                <a:solidFill>
                  <a:srgbClr val="151F29"/>
                </a:solidFill>
              </a:rPr>
              <a:t>Merged changes through Pull Requests (PRs) only</a:t>
            </a:r>
          </a:p>
          <a:p>
            <a:pPr marL="285750" indent="-285750">
              <a:lnSpc>
                <a:spcPct val="90000"/>
              </a:lnSpc>
              <a:spcBef>
                <a:spcPts val="1000"/>
              </a:spcBef>
              <a:buFont typeface="Arial"/>
              <a:buChar char="•"/>
            </a:pPr>
            <a:endParaRPr lang="en-US" sz="2000" dirty="0">
              <a:solidFill>
                <a:srgbClr val="151F29"/>
              </a:solidFill>
            </a:endParaRPr>
          </a:p>
          <a:p>
            <a:pPr marL="285750" indent="-285750">
              <a:lnSpc>
                <a:spcPct val="90000"/>
              </a:lnSpc>
              <a:spcBef>
                <a:spcPts val="1000"/>
              </a:spcBef>
              <a:buFont typeface="Arial"/>
              <a:buChar char="•"/>
            </a:pPr>
            <a:r>
              <a:rPr lang="en-US" sz="2000" dirty="0">
                <a:solidFill>
                  <a:srgbClr val="151F29"/>
                </a:solidFill>
              </a:rPr>
              <a:t>Used code reviews to catch bugs and enforce consistent structure</a:t>
            </a:r>
          </a:p>
        </p:txBody>
      </p:sp>
      <p:pic>
        <p:nvPicPr>
          <p:cNvPr id="7" name="Picture 6">
            <a:extLst>
              <a:ext uri="{FF2B5EF4-FFF2-40B4-BE49-F238E27FC236}">
                <a16:creationId xmlns:a16="http://schemas.microsoft.com/office/drawing/2014/main" id="{CE914523-57F4-E56A-488A-2CB1B5262FC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49906" y="2485063"/>
            <a:ext cx="3225033" cy="3225033"/>
          </a:xfrm>
          <a:prstGeom prst="rect">
            <a:avLst/>
          </a:prstGeom>
        </p:spPr>
      </p:pic>
      <p:cxnSp>
        <p:nvCxnSpPr>
          <p:cNvPr id="8" name="Straight Connector 7">
            <a:extLst>
              <a:ext uri="{FF2B5EF4-FFF2-40B4-BE49-F238E27FC236}">
                <a16:creationId xmlns:a16="http://schemas.microsoft.com/office/drawing/2014/main" id="{46300B28-5C31-3063-7FC8-8B1F8FD7F05D}"/>
              </a:ext>
            </a:extLst>
          </p:cNvPr>
          <p:cNvCxnSpPr/>
          <p:nvPr/>
        </p:nvCxnSpPr>
        <p:spPr>
          <a:xfrm>
            <a:off x="882261" y="1633196"/>
            <a:ext cx="1977655" cy="0"/>
          </a:xfrm>
          <a:prstGeom prst="line">
            <a:avLst/>
          </a:prstGeom>
          <a:ln w="28575">
            <a:solidFill>
              <a:srgbClr val="7CA7A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05552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4ECCE9-A043-156B-C32E-17DF9A060AFB}"/>
              </a:ext>
            </a:extLst>
          </p:cNvPr>
          <p:cNvSpPr txBox="1"/>
          <p:nvPr/>
        </p:nvSpPr>
        <p:spPr>
          <a:xfrm>
            <a:off x="821495" y="930002"/>
            <a:ext cx="4714781" cy="584775"/>
          </a:xfrm>
          <a:prstGeom prst="rect">
            <a:avLst/>
          </a:prstGeom>
          <a:noFill/>
        </p:spPr>
        <p:txBody>
          <a:bodyPr wrap="square" rtlCol="0">
            <a:spAutoFit/>
          </a:bodyPr>
          <a:lstStyle/>
          <a:p>
            <a:r>
              <a:rPr lang="en-US" sz="3200" b="1" dirty="0">
                <a:solidFill>
                  <a:srgbClr val="151F29"/>
                </a:solidFill>
              </a:rPr>
              <a:t>Implementation Cont'd</a:t>
            </a:r>
          </a:p>
        </p:txBody>
      </p:sp>
      <p:sp>
        <p:nvSpPr>
          <p:cNvPr id="3" name="Oval 2">
            <a:extLst>
              <a:ext uri="{FF2B5EF4-FFF2-40B4-BE49-F238E27FC236}">
                <a16:creationId xmlns:a16="http://schemas.microsoft.com/office/drawing/2014/main" id="{6832E7B5-69DB-47F8-E4F8-4B7F2E8EA196}"/>
              </a:ext>
            </a:extLst>
          </p:cNvPr>
          <p:cNvSpPr/>
          <p:nvPr/>
        </p:nvSpPr>
        <p:spPr>
          <a:xfrm>
            <a:off x="-2052450" y="4557608"/>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FEDC2385-FE45-B3AB-20C2-62D8389852E1}"/>
              </a:ext>
            </a:extLst>
          </p:cNvPr>
          <p:cNvSpPr/>
          <p:nvPr/>
        </p:nvSpPr>
        <p:spPr>
          <a:xfrm>
            <a:off x="6995666" y="-1095154"/>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60A1DC14-8A69-540D-1343-4D85BE4A882D}"/>
              </a:ext>
            </a:extLst>
          </p:cNvPr>
          <p:cNvSpPr/>
          <p:nvPr/>
        </p:nvSpPr>
        <p:spPr>
          <a:xfrm>
            <a:off x="821495" y="2285557"/>
            <a:ext cx="5884871" cy="3626987"/>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1A15A49-4283-1EDA-A388-1910E9A41C6B}"/>
              </a:ext>
            </a:extLst>
          </p:cNvPr>
          <p:cNvSpPr txBox="1"/>
          <p:nvPr/>
        </p:nvSpPr>
        <p:spPr>
          <a:xfrm>
            <a:off x="1217061" y="2687509"/>
            <a:ext cx="5165054" cy="28230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90000"/>
              </a:lnSpc>
              <a:spcBef>
                <a:spcPts val="1000"/>
              </a:spcBef>
              <a:buFont typeface="Arial"/>
              <a:buChar char="•"/>
            </a:pPr>
            <a:r>
              <a:rPr lang="en-US" sz="2000" dirty="0">
                <a:solidFill>
                  <a:srgbClr val="151F29"/>
                </a:solidFill>
              </a:rPr>
              <a:t>Translated design mockups into Angular components</a:t>
            </a:r>
          </a:p>
          <a:p>
            <a:pPr>
              <a:lnSpc>
                <a:spcPct val="90000"/>
              </a:lnSpc>
              <a:spcBef>
                <a:spcPts val="1000"/>
              </a:spcBef>
            </a:pPr>
            <a:endParaRPr lang="en-US" sz="2000" dirty="0">
              <a:solidFill>
                <a:srgbClr val="151F29"/>
              </a:solidFill>
            </a:endParaRPr>
          </a:p>
          <a:p>
            <a:pPr marL="285750" indent="-285750">
              <a:lnSpc>
                <a:spcPct val="90000"/>
              </a:lnSpc>
              <a:spcBef>
                <a:spcPts val="1000"/>
              </a:spcBef>
              <a:buFont typeface="Arial"/>
              <a:buChar char="•"/>
            </a:pPr>
            <a:r>
              <a:rPr lang="en-US" sz="2000" dirty="0">
                <a:solidFill>
                  <a:srgbClr val="151F29"/>
                </a:solidFill>
              </a:rPr>
              <a:t>Built reusable components and shared styling</a:t>
            </a:r>
          </a:p>
          <a:p>
            <a:pPr>
              <a:lnSpc>
                <a:spcPct val="90000"/>
              </a:lnSpc>
              <a:spcBef>
                <a:spcPts val="1000"/>
              </a:spcBef>
            </a:pPr>
            <a:endParaRPr lang="en-US" sz="2000" dirty="0">
              <a:solidFill>
                <a:srgbClr val="151F29"/>
              </a:solidFill>
            </a:endParaRPr>
          </a:p>
          <a:p>
            <a:pPr marL="285750" indent="-285750">
              <a:lnSpc>
                <a:spcPct val="90000"/>
              </a:lnSpc>
              <a:spcBef>
                <a:spcPts val="1000"/>
              </a:spcBef>
              <a:buFont typeface="Arial"/>
              <a:buChar char="•"/>
            </a:pPr>
            <a:r>
              <a:rPr lang="en-US" sz="2000" dirty="0">
                <a:solidFill>
                  <a:srgbClr val="151F29"/>
                </a:solidFill>
              </a:rPr>
              <a:t>Implemented service layer and integrated with backend APIs</a:t>
            </a:r>
          </a:p>
        </p:txBody>
      </p:sp>
      <p:pic>
        <p:nvPicPr>
          <p:cNvPr id="7" name="Picture 6">
            <a:extLst>
              <a:ext uri="{FF2B5EF4-FFF2-40B4-BE49-F238E27FC236}">
                <a16:creationId xmlns:a16="http://schemas.microsoft.com/office/drawing/2014/main" id="{28CA637C-155D-0101-32B2-EE988F969BEA}"/>
              </a:ext>
            </a:extLst>
          </p:cNvPr>
          <p:cNvPicPr>
            <a:picLocks noChangeAspect="1"/>
          </p:cNvPicPr>
          <p:nvPr/>
        </p:nvPicPr>
        <p:blipFill>
          <a:blip r:embed="rId3"/>
          <a:stretch>
            <a:fillRect/>
          </a:stretch>
        </p:blipFill>
        <p:spPr>
          <a:xfrm>
            <a:off x="8427711" y="2657923"/>
            <a:ext cx="1745132" cy="2572871"/>
          </a:xfrm>
          <a:prstGeom prst="rect">
            <a:avLst/>
          </a:prstGeom>
        </p:spPr>
      </p:pic>
      <p:cxnSp>
        <p:nvCxnSpPr>
          <p:cNvPr id="8" name="Straight Connector 7">
            <a:extLst>
              <a:ext uri="{FF2B5EF4-FFF2-40B4-BE49-F238E27FC236}">
                <a16:creationId xmlns:a16="http://schemas.microsoft.com/office/drawing/2014/main" id="{D5876A07-0C8B-79C6-CD71-EA854B491DE2}"/>
              </a:ext>
            </a:extLst>
          </p:cNvPr>
          <p:cNvCxnSpPr/>
          <p:nvPr/>
        </p:nvCxnSpPr>
        <p:spPr>
          <a:xfrm>
            <a:off x="882261" y="1633196"/>
            <a:ext cx="1977655" cy="0"/>
          </a:xfrm>
          <a:prstGeom prst="line">
            <a:avLst/>
          </a:prstGeom>
          <a:ln w="28575">
            <a:solidFill>
              <a:srgbClr val="7CA7A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72477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2B2C4-0C2F-99C9-C28B-89D861137802}"/>
            </a:ext>
          </a:extLst>
        </p:cNvPr>
        <p:cNvGrpSpPr/>
        <p:nvPr/>
      </p:nvGrpSpPr>
      <p:grpSpPr>
        <a:xfrm>
          <a:off x="0" y="0"/>
          <a:ext cx="0" cy="0"/>
          <a:chOff x="0" y="0"/>
          <a:chExt cx="0" cy="0"/>
        </a:xfrm>
      </p:grpSpPr>
      <p:sp>
        <p:nvSpPr>
          <p:cNvPr id="1093" name="Oval 1092">
            <a:extLst>
              <a:ext uri="{FF2B5EF4-FFF2-40B4-BE49-F238E27FC236}">
                <a16:creationId xmlns:a16="http://schemas.microsoft.com/office/drawing/2014/main" id="{07FCB7D8-06AA-2D27-431B-1E529D79E11E}"/>
              </a:ext>
            </a:extLst>
          </p:cNvPr>
          <p:cNvSpPr/>
          <p:nvPr/>
        </p:nvSpPr>
        <p:spPr>
          <a:xfrm>
            <a:off x="-2052450" y="4557608"/>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2" name="Oval 1091">
            <a:extLst>
              <a:ext uri="{FF2B5EF4-FFF2-40B4-BE49-F238E27FC236}">
                <a16:creationId xmlns:a16="http://schemas.microsoft.com/office/drawing/2014/main" id="{287DF68C-F90D-9967-03ED-C9228495B552}"/>
              </a:ext>
            </a:extLst>
          </p:cNvPr>
          <p:cNvSpPr/>
          <p:nvPr/>
        </p:nvSpPr>
        <p:spPr>
          <a:xfrm>
            <a:off x="6995666" y="-1095154"/>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TextBox 1030">
            <a:extLst>
              <a:ext uri="{FF2B5EF4-FFF2-40B4-BE49-F238E27FC236}">
                <a16:creationId xmlns:a16="http://schemas.microsoft.com/office/drawing/2014/main" id="{DC5DDB53-9C4A-EE56-C1EB-F80211BF01C3}"/>
              </a:ext>
            </a:extLst>
          </p:cNvPr>
          <p:cNvSpPr txBox="1"/>
          <p:nvPr/>
        </p:nvSpPr>
        <p:spPr>
          <a:xfrm>
            <a:off x="543704" y="457924"/>
            <a:ext cx="5571535" cy="584775"/>
          </a:xfrm>
          <a:prstGeom prst="rect">
            <a:avLst/>
          </a:prstGeom>
          <a:noFill/>
        </p:spPr>
        <p:txBody>
          <a:bodyPr wrap="square" lIns="91440" tIns="45720" rIns="91440" bIns="45720" rtlCol="0" anchor="t">
            <a:spAutoFit/>
          </a:bodyPr>
          <a:lstStyle/>
          <a:p>
            <a:r>
              <a:rPr lang="en-US" sz="3200" b="1" dirty="0">
                <a:solidFill>
                  <a:srgbClr val="151F29"/>
                </a:solidFill>
              </a:rPr>
              <a:t>Implementation Cont'd</a:t>
            </a:r>
          </a:p>
        </p:txBody>
      </p:sp>
      <p:pic>
        <p:nvPicPr>
          <p:cNvPr id="4" name="Picture 3" descr="A screenshot of a computer&#10;&#10;AI-generated content may be incorrect.">
            <a:extLst>
              <a:ext uri="{FF2B5EF4-FFF2-40B4-BE49-F238E27FC236}">
                <a16:creationId xmlns:a16="http://schemas.microsoft.com/office/drawing/2014/main" id="{3085D537-91B2-56CB-92B3-855D47CD8F77}"/>
              </a:ext>
            </a:extLst>
          </p:cNvPr>
          <p:cNvPicPr>
            <a:picLocks noChangeAspect="1"/>
          </p:cNvPicPr>
          <p:nvPr/>
        </p:nvPicPr>
        <p:blipFill>
          <a:blip r:embed="rId3"/>
          <a:stretch>
            <a:fillRect/>
          </a:stretch>
        </p:blipFill>
        <p:spPr>
          <a:xfrm>
            <a:off x="544635" y="1276961"/>
            <a:ext cx="11112500" cy="5085618"/>
          </a:xfrm>
          <a:prstGeom prst="rect">
            <a:avLst/>
          </a:prstGeom>
          <a:ln w="6350">
            <a:solidFill>
              <a:srgbClr val="7CA7A5"/>
            </a:solidFill>
          </a:ln>
        </p:spPr>
      </p:pic>
    </p:spTree>
    <p:extLst>
      <p:ext uri="{BB962C8B-B14F-4D97-AF65-F5344CB8AC3E}">
        <p14:creationId xmlns:p14="http://schemas.microsoft.com/office/powerpoint/2010/main" val="3659111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6F7427CB-3B32-0A77-A83B-79CEAFF9B1D5}"/>
              </a:ext>
            </a:extLst>
          </p:cNvPr>
          <p:cNvSpPr/>
          <p:nvPr/>
        </p:nvSpPr>
        <p:spPr>
          <a:xfrm>
            <a:off x="-2052450" y="4557608"/>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03DAD99B-97A4-0D16-1183-9222AFDEB2B7}"/>
              </a:ext>
            </a:extLst>
          </p:cNvPr>
          <p:cNvSpPr/>
          <p:nvPr/>
        </p:nvSpPr>
        <p:spPr>
          <a:xfrm>
            <a:off x="6995666" y="-1095154"/>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5EF9771-2FE5-2666-2EBE-38ECE9345AFA}"/>
              </a:ext>
            </a:extLst>
          </p:cNvPr>
          <p:cNvSpPr txBox="1"/>
          <p:nvPr/>
        </p:nvSpPr>
        <p:spPr>
          <a:xfrm>
            <a:off x="585852" y="660287"/>
            <a:ext cx="5215360" cy="584775"/>
          </a:xfrm>
          <a:prstGeom prst="rect">
            <a:avLst/>
          </a:prstGeom>
          <a:noFill/>
        </p:spPr>
        <p:txBody>
          <a:bodyPr wrap="square" lIns="91440" tIns="45720" rIns="91440" bIns="45720" rtlCol="0" anchor="t">
            <a:spAutoFit/>
          </a:bodyPr>
          <a:lstStyle/>
          <a:p>
            <a:r>
              <a:rPr lang="en-US" sz="3200" b="1" dirty="0">
                <a:solidFill>
                  <a:srgbClr val="151F29"/>
                </a:solidFill>
              </a:rPr>
              <a:t>Implementation Cont'd</a:t>
            </a:r>
          </a:p>
        </p:txBody>
      </p:sp>
      <p:pic>
        <p:nvPicPr>
          <p:cNvPr id="5" name="Picture 4" descr="A screenshot of a computer&#10;&#10;AI-generated content may be incorrect.">
            <a:extLst>
              <a:ext uri="{FF2B5EF4-FFF2-40B4-BE49-F238E27FC236}">
                <a16:creationId xmlns:a16="http://schemas.microsoft.com/office/drawing/2014/main" id="{1702B0F8-344F-4778-4F45-09E39A41B15D}"/>
              </a:ext>
            </a:extLst>
          </p:cNvPr>
          <p:cNvPicPr>
            <a:picLocks noChangeAspect="1"/>
          </p:cNvPicPr>
          <p:nvPr/>
        </p:nvPicPr>
        <p:blipFill>
          <a:blip r:embed="rId3"/>
          <a:stretch>
            <a:fillRect/>
          </a:stretch>
        </p:blipFill>
        <p:spPr>
          <a:xfrm>
            <a:off x="7344845" y="551350"/>
            <a:ext cx="3957272" cy="5755299"/>
          </a:xfrm>
          <a:prstGeom prst="rect">
            <a:avLst/>
          </a:prstGeom>
          <a:ln w="6350">
            <a:solidFill>
              <a:srgbClr val="7CA7A5"/>
            </a:solidFill>
          </a:ln>
        </p:spPr>
      </p:pic>
      <p:cxnSp>
        <p:nvCxnSpPr>
          <p:cNvPr id="6" name="Straight Connector 5">
            <a:extLst>
              <a:ext uri="{FF2B5EF4-FFF2-40B4-BE49-F238E27FC236}">
                <a16:creationId xmlns:a16="http://schemas.microsoft.com/office/drawing/2014/main" id="{C03F053E-A6BE-0CFB-832F-C72556EE885C}"/>
              </a:ext>
            </a:extLst>
          </p:cNvPr>
          <p:cNvCxnSpPr/>
          <p:nvPr/>
        </p:nvCxnSpPr>
        <p:spPr>
          <a:xfrm>
            <a:off x="660880" y="1373314"/>
            <a:ext cx="1977655" cy="0"/>
          </a:xfrm>
          <a:prstGeom prst="line">
            <a:avLst/>
          </a:prstGeom>
          <a:ln w="28575">
            <a:solidFill>
              <a:srgbClr val="7CA7A5"/>
            </a:solidFill>
          </a:ln>
        </p:spPr>
        <p:style>
          <a:lnRef idx="2">
            <a:schemeClr val="accent1"/>
          </a:lnRef>
          <a:fillRef idx="0">
            <a:schemeClr val="accent1"/>
          </a:fillRef>
          <a:effectRef idx="1">
            <a:schemeClr val="accent1"/>
          </a:effectRef>
          <a:fontRef idx="minor">
            <a:schemeClr val="tx1"/>
          </a:fontRef>
        </p:style>
      </p:cxnSp>
      <p:sp>
        <p:nvSpPr>
          <p:cNvPr id="7" name="Rectangle: Rounded Corners 6">
            <a:extLst>
              <a:ext uri="{FF2B5EF4-FFF2-40B4-BE49-F238E27FC236}">
                <a16:creationId xmlns:a16="http://schemas.microsoft.com/office/drawing/2014/main" id="{CE3F52CF-6503-7C6F-2818-612AA4970C05}"/>
              </a:ext>
            </a:extLst>
          </p:cNvPr>
          <p:cNvSpPr/>
          <p:nvPr/>
        </p:nvSpPr>
        <p:spPr>
          <a:xfrm>
            <a:off x="583746" y="1856501"/>
            <a:ext cx="5848827" cy="4341205"/>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2806DE8-2610-5EF9-6FE5-B8DED9BEAA2C}"/>
              </a:ext>
            </a:extLst>
          </p:cNvPr>
          <p:cNvSpPr txBox="1"/>
          <p:nvPr/>
        </p:nvSpPr>
        <p:spPr>
          <a:xfrm>
            <a:off x="889883" y="2938604"/>
            <a:ext cx="5239132" cy="25460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90000"/>
              </a:lnSpc>
              <a:spcBef>
                <a:spcPts val="1000"/>
              </a:spcBef>
              <a:buFont typeface="Arial" panose="020B0604020202020204" pitchFamily="34" charset="0"/>
              <a:buChar char="•"/>
            </a:pPr>
            <a:r>
              <a:rPr lang="en-US" sz="2000" dirty="0">
                <a:solidFill>
                  <a:srgbClr val="151F29"/>
                </a:solidFill>
              </a:rPr>
              <a:t>Configured routing for seamless navigation</a:t>
            </a:r>
          </a:p>
          <a:p>
            <a:pPr>
              <a:lnSpc>
                <a:spcPct val="90000"/>
              </a:lnSpc>
              <a:spcBef>
                <a:spcPts val="1000"/>
              </a:spcBef>
            </a:pPr>
            <a:endParaRPr lang="en-US" sz="2000" dirty="0">
              <a:solidFill>
                <a:srgbClr val="151F29"/>
              </a:solidFill>
            </a:endParaRPr>
          </a:p>
          <a:p>
            <a:pPr marL="342900" indent="-342900">
              <a:lnSpc>
                <a:spcPct val="90000"/>
              </a:lnSpc>
              <a:spcBef>
                <a:spcPts val="1000"/>
              </a:spcBef>
              <a:buFont typeface="Arial" panose="020B0604020202020204" pitchFamily="34" charset="0"/>
              <a:buChar char="•"/>
            </a:pPr>
            <a:r>
              <a:rPr lang="en-US" sz="2000" dirty="0">
                <a:solidFill>
                  <a:srgbClr val="151F29"/>
                </a:solidFill>
              </a:rPr>
              <a:t>Tested and refined UI to ensure usability and responsiveness</a:t>
            </a:r>
          </a:p>
          <a:p>
            <a:pPr>
              <a:lnSpc>
                <a:spcPct val="90000"/>
              </a:lnSpc>
              <a:spcBef>
                <a:spcPts val="1000"/>
              </a:spcBef>
            </a:pPr>
            <a:endParaRPr lang="en-US" sz="2000" dirty="0">
              <a:solidFill>
                <a:srgbClr val="151F29"/>
              </a:solidFill>
            </a:endParaRPr>
          </a:p>
          <a:p>
            <a:pPr marL="342900" indent="-342900">
              <a:lnSpc>
                <a:spcPct val="90000"/>
              </a:lnSpc>
              <a:spcBef>
                <a:spcPts val="1000"/>
              </a:spcBef>
              <a:buFont typeface="Arial" panose="020B0604020202020204" pitchFamily="34" charset="0"/>
              <a:buChar char="•"/>
            </a:pPr>
            <a:r>
              <a:rPr lang="en-US" sz="2000" dirty="0">
                <a:solidFill>
                  <a:srgbClr val="151F29"/>
                </a:solidFill>
              </a:rPr>
              <a:t>Packaged frontend into Spring Boot application for unified deployment</a:t>
            </a:r>
          </a:p>
        </p:txBody>
      </p:sp>
    </p:spTree>
    <p:extLst>
      <p:ext uri="{BB962C8B-B14F-4D97-AF65-F5344CB8AC3E}">
        <p14:creationId xmlns:p14="http://schemas.microsoft.com/office/powerpoint/2010/main" val="2218646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8FF03-20A4-989F-7D65-6ED2654CC942}"/>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62938C4C-4DED-F949-000D-9E005CEFF783}"/>
              </a:ext>
            </a:extLst>
          </p:cNvPr>
          <p:cNvGrpSpPr/>
          <p:nvPr/>
        </p:nvGrpSpPr>
        <p:grpSpPr>
          <a:xfrm>
            <a:off x="3153564" y="2935090"/>
            <a:ext cx="5884871" cy="987819"/>
            <a:chOff x="3153564" y="2935090"/>
            <a:chExt cx="5884871" cy="987819"/>
          </a:xfrm>
        </p:grpSpPr>
        <p:sp>
          <p:nvSpPr>
            <p:cNvPr id="3" name="Rectangle: Rounded Corners 2">
              <a:extLst>
                <a:ext uri="{FF2B5EF4-FFF2-40B4-BE49-F238E27FC236}">
                  <a16:creationId xmlns:a16="http://schemas.microsoft.com/office/drawing/2014/main" id="{3FE6819F-3140-4820-BC63-57B6C05746F2}"/>
                </a:ext>
              </a:extLst>
            </p:cNvPr>
            <p:cNvSpPr/>
            <p:nvPr/>
          </p:nvSpPr>
          <p:spPr>
            <a:xfrm>
              <a:off x="3153564" y="2935090"/>
              <a:ext cx="5884871" cy="987819"/>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4EF12B8-AF06-DAED-57B5-9EC1300A4A44}"/>
                </a:ext>
              </a:extLst>
            </p:cNvPr>
            <p:cNvSpPr txBox="1"/>
            <p:nvPr/>
          </p:nvSpPr>
          <p:spPr>
            <a:xfrm>
              <a:off x="3232177" y="3076178"/>
              <a:ext cx="5727643" cy="7056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90000"/>
                </a:lnSpc>
                <a:spcBef>
                  <a:spcPct val="0"/>
                </a:spcBef>
              </a:pPr>
              <a:r>
                <a:rPr lang="en-US" sz="4400" b="1" dirty="0">
                  <a:solidFill>
                    <a:srgbClr val="151F29"/>
                  </a:solidFill>
                  <a:latin typeface="Aptos Display"/>
                </a:rPr>
                <a:t>Live </a:t>
              </a:r>
              <a:r>
                <a:rPr lang="en-US" sz="4400" b="1" dirty="0">
                  <a:solidFill>
                    <a:srgbClr val="7CA7A5"/>
                  </a:solidFill>
                  <a:latin typeface="Aptos Display"/>
                </a:rPr>
                <a:t>Demonstration</a:t>
              </a:r>
              <a:r>
                <a:rPr lang="en-US" sz="4400" b="1" dirty="0">
                  <a:solidFill>
                    <a:srgbClr val="151F29"/>
                  </a:solidFill>
                  <a:latin typeface="Aptos Display"/>
                </a:rPr>
                <a:t>!</a:t>
              </a:r>
              <a:endParaRPr lang="en-US" sz="4400" b="1" dirty="0">
                <a:solidFill>
                  <a:srgbClr val="151F29"/>
                </a:solidFill>
              </a:endParaRPr>
            </a:p>
          </p:txBody>
        </p:sp>
      </p:grpSp>
      <p:sp>
        <p:nvSpPr>
          <p:cNvPr id="4" name="Oval 3">
            <a:extLst>
              <a:ext uri="{FF2B5EF4-FFF2-40B4-BE49-F238E27FC236}">
                <a16:creationId xmlns:a16="http://schemas.microsoft.com/office/drawing/2014/main" id="{5BA7D12C-8B70-45DE-7808-5FAA7F90BBE8}"/>
              </a:ext>
            </a:extLst>
          </p:cNvPr>
          <p:cNvSpPr/>
          <p:nvPr/>
        </p:nvSpPr>
        <p:spPr>
          <a:xfrm>
            <a:off x="7488635" y="3861486"/>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C48726EB-C52E-FDD2-0BE4-CC7D8F5379F8}"/>
              </a:ext>
            </a:extLst>
          </p:cNvPr>
          <p:cNvSpPr/>
          <p:nvPr/>
        </p:nvSpPr>
        <p:spPr>
          <a:xfrm>
            <a:off x="-2047315" y="-3188991"/>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8282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5E537763-6F3E-91BB-1A8B-87DCDDD4C6CE}"/>
              </a:ext>
            </a:extLst>
          </p:cNvPr>
          <p:cNvSpPr/>
          <p:nvPr/>
        </p:nvSpPr>
        <p:spPr>
          <a:xfrm>
            <a:off x="6995666" y="-1095154"/>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508B696E-9034-3B27-F061-7348310099B1}"/>
              </a:ext>
            </a:extLst>
          </p:cNvPr>
          <p:cNvGrpSpPr/>
          <p:nvPr/>
        </p:nvGrpSpPr>
        <p:grpSpPr>
          <a:xfrm>
            <a:off x="651166" y="599495"/>
            <a:ext cx="6199085" cy="5659009"/>
            <a:chOff x="651166" y="922661"/>
            <a:chExt cx="6199085" cy="5659009"/>
          </a:xfrm>
        </p:grpSpPr>
        <p:grpSp>
          <p:nvGrpSpPr>
            <p:cNvPr id="3" name="Group 2">
              <a:extLst>
                <a:ext uri="{FF2B5EF4-FFF2-40B4-BE49-F238E27FC236}">
                  <a16:creationId xmlns:a16="http://schemas.microsoft.com/office/drawing/2014/main" id="{82D84922-6C57-EE7B-705C-C3126371641B}"/>
                </a:ext>
              </a:extLst>
            </p:cNvPr>
            <p:cNvGrpSpPr/>
            <p:nvPr/>
          </p:nvGrpSpPr>
          <p:grpSpPr>
            <a:xfrm>
              <a:off x="651166" y="922661"/>
              <a:ext cx="6199085" cy="5659009"/>
              <a:chOff x="651166" y="922661"/>
              <a:chExt cx="5443725" cy="5659009"/>
            </a:xfrm>
          </p:grpSpPr>
          <p:sp>
            <p:nvSpPr>
              <p:cNvPr id="4" name="TextBox 3">
                <a:extLst>
                  <a:ext uri="{FF2B5EF4-FFF2-40B4-BE49-F238E27FC236}">
                    <a16:creationId xmlns:a16="http://schemas.microsoft.com/office/drawing/2014/main" id="{5A0ED29E-0BFC-E934-36AC-874826C4C4A8}"/>
                  </a:ext>
                </a:extLst>
              </p:cNvPr>
              <p:cNvSpPr txBox="1"/>
              <p:nvPr/>
            </p:nvSpPr>
            <p:spPr>
              <a:xfrm>
                <a:off x="651166" y="922661"/>
                <a:ext cx="4076843" cy="1077218"/>
              </a:xfrm>
              <a:prstGeom prst="rect">
                <a:avLst/>
              </a:prstGeom>
              <a:noFill/>
            </p:spPr>
            <p:txBody>
              <a:bodyPr wrap="square" rtlCol="0">
                <a:spAutoFit/>
              </a:bodyPr>
              <a:lstStyle/>
              <a:p>
                <a:r>
                  <a:rPr lang="en-US" sz="3200" b="1" dirty="0">
                    <a:solidFill>
                      <a:srgbClr val="151F29"/>
                    </a:solidFill>
                  </a:rPr>
                  <a:t>Security</a:t>
                </a:r>
              </a:p>
              <a:p>
                <a:r>
                  <a:rPr lang="en-US" sz="3200" b="1" dirty="0">
                    <a:solidFill>
                      <a:srgbClr val="151F29"/>
                    </a:solidFill>
                  </a:rPr>
                  <a:t>Considerations</a:t>
                </a:r>
                <a:endParaRPr lang="en-US" sz="3200" b="1" dirty="0">
                  <a:solidFill>
                    <a:srgbClr val="7CA7A5"/>
                  </a:solidFill>
                </a:endParaRPr>
              </a:p>
            </p:txBody>
          </p:sp>
          <p:cxnSp>
            <p:nvCxnSpPr>
              <p:cNvPr id="5" name="Straight Connector 4">
                <a:extLst>
                  <a:ext uri="{FF2B5EF4-FFF2-40B4-BE49-F238E27FC236}">
                    <a16:creationId xmlns:a16="http://schemas.microsoft.com/office/drawing/2014/main" id="{53763A59-AA51-81D6-255A-AF2EB7C5F172}"/>
                  </a:ext>
                </a:extLst>
              </p:cNvPr>
              <p:cNvCxnSpPr/>
              <p:nvPr/>
            </p:nvCxnSpPr>
            <p:spPr>
              <a:xfrm>
                <a:off x="754911" y="2251497"/>
                <a:ext cx="1977655" cy="0"/>
              </a:xfrm>
              <a:prstGeom prst="line">
                <a:avLst/>
              </a:prstGeom>
              <a:ln w="28575">
                <a:solidFill>
                  <a:srgbClr val="7CA7A5"/>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8080E6C7-0515-F37F-6908-49DC66DFAAC6}"/>
                  </a:ext>
                </a:extLst>
              </p:cNvPr>
              <p:cNvSpPr txBox="1"/>
              <p:nvPr/>
            </p:nvSpPr>
            <p:spPr>
              <a:xfrm>
                <a:off x="1450157" y="2611352"/>
                <a:ext cx="4644734" cy="3970318"/>
              </a:xfrm>
              <a:prstGeom prst="rect">
                <a:avLst/>
              </a:prstGeom>
              <a:noFill/>
            </p:spPr>
            <p:txBody>
              <a:bodyPr wrap="square" rtlCol="0">
                <a:spAutoFit/>
              </a:bodyPr>
              <a:lstStyle/>
              <a:p>
                <a:r>
                  <a:rPr lang="en-US" sz="1400" b="1" dirty="0">
                    <a:solidFill>
                      <a:srgbClr val="151F29"/>
                    </a:solidFill>
                  </a:rPr>
                  <a:t>Route &amp; Role Protection</a:t>
                </a:r>
              </a:p>
              <a:p>
                <a:r>
                  <a:rPr lang="en-US" sz="1400" dirty="0">
                    <a:solidFill>
                      <a:srgbClr val="151F29"/>
                    </a:solidFill>
                  </a:rPr>
                  <a:t>Authentication guards prevent unauthorized users from accessing protected routes based on their role</a:t>
                </a:r>
              </a:p>
              <a:p>
                <a:endParaRPr lang="en-US" sz="1400" dirty="0">
                  <a:solidFill>
                    <a:srgbClr val="151F29"/>
                  </a:solidFill>
                </a:endParaRPr>
              </a:p>
              <a:p>
                <a:endParaRPr lang="en-US" sz="1400" dirty="0">
                  <a:solidFill>
                    <a:srgbClr val="151F29"/>
                  </a:solidFill>
                </a:endParaRPr>
              </a:p>
              <a:p>
                <a:r>
                  <a:rPr lang="en-US" sz="1400" b="1" dirty="0">
                    <a:solidFill>
                      <a:srgbClr val="151F29"/>
                    </a:solidFill>
                  </a:rPr>
                  <a:t>Proper Error Handling</a:t>
                </a:r>
              </a:p>
              <a:p>
                <a:r>
                  <a:rPr lang="en-US" sz="1400" dirty="0">
                    <a:solidFill>
                      <a:srgbClr val="151F29"/>
                    </a:solidFill>
                  </a:rPr>
                  <a:t>Standardized error responses ensure sensitive system information is never exposed to the client</a:t>
                </a:r>
              </a:p>
              <a:p>
                <a:endParaRPr lang="en-US" sz="1400" dirty="0">
                  <a:solidFill>
                    <a:srgbClr val="151F29"/>
                  </a:solidFill>
                </a:endParaRPr>
              </a:p>
              <a:p>
                <a:endParaRPr lang="en-US" sz="1400" dirty="0">
                  <a:solidFill>
                    <a:srgbClr val="151F29"/>
                  </a:solidFill>
                </a:endParaRPr>
              </a:p>
              <a:p>
                <a:r>
                  <a:rPr lang="en-US" sz="1400" b="1" dirty="0">
                    <a:solidFill>
                      <a:srgbClr val="151F29"/>
                    </a:solidFill>
                  </a:rPr>
                  <a:t>Token-Based Authentication</a:t>
                </a:r>
              </a:p>
              <a:p>
                <a:r>
                  <a:rPr lang="en-US" sz="1400" dirty="0">
                    <a:solidFill>
                      <a:srgbClr val="151F29"/>
                    </a:solidFill>
                  </a:rPr>
                  <a:t>Every API request requires a valid token, ensuring only authenticated users can retrieve or modify data</a:t>
                </a:r>
              </a:p>
              <a:p>
                <a:endParaRPr lang="en-US" sz="1400" dirty="0">
                  <a:solidFill>
                    <a:srgbClr val="151F29"/>
                  </a:solidFill>
                </a:endParaRPr>
              </a:p>
              <a:p>
                <a:endParaRPr lang="en-US" sz="1400" dirty="0">
                  <a:solidFill>
                    <a:srgbClr val="151F29"/>
                  </a:solidFill>
                </a:endParaRPr>
              </a:p>
              <a:p>
                <a:r>
                  <a:rPr lang="en-US" sz="1400" b="1" dirty="0">
                    <a:solidFill>
                      <a:srgbClr val="151F29"/>
                    </a:solidFill>
                  </a:rPr>
                  <a:t>Caregiver Access Control</a:t>
                </a:r>
              </a:p>
              <a:p>
                <a:r>
                  <a:rPr lang="en-US" sz="1400" dirty="0">
                    <a:solidFill>
                      <a:srgbClr val="151F29"/>
                    </a:solidFill>
                  </a:rPr>
                  <a:t>Caregivers can only view data for seniors they are explicitly linked to – no cross-account access</a:t>
                </a:r>
              </a:p>
            </p:txBody>
          </p:sp>
          <p:pic>
            <p:nvPicPr>
              <p:cNvPr id="8" name="Graphic 7">
                <a:extLst>
                  <a:ext uri="{FF2B5EF4-FFF2-40B4-BE49-F238E27FC236}">
                    <a16:creationId xmlns:a16="http://schemas.microsoft.com/office/drawing/2014/main" id="{AA62039A-44C5-3348-439B-AD68B44257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3821" y="2733476"/>
                <a:ext cx="548640" cy="548640"/>
              </a:xfrm>
              <a:prstGeom prst="rect">
                <a:avLst/>
              </a:prstGeom>
            </p:spPr>
          </p:pic>
        </p:grpSp>
        <p:pic>
          <p:nvPicPr>
            <p:cNvPr id="11" name="Graphic 10">
              <a:extLst>
                <a:ext uri="{FF2B5EF4-FFF2-40B4-BE49-F238E27FC236}">
                  <a16:creationId xmlns:a16="http://schemas.microsoft.com/office/drawing/2014/main" id="{6EBEF180-669B-1A73-C6B1-6F5BFFAC5F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8904" y="3752470"/>
              <a:ext cx="548640" cy="548640"/>
            </a:xfrm>
            <a:prstGeom prst="rect">
              <a:avLst/>
            </a:prstGeom>
          </p:spPr>
        </p:pic>
        <p:pic>
          <p:nvPicPr>
            <p:cNvPr id="13" name="Graphic 12">
              <a:extLst>
                <a:ext uri="{FF2B5EF4-FFF2-40B4-BE49-F238E27FC236}">
                  <a16:creationId xmlns:a16="http://schemas.microsoft.com/office/drawing/2014/main" id="{6909DC64-B381-33E0-2CCD-F45A7BB0549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8904" y="4771464"/>
              <a:ext cx="548640" cy="548640"/>
            </a:xfrm>
            <a:prstGeom prst="rect">
              <a:avLst/>
            </a:prstGeom>
          </p:spPr>
        </p:pic>
        <p:pic>
          <p:nvPicPr>
            <p:cNvPr id="15" name="Graphic 14">
              <a:extLst>
                <a:ext uri="{FF2B5EF4-FFF2-40B4-BE49-F238E27FC236}">
                  <a16:creationId xmlns:a16="http://schemas.microsoft.com/office/drawing/2014/main" id="{4D168212-7D75-D66A-044B-18C9BF74C10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8904" y="5790458"/>
              <a:ext cx="548640" cy="548640"/>
            </a:xfrm>
            <a:prstGeom prst="rect">
              <a:avLst/>
            </a:prstGeom>
          </p:spPr>
        </p:pic>
      </p:grpSp>
    </p:spTree>
    <p:extLst>
      <p:ext uri="{BB962C8B-B14F-4D97-AF65-F5344CB8AC3E}">
        <p14:creationId xmlns:p14="http://schemas.microsoft.com/office/powerpoint/2010/main" val="3146573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C1292862-825C-B4C0-2944-35891CA87BBE}"/>
              </a:ext>
            </a:extLst>
          </p:cNvPr>
          <p:cNvSpPr/>
          <p:nvPr/>
        </p:nvSpPr>
        <p:spPr>
          <a:xfrm>
            <a:off x="7488635" y="3861486"/>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9F53698C-350B-AD1D-06CA-F347D5D58B5E}"/>
              </a:ext>
            </a:extLst>
          </p:cNvPr>
          <p:cNvSpPr/>
          <p:nvPr/>
        </p:nvSpPr>
        <p:spPr>
          <a:xfrm>
            <a:off x="-2047315" y="-3188991"/>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27DB6C8-3E46-CE32-8D89-CF38F0D09EBB}"/>
              </a:ext>
            </a:extLst>
          </p:cNvPr>
          <p:cNvSpPr txBox="1"/>
          <p:nvPr/>
        </p:nvSpPr>
        <p:spPr>
          <a:xfrm>
            <a:off x="821495" y="497746"/>
            <a:ext cx="4489365" cy="1077218"/>
          </a:xfrm>
          <a:prstGeom prst="rect">
            <a:avLst/>
          </a:prstGeom>
          <a:noFill/>
        </p:spPr>
        <p:txBody>
          <a:bodyPr wrap="square" lIns="91440" tIns="45720" rIns="91440" bIns="45720" rtlCol="0" anchor="t">
            <a:spAutoFit/>
          </a:bodyPr>
          <a:lstStyle/>
          <a:p>
            <a:r>
              <a:rPr lang="en-US" sz="3200" b="1" dirty="0">
                <a:solidFill>
                  <a:srgbClr val="151F29"/>
                </a:solidFill>
              </a:rPr>
              <a:t>Security</a:t>
            </a:r>
            <a:endParaRPr lang="en-US" sz="3200" b="1" dirty="0">
              <a:solidFill>
                <a:srgbClr val="7CA7A5"/>
              </a:solidFill>
            </a:endParaRPr>
          </a:p>
          <a:p>
            <a:r>
              <a:rPr lang="en-US" sz="3200" b="1" dirty="0">
                <a:solidFill>
                  <a:srgbClr val="151F29"/>
                </a:solidFill>
              </a:rPr>
              <a:t>Design Reviews</a:t>
            </a:r>
          </a:p>
        </p:txBody>
      </p:sp>
      <p:cxnSp>
        <p:nvCxnSpPr>
          <p:cNvPr id="9" name="Straight Connector 8">
            <a:extLst>
              <a:ext uri="{FF2B5EF4-FFF2-40B4-BE49-F238E27FC236}">
                <a16:creationId xmlns:a16="http://schemas.microsoft.com/office/drawing/2014/main" id="{A0B71BBE-4B32-7060-4BFD-264AB3AD0A28}"/>
              </a:ext>
            </a:extLst>
          </p:cNvPr>
          <p:cNvCxnSpPr/>
          <p:nvPr/>
        </p:nvCxnSpPr>
        <p:spPr>
          <a:xfrm>
            <a:off x="882261" y="1633196"/>
            <a:ext cx="1977655" cy="0"/>
          </a:xfrm>
          <a:prstGeom prst="line">
            <a:avLst/>
          </a:prstGeom>
          <a:ln w="28575">
            <a:solidFill>
              <a:srgbClr val="7CA7A5"/>
            </a:solidFill>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B081D3FE-52BA-319F-8BCA-62863FF09561}"/>
              </a:ext>
            </a:extLst>
          </p:cNvPr>
          <p:cNvSpPr/>
          <p:nvPr/>
        </p:nvSpPr>
        <p:spPr>
          <a:xfrm>
            <a:off x="804686" y="2028306"/>
            <a:ext cx="5996515" cy="4240408"/>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1E1AB6A-528A-5D50-9139-7ACBDAFEA541}"/>
              </a:ext>
            </a:extLst>
          </p:cNvPr>
          <p:cNvSpPr txBox="1"/>
          <p:nvPr/>
        </p:nvSpPr>
        <p:spPr>
          <a:xfrm>
            <a:off x="1101156" y="2474390"/>
            <a:ext cx="5402132" cy="3354765"/>
          </a:xfrm>
          <a:prstGeom prst="rect">
            <a:avLst/>
          </a:prstGeom>
          <a:noFill/>
        </p:spPr>
        <p:txBody>
          <a:bodyPr wrap="square" lIns="91440" tIns="45720" rIns="91440" bIns="45720" rtlCol="0" anchor="t">
            <a:spAutoFit/>
          </a:bodyPr>
          <a:lstStyle/>
          <a:p>
            <a:r>
              <a:rPr lang="en-US" sz="2400" b="1" dirty="0">
                <a:solidFill>
                  <a:srgbClr val="151F29"/>
                </a:solidFill>
              </a:rPr>
              <a:t>HTTP Interceptors</a:t>
            </a:r>
          </a:p>
          <a:p>
            <a:endParaRPr lang="en-US" sz="2000" dirty="0">
              <a:solidFill>
                <a:srgbClr val="151F29"/>
              </a:solidFill>
            </a:endParaRPr>
          </a:p>
          <a:p>
            <a:pPr marL="285750" indent="-285750">
              <a:buFont typeface="Arial" panose="020B0604020202020204" pitchFamily="34" charset="0"/>
              <a:buChar char="•"/>
            </a:pPr>
            <a:r>
              <a:rPr lang="en-US" dirty="0">
                <a:solidFill>
                  <a:srgbClr val="151F29"/>
                </a:solidFill>
              </a:rPr>
              <a:t>Automatically attach the user's auth token to every outgoing API request without requiring manual handling in each component</a:t>
            </a:r>
          </a:p>
          <a:p>
            <a:endParaRPr lang="en-US" dirty="0">
              <a:solidFill>
                <a:srgbClr val="151F29"/>
              </a:solidFill>
            </a:endParaRPr>
          </a:p>
          <a:p>
            <a:r>
              <a:rPr lang="en-US" sz="2400" b="1" dirty="0">
                <a:solidFill>
                  <a:srgbClr val="151F29"/>
                </a:solidFill>
              </a:rPr>
              <a:t>Route Guards</a:t>
            </a:r>
          </a:p>
          <a:p>
            <a:endParaRPr lang="en-US" dirty="0">
              <a:solidFill>
                <a:srgbClr val="151F29"/>
              </a:solidFill>
            </a:endParaRPr>
          </a:p>
          <a:p>
            <a:pPr marL="285750" indent="-285750">
              <a:buFont typeface="Arial" panose="020B0604020202020204" pitchFamily="34" charset="0"/>
              <a:buChar char="•"/>
            </a:pPr>
            <a:r>
              <a:rPr lang="en-US" dirty="0">
                <a:solidFill>
                  <a:srgbClr val="151F29"/>
                </a:solidFill>
              </a:rPr>
              <a:t>Block unauthenticated users from accessing protected pages and redirect them to login if no valid session token is found</a:t>
            </a:r>
          </a:p>
        </p:txBody>
      </p:sp>
    </p:spTree>
    <p:extLst>
      <p:ext uri="{BB962C8B-B14F-4D97-AF65-F5344CB8AC3E}">
        <p14:creationId xmlns:p14="http://schemas.microsoft.com/office/powerpoint/2010/main" val="743987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20BDE805-B704-4C2D-F4EF-131B4D0386D0}"/>
              </a:ext>
            </a:extLst>
          </p:cNvPr>
          <p:cNvSpPr/>
          <p:nvPr/>
        </p:nvSpPr>
        <p:spPr>
          <a:xfrm>
            <a:off x="-2052450" y="4557608"/>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D89BBB2-612A-932F-5F30-15FE6F305DFF}"/>
              </a:ext>
            </a:extLst>
          </p:cNvPr>
          <p:cNvSpPr/>
          <p:nvPr/>
        </p:nvSpPr>
        <p:spPr>
          <a:xfrm>
            <a:off x="6995666" y="-1095154"/>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BC2C37C5-1ED2-3879-F445-13335A9C41DF}"/>
              </a:ext>
            </a:extLst>
          </p:cNvPr>
          <p:cNvSpPr/>
          <p:nvPr/>
        </p:nvSpPr>
        <p:spPr>
          <a:xfrm>
            <a:off x="799323" y="1641344"/>
            <a:ext cx="10593354" cy="4793357"/>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B4044AF-1B80-34AD-7398-F45941BE665A}"/>
              </a:ext>
            </a:extLst>
          </p:cNvPr>
          <p:cNvSpPr txBox="1"/>
          <p:nvPr/>
        </p:nvSpPr>
        <p:spPr>
          <a:xfrm>
            <a:off x="567731" y="578088"/>
            <a:ext cx="6492480" cy="584775"/>
          </a:xfrm>
          <a:prstGeom prst="rect">
            <a:avLst/>
          </a:prstGeom>
          <a:noFill/>
        </p:spPr>
        <p:txBody>
          <a:bodyPr wrap="square" lIns="91440" tIns="45720" rIns="91440" bIns="45720" rtlCol="0" anchor="t">
            <a:spAutoFit/>
          </a:bodyPr>
          <a:lstStyle/>
          <a:p>
            <a:r>
              <a:rPr lang="en-US" sz="3200" b="1">
                <a:solidFill>
                  <a:srgbClr val="151F29"/>
                </a:solidFill>
              </a:rPr>
              <a:t>Implemented Security Features</a:t>
            </a:r>
            <a:endParaRPr lang="en-US"/>
          </a:p>
        </p:txBody>
      </p:sp>
      <p:cxnSp>
        <p:nvCxnSpPr>
          <p:cNvPr id="14" name="Straight Connector 13">
            <a:extLst>
              <a:ext uri="{FF2B5EF4-FFF2-40B4-BE49-F238E27FC236}">
                <a16:creationId xmlns:a16="http://schemas.microsoft.com/office/drawing/2014/main" id="{524332C7-30C5-2E73-C759-AED4C053D2B8}"/>
              </a:ext>
            </a:extLst>
          </p:cNvPr>
          <p:cNvCxnSpPr/>
          <p:nvPr/>
        </p:nvCxnSpPr>
        <p:spPr>
          <a:xfrm>
            <a:off x="671476" y="1266963"/>
            <a:ext cx="1977655" cy="0"/>
          </a:xfrm>
          <a:prstGeom prst="line">
            <a:avLst/>
          </a:prstGeom>
          <a:ln w="28575">
            <a:solidFill>
              <a:srgbClr val="7CA7A5"/>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07549DF9-1B13-B5C7-86B5-01F77739C329}"/>
              </a:ext>
            </a:extLst>
          </p:cNvPr>
          <p:cNvSpPr txBox="1"/>
          <p:nvPr/>
        </p:nvSpPr>
        <p:spPr>
          <a:xfrm>
            <a:off x="1217061" y="1971947"/>
            <a:ext cx="9643504" cy="4339650"/>
          </a:xfrm>
          <a:prstGeom prst="rect">
            <a:avLst/>
          </a:prstGeom>
          <a:noFill/>
        </p:spPr>
        <p:txBody>
          <a:bodyPr wrap="square" lIns="91440" tIns="45720" rIns="91440" bIns="45720" rtlCol="0" anchor="t">
            <a:spAutoFit/>
          </a:bodyPr>
          <a:lstStyle/>
          <a:p>
            <a:r>
              <a:rPr lang="en-US" sz="2000" b="1" dirty="0">
                <a:solidFill>
                  <a:srgbClr val="151F29"/>
                </a:solidFill>
              </a:rPr>
              <a:t>Cypress End-to-End (E2E) Tests</a:t>
            </a:r>
          </a:p>
          <a:p>
            <a:endParaRPr lang="en-US" dirty="0">
              <a:solidFill>
                <a:srgbClr val="151F29"/>
              </a:solidFill>
            </a:endParaRPr>
          </a:p>
          <a:p>
            <a:pPr marL="285750" indent="-285750">
              <a:buFont typeface="Arial" panose="020B0604020202020204" pitchFamily="34" charset="0"/>
              <a:buChar char="•"/>
            </a:pPr>
            <a:r>
              <a:rPr lang="en-US" dirty="0">
                <a:solidFill>
                  <a:srgbClr val="151F29"/>
                </a:solidFill>
              </a:rPr>
              <a:t>Automated tests validate that protected routes behave correctly for authenticated users</a:t>
            </a:r>
            <a:endParaRPr lang="en-US" dirty="0"/>
          </a:p>
          <a:p>
            <a:endParaRPr lang="en-US" dirty="0">
              <a:solidFill>
                <a:srgbClr val="151F29"/>
              </a:solidFill>
            </a:endParaRPr>
          </a:p>
          <a:p>
            <a:endParaRPr lang="en-US" dirty="0">
              <a:solidFill>
                <a:srgbClr val="151F29"/>
              </a:solidFill>
            </a:endParaRPr>
          </a:p>
          <a:p>
            <a:r>
              <a:rPr lang="en-US" sz="2000" b="1" dirty="0">
                <a:solidFill>
                  <a:srgbClr val="151F29"/>
                </a:solidFill>
              </a:rPr>
              <a:t>Role Authentication</a:t>
            </a:r>
          </a:p>
          <a:p>
            <a:endParaRPr lang="en-US" dirty="0">
              <a:solidFill>
                <a:srgbClr val="151F29"/>
              </a:solidFill>
            </a:endParaRPr>
          </a:p>
          <a:p>
            <a:pPr marL="285750" indent="-285750">
              <a:buFont typeface="Arial" panose="020B0604020202020204" pitchFamily="34" charset="0"/>
              <a:buChar char="•"/>
            </a:pPr>
            <a:r>
              <a:rPr lang="en-US" dirty="0">
                <a:solidFill>
                  <a:srgbClr val="151F29"/>
                </a:solidFill>
              </a:rPr>
              <a:t>Users are assigned a role on registration that determines what data and pages they can access</a:t>
            </a:r>
          </a:p>
          <a:p>
            <a:endParaRPr lang="en-US" dirty="0">
              <a:solidFill>
                <a:srgbClr val="151F29"/>
              </a:solidFill>
            </a:endParaRPr>
          </a:p>
          <a:p>
            <a:endParaRPr lang="en-US" dirty="0">
              <a:solidFill>
                <a:srgbClr val="151F29"/>
              </a:solidFill>
            </a:endParaRPr>
          </a:p>
          <a:p>
            <a:r>
              <a:rPr lang="en-US" sz="2000" b="1" dirty="0">
                <a:solidFill>
                  <a:srgbClr val="151F29"/>
                </a:solidFill>
              </a:rPr>
              <a:t>HTTP Interceptors &amp; Route Guards</a:t>
            </a:r>
          </a:p>
          <a:p>
            <a:endParaRPr lang="en-US" dirty="0">
              <a:solidFill>
                <a:srgbClr val="151F29"/>
              </a:solidFill>
            </a:endParaRPr>
          </a:p>
          <a:p>
            <a:pPr marL="285750" indent="-285750">
              <a:buFont typeface="Arial" panose="020B0604020202020204" pitchFamily="34" charset="0"/>
              <a:buChar char="•"/>
            </a:pPr>
            <a:r>
              <a:rPr lang="en-US" dirty="0">
                <a:solidFill>
                  <a:srgbClr val="151F29"/>
                </a:solidFill>
              </a:rPr>
              <a:t>Authentication tokens are automatically attached to every outgoing request and unauthenticated users are blocked from protected pages</a:t>
            </a:r>
            <a:endParaRPr lang="en-US" dirty="0"/>
          </a:p>
        </p:txBody>
      </p:sp>
    </p:spTree>
    <p:extLst>
      <p:ext uri="{BB962C8B-B14F-4D97-AF65-F5344CB8AC3E}">
        <p14:creationId xmlns:p14="http://schemas.microsoft.com/office/powerpoint/2010/main" val="3341915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EF790E4F-4738-9C3C-383E-79EF6A13AE49}"/>
              </a:ext>
            </a:extLst>
          </p:cNvPr>
          <p:cNvSpPr/>
          <p:nvPr/>
        </p:nvSpPr>
        <p:spPr>
          <a:xfrm>
            <a:off x="7488635" y="3861486"/>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E4D167B4-C160-FF0D-2D7A-BEAAC54206A3}"/>
              </a:ext>
            </a:extLst>
          </p:cNvPr>
          <p:cNvSpPr/>
          <p:nvPr/>
        </p:nvSpPr>
        <p:spPr>
          <a:xfrm>
            <a:off x="-2047315" y="-3188991"/>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09F697C-C222-DEC9-7050-9759478BF2B9}"/>
              </a:ext>
            </a:extLst>
          </p:cNvPr>
          <p:cNvSpPr txBox="1"/>
          <p:nvPr/>
        </p:nvSpPr>
        <p:spPr>
          <a:xfrm>
            <a:off x="821495" y="497746"/>
            <a:ext cx="4489365" cy="1077218"/>
          </a:xfrm>
          <a:prstGeom prst="rect">
            <a:avLst/>
          </a:prstGeom>
          <a:noFill/>
        </p:spPr>
        <p:txBody>
          <a:bodyPr wrap="square" lIns="91440" tIns="45720" rIns="91440" bIns="45720" rtlCol="0" anchor="t">
            <a:spAutoFit/>
          </a:bodyPr>
          <a:lstStyle/>
          <a:p>
            <a:r>
              <a:rPr lang="en-US" sz="3200" b="1" dirty="0">
                <a:solidFill>
                  <a:srgbClr val="151F29"/>
                </a:solidFill>
              </a:rPr>
              <a:t>Security Features</a:t>
            </a:r>
            <a:endParaRPr lang="en-US" sz="3200" b="1" dirty="0">
              <a:solidFill>
                <a:srgbClr val="7CA7A5"/>
              </a:solidFill>
            </a:endParaRPr>
          </a:p>
          <a:p>
            <a:r>
              <a:rPr lang="en-US" sz="3200" b="1" dirty="0">
                <a:solidFill>
                  <a:srgbClr val="151F29"/>
                </a:solidFill>
              </a:rPr>
              <a:t>Needed / Planned</a:t>
            </a:r>
          </a:p>
        </p:txBody>
      </p:sp>
      <p:cxnSp>
        <p:nvCxnSpPr>
          <p:cNvPr id="5" name="Straight Connector 4">
            <a:extLst>
              <a:ext uri="{FF2B5EF4-FFF2-40B4-BE49-F238E27FC236}">
                <a16:creationId xmlns:a16="http://schemas.microsoft.com/office/drawing/2014/main" id="{5BA00D44-EE9B-A311-E4B1-AF2D93661873}"/>
              </a:ext>
            </a:extLst>
          </p:cNvPr>
          <p:cNvCxnSpPr/>
          <p:nvPr/>
        </p:nvCxnSpPr>
        <p:spPr>
          <a:xfrm>
            <a:off x="882261" y="1633196"/>
            <a:ext cx="1977655" cy="0"/>
          </a:xfrm>
          <a:prstGeom prst="line">
            <a:avLst/>
          </a:prstGeom>
          <a:ln w="28575">
            <a:solidFill>
              <a:srgbClr val="7CA7A5"/>
            </a:solidFill>
          </a:ln>
        </p:spPr>
        <p:style>
          <a:lnRef idx="2">
            <a:schemeClr val="accent1"/>
          </a:lnRef>
          <a:fillRef idx="0">
            <a:schemeClr val="accent1"/>
          </a:fillRef>
          <a:effectRef idx="1">
            <a:schemeClr val="accent1"/>
          </a:effectRef>
          <a:fontRef idx="minor">
            <a:schemeClr val="tx1"/>
          </a:fontRef>
        </p:style>
      </p:cxnSp>
      <p:sp>
        <p:nvSpPr>
          <p:cNvPr id="6" name="Rectangle: Rounded Corners 5">
            <a:extLst>
              <a:ext uri="{FF2B5EF4-FFF2-40B4-BE49-F238E27FC236}">
                <a16:creationId xmlns:a16="http://schemas.microsoft.com/office/drawing/2014/main" id="{0415AE17-6F70-053B-E16C-CCA71BAAF612}"/>
              </a:ext>
            </a:extLst>
          </p:cNvPr>
          <p:cNvSpPr/>
          <p:nvPr/>
        </p:nvSpPr>
        <p:spPr>
          <a:xfrm>
            <a:off x="821495" y="2336642"/>
            <a:ext cx="10286158" cy="3434646"/>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F781EEC-ECE4-E8C7-E2E2-97381F82D444}"/>
              </a:ext>
            </a:extLst>
          </p:cNvPr>
          <p:cNvSpPr txBox="1"/>
          <p:nvPr/>
        </p:nvSpPr>
        <p:spPr>
          <a:xfrm>
            <a:off x="1529086" y="2782726"/>
            <a:ext cx="8909537" cy="2585323"/>
          </a:xfrm>
          <a:prstGeom prst="rect">
            <a:avLst/>
          </a:prstGeom>
          <a:noFill/>
        </p:spPr>
        <p:txBody>
          <a:bodyPr wrap="square" lIns="91440" tIns="45720" rIns="91440" bIns="45720" rtlCol="0" anchor="t">
            <a:spAutoFit/>
          </a:bodyPr>
          <a:lstStyle/>
          <a:p>
            <a:r>
              <a:rPr lang="en-US" sz="2000" b="1" dirty="0">
                <a:solidFill>
                  <a:srgbClr val="151F29"/>
                </a:solidFill>
              </a:rPr>
              <a:t>Email Verification</a:t>
            </a:r>
          </a:p>
          <a:p>
            <a:pPr marL="285750" indent="-285750">
              <a:buFont typeface="Arial" panose="020B0604020202020204" pitchFamily="34" charset="0"/>
              <a:buChar char="•"/>
            </a:pPr>
            <a:r>
              <a:rPr lang="en-US" dirty="0">
                <a:solidFill>
                  <a:srgbClr val="151F29"/>
                </a:solidFill>
              </a:rPr>
              <a:t>Confirm a user’s email is valid before granting account access</a:t>
            </a:r>
          </a:p>
          <a:p>
            <a:endParaRPr lang="en-US" sz="1200" dirty="0">
              <a:solidFill>
                <a:srgbClr val="151F29"/>
              </a:solidFill>
            </a:endParaRPr>
          </a:p>
          <a:p>
            <a:endParaRPr lang="en-US" sz="1200" dirty="0">
              <a:solidFill>
                <a:srgbClr val="151F29"/>
              </a:solidFill>
            </a:endParaRPr>
          </a:p>
          <a:p>
            <a:r>
              <a:rPr lang="en-US" sz="2000" b="1" dirty="0">
                <a:solidFill>
                  <a:srgbClr val="151F29"/>
                </a:solidFill>
              </a:rPr>
              <a:t>Account Recovery</a:t>
            </a:r>
          </a:p>
          <a:p>
            <a:pPr marL="285750" indent="-285750">
              <a:buFont typeface="Arial" panose="020B0604020202020204" pitchFamily="34" charset="0"/>
              <a:buChar char="•"/>
            </a:pPr>
            <a:r>
              <a:rPr lang="en-US" dirty="0">
                <a:solidFill>
                  <a:srgbClr val="151F29"/>
                </a:solidFill>
              </a:rPr>
              <a:t>Allow users to securely reset their password if locked out from Sign In page</a:t>
            </a:r>
          </a:p>
          <a:p>
            <a:endParaRPr lang="en-US" sz="1200" b="1" dirty="0">
              <a:solidFill>
                <a:srgbClr val="151F29"/>
              </a:solidFill>
            </a:endParaRPr>
          </a:p>
          <a:p>
            <a:endParaRPr lang="en-US" sz="1200" b="1" dirty="0">
              <a:solidFill>
                <a:srgbClr val="151F29"/>
              </a:solidFill>
            </a:endParaRPr>
          </a:p>
          <a:p>
            <a:r>
              <a:rPr lang="en-US" sz="2000" b="1" dirty="0">
                <a:solidFill>
                  <a:srgbClr val="151F29"/>
                </a:solidFill>
              </a:rPr>
              <a:t>Multi-Factor Authentication (MFA)</a:t>
            </a:r>
          </a:p>
          <a:p>
            <a:pPr marL="285750" indent="-285750">
              <a:buFont typeface="Arial" panose="020B0604020202020204" pitchFamily="34" charset="0"/>
              <a:buChar char="•"/>
            </a:pPr>
            <a:r>
              <a:rPr lang="en-US" dirty="0">
                <a:solidFill>
                  <a:srgbClr val="151F29"/>
                </a:solidFill>
              </a:rPr>
              <a:t>Require a second form of verification at login for added protection</a:t>
            </a:r>
          </a:p>
        </p:txBody>
      </p:sp>
    </p:spTree>
    <p:extLst>
      <p:ext uri="{BB962C8B-B14F-4D97-AF65-F5344CB8AC3E}">
        <p14:creationId xmlns:p14="http://schemas.microsoft.com/office/powerpoint/2010/main" val="25558590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7F83BD6-A352-8883-74DB-32C2AB37E180}"/>
              </a:ext>
            </a:extLst>
          </p:cNvPr>
          <p:cNvSpPr/>
          <p:nvPr/>
        </p:nvSpPr>
        <p:spPr>
          <a:xfrm>
            <a:off x="6995666" y="-1095154"/>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3C1F0BE-AF81-F00D-4DCA-B684656E4F5F}"/>
              </a:ext>
            </a:extLst>
          </p:cNvPr>
          <p:cNvSpPr txBox="1"/>
          <p:nvPr/>
        </p:nvSpPr>
        <p:spPr>
          <a:xfrm>
            <a:off x="2335358" y="589286"/>
            <a:ext cx="7521284" cy="584775"/>
          </a:xfrm>
          <a:prstGeom prst="rect">
            <a:avLst/>
          </a:prstGeom>
          <a:noFill/>
        </p:spPr>
        <p:txBody>
          <a:bodyPr wrap="square" rtlCol="0">
            <a:spAutoFit/>
          </a:bodyPr>
          <a:lstStyle/>
          <a:p>
            <a:pPr algn="ctr"/>
            <a:r>
              <a:rPr lang="en-US" sz="3200" b="1" dirty="0">
                <a:solidFill>
                  <a:srgbClr val="151F29"/>
                </a:solidFill>
              </a:rPr>
              <a:t>Team Challenges</a:t>
            </a:r>
          </a:p>
        </p:txBody>
      </p:sp>
      <p:sp>
        <p:nvSpPr>
          <p:cNvPr id="4" name="Oval 3">
            <a:extLst>
              <a:ext uri="{FF2B5EF4-FFF2-40B4-BE49-F238E27FC236}">
                <a16:creationId xmlns:a16="http://schemas.microsoft.com/office/drawing/2014/main" id="{AC25BAB5-A69D-B255-18C4-6257F83E058C}"/>
              </a:ext>
            </a:extLst>
          </p:cNvPr>
          <p:cNvSpPr/>
          <p:nvPr/>
        </p:nvSpPr>
        <p:spPr>
          <a:xfrm>
            <a:off x="-2052450" y="4557608"/>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AAD6521A-8F49-97F5-E7EF-F0A0504502C8}"/>
              </a:ext>
            </a:extLst>
          </p:cNvPr>
          <p:cNvSpPr/>
          <p:nvPr/>
        </p:nvSpPr>
        <p:spPr>
          <a:xfrm>
            <a:off x="6505576" y="1545972"/>
            <a:ext cx="4895849" cy="4722741"/>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6110351-5E32-7C6A-39E3-B0D6CB1B17E4}"/>
              </a:ext>
            </a:extLst>
          </p:cNvPr>
          <p:cNvSpPr txBox="1"/>
          <p:nvPr/>
        </p:nvSpPr>
        <p:spPr>
          <a:xfrm>
            <a:off x="8075502" y="2730033"/>
            <a:ext cx="1781140" cy="461665"/>
          </a:xfrm>
          <a:prstGeom prst="rect">
            <a:avLst/>
          </a:prstGeom>
          <a:noFill/>
        </p:spPr>
        <p:txBody>
          <a:bodyPr wrap="square" rtlCol="0">
            <a:spAutoFit/>
          </a:bodyPr>
          <a:lstStyle/>
          <a:p>
            <a:r>
              <a:rPr lang="en-US" sz="2400" b="1" dirty="0">
                <a:solidFill>
                  <a:srgbClr val="151F29"/>
                </a:solidFill>
              </a:rPr>
              <a:t>Scheduling</a:t>
            </a:r>
          </a:p>
        </p:txBody>
      </p:sp>
      <p:sp>
        <p:nvSpPr>
          <p:cNvPr id="14" name="Rectangle: Rounded Corners 13">
            <a:extLst>
              <a:ext uri="{FF2B5EF4-FFF2-40B4-BE49-F238E27FC236}">
                <a16:creationId xmlns:a16="http://schemas.microsoft.com/office/drawing/2014/main" id="{86864882-87AA-7C00-0945-5298C55E847A}"/>
              </a:ext>
            </a:extLst>
          </p:cNvPr>
          <p:cNvSpPr/>
          <p:nvPr/>
        </p:nvSpPr>
        <p:spPr>
          <a:xfrm>
            <a:off x="790575" y="1545972"/>
            <a:ext cx="4895849" cy="4722741"/>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9C4D912-3416-E55A-BD0D-6D9FF084D5A9}"/>
              </a:ext>
            </a:extLst>
          </p:cNvPr>
          <p:cNvSpPr txBox="1"/>
          <p:nvPr/>
        </p:nvSpPr>
        <p:spPr>
          <a:xfrm>
            <a:off x="1694045" y="2730033"/>
            <a:ext cx="3176337" cy="461665"/>
          </a:xfrm>
          <a:prstGeom prst="rect">
            <a:avLst/>
          </a:prstGeom>
          <a:noFill/>
        </p:spPr>
        <p:txBody>
          <a:bodyPr wrap="square" rtlCol="0">
            <a:spAutoFit/>
          </a:bodyPr>
          <a:lstStyle/>
          <a:p>
            <a:r>
              <a:rPr lang="en-US" sz="2400" b="1" dirty="0">
                <a:solidFill>
                  <a:srgbClr val="151F29"/>
                </a:solidFill>
              </a:rPr>
              <a:t>Team Reconstruction</a:t>
            </a:r>
          </a:p>
        </p:txBody>
      </p:sp>
      <p:sp>
        <p:nvSpPr>
          <p:cNvPr id="17" name="TextBox 16">
            <a:extLst>
              <a:ext uri="{FF2B5EF4-FFF2-40B4-BE49-F238E27FC236}">
                <a16:creationId xmlns:a16="http://schemas.microsoft.com/office/drawing/2014/main" id="{86F8FB58-0D66-E508-BE87-905BE874D1D9}"/>
              </a:ext>
            </a:extLst>
          </p:cNvPr>
          <p:cNvSpPr txBox="1"/>
          <p:nvPr/>
        </p:nvSpPr>
        <p:spPr>
          <a:xfrm>
            <a:off x="6995666" y="3282358"/>
            <a:ext cx="3911396" cy="2462213"/>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151F29"/>
                </a:solidFill>
              </a:rPr>
              <a:t>Team members had varying availability across work, school, and personal commitments</a:t>
            </a:r>
          </a:p>
          <a:p>
            <a:pPr marL="285750" indent="-285750">
              <a:buFont typeface="Arial" panose="020B0604020202020204" pitchFamily="34" charset="0"/>
              <a:buChar char="•"/>
            </a:pPr>
            <a:endParaRPr lang="en-US" sz="1400" dirty="0">
              <a:solidFill>
                <a:srgbClr val="151F29"/>
              </a:solidFill>
            </a:endParaRPr>
          </a:p>
          <a:p>
            <a:pPr marL="285750" indent="-285750">
              <a:buFont typeface="Arial" panose="020B0604020202020204" pitchFamily="34" charset="0"/>
              <a:buChar char="•"/>
            </a:pPr>
            <a:r>
              <a:rPr lang="en-US" sz="1400" dirty="0">
                <a:solidFill>
                  <a:srgbClr val="151F29"/>
                </a:solidFill>
              </a:rPr>
              <a:t>Scheduling conflicts caused some tasks to fall behind, requiring other members to step in and take over components</a:t>
            </a:r>
          </a:p>
          <a:p>
            <a:pPr marL="285750" indent="-285750">
              <a:buFont typeface="Arial" panose="020B0604020202020204" pitchFamily="34" charset="0"/>
              <a:buChar char="•"/>
            </a:pPr>
            <a:endParaRPr lang="en-US" sz="1400" dirty="0">
              <a:solidFill>
                <a:srgbClr val="151F29"/>
              </a:solidFill>
            </a:endParaRPr>
          </a:p>
          <a:p>
            <a:pPr marL="285750" indent="-285750">
              <a:buFont typeface="Arial" panose="020B0604020202020204" pitchFamily="34" charset="0"/>
              <a:buChar char="•"/>
            </a:pPr>
            <a:r>
              <a:rPr lang="en-US" sz="1400" dirty="0">
                <a:solidFill>
                  <a:srgbClr val="151F29"/>
                </a:solidFill>
              </a:rPr>
              <a:t>Uneven workload distribution at times meant some developers had to switch between their own features and others during sprints</a:t>
            </a:r>
          </a:p>
        </p:txBody>
      </p:sp>
      <p:sp>
        <p:nvSpPr>
          <p:cNvPr id="18" name="TextBox 17">
            <a:extLst>
              <a:ext uri="{FF2B5EF4-FFF2-40B4-BE49-F238E27FC236}">
                <a16:creationId xmlns:a16="http://schemas.microsoft.com/office/drawing/2014/main" id="{FF855C0F-864E-5332-51C8-476555118328}"/>
              </a:ext>
            </a:extLst>
          </p:cNvPr>
          <p:cNvSpPr txBox="1"/>
          <p:nvPr/>
        </p:nvSpPr>
        <p:spPr>
          <a:xfrm>
            <a:off x="1282801" y="3390080"/>
            <a:ext cx="3911396" cy="2246769"/>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151F29"/>
                </a:solidFill>
              </a:rPr>
              <a:t>Lost a team member from the first term but brought on a new developer for Spring</a:t>
            </a:r>
          </a:p>
          <a:p>
            <a:pPr marL="285750" indent="-285750">
              <a:buFont typeface="Arial" panose="020B0604020202020204" pitchFamily="34" charset="0"/>
              <a:buChar char="•"/>
            </a:pPr>
            <a:endParaRPr lang="en-US" sz="1400" dirty="0">
              <a:solidFill>
                <a:srgbClr val="151F29"/>
              </a:solidFill>
            </a:endParaRPr>
          </a:p>
          <a:p>
            <a:pPr marL="285750" indent="-285750">
              <a:buFont typeface="Arial" panose="020B0604020202020204" pitchFamily="34" charset="0"/>
              <a:buChar char="•"/>
            </a:pPr>
            <a:r>
              <a:rPr lang="en-US" sz="1400" dirty="0">
                <a:solidFill>
                  <a:srgbClr val="151F29"/>
                </a:solidFill>
              </a:rPr>
              <a:t>Incoming team member had to onboard mid-project, getting up to speed on existing code and conventions</a:t>
            </a:r>
          </a:p>
          <a:p>
            <a:pPr marL="285750" indent="-285750">
              <a:buFont typeface="Arial" panose="020B0604020202020204" pitchFamily="34" charset="0"/>
              <a:buChar char="•"/>
            </a:pPr>
            <a:endParaRPr lang="en-US" sz="1400" dirty="0">
              <a:solidFill>
                <a:srgbClr val="151F29"/>
              </a:solidFill>
            </a:endParaRPr>
          </a:p>
          <a:p>
            <a:pPr marL="285750" indent="-285750">
              <a:buFont typeface="Arial" panose="020B0604020202020204" pitchFamily="34" charset="0"/>
              <a:buChar char="•"/>
            </a:pPr>
            <a:r>
              <a:rPr lang="en-US" sz="1400" dirty="0">
                <a:solidFill>
                  <a:srgbClr val="151F29"/>
                </a:solidFill>
              </a:rPr>
              <a:t>Responsibilities were redistributed to ensure no features were left without an owner</a:t>
            </a:r>
          </a:p>
          <a:p>
            <a:pPr marL="285750" indent="-285750">
              <a:buFont typeface="Arial" panose="020B0604020202020204" pitchFamily="34" charset="0"/>
              <a:buChar char="•"/>
            </a:pPr>
            <a:endParaRPr lang="en-US" sz="1400" dirty="0">
              <a:solidFill>
                <a:srgbClr val="151F29"/>
              </a:solidFill>
            </a:endParaRPr>
          </a:p>
        </p:txBody>
      </p:sp>
      <p:pic>
        <p:nvPicPr>
          <p:cNvPr id="20" name="Graphic 19">
            <a:extLst>
              <a:ext uri="{FF2B5EF4-FFF2-40B4-BE49-F238E27FC236}">
                <a16:creationId xmlns:a16="http://schemas.microsoft.com/office/drawing/2014/main" id="{9C69BE60-61F7-997C-E636-4CDF7A928C4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81299" y="1843816"/>
            <a:ext cx="914400" cy="914400"/>
          </a:xfrm>
          <a:prstGeom prst="rect">
            <a:avLst/>
          </a:prstGeom>
        </p:spPr>
      </p:pic>
      <p:pic>
        <p:nvPicPr>
          <p:cNvPr id="22" name="Graphic 21">
            <a:extLst>
              <a:ext uri="{FF2B5EF4-FFF2-40B4-BE49-F238E27FC236}">
                <a16:creationId xmlns:a16="http://schemas.microsoft.com/office/drawing/2014/main" id="{D2C3BBF6-79F7-9FA8-120A-2F44B9A04D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08872" y="1828705"/>
            <a:ext cx="914400" cy="914400"/>
          </a:xfrm>
          <a:prstGeom prst="rect">
            <a:avLst/>
          </a:prstGeom>
        </p:spPr>
      </p:pic>
    </p:spTree>
    <p:extLst>
      <p:ext uri="{BB962C8B-B14F-4D97-AF65-F5344CB8AC3E}">
        <p14:creationId xmlns:p14="http://schemas.microsoft.com/office/powerpoint/2010/main" val="15975375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Oval 18">
            <a:extLst>
              <a:ext uri="{FF2B5EF4-FFF2-40B4-BE49-F238E27FC236}">
                <a16:creationId xmlns:a16="http://schemas.microsoft.com/office/drawing/2014/main" id="{8E68B57E-3598-BE55-334B-CBD2A8B15E09}"/>
              </a:ext>
            </a:extLst>
          </p:cNvPr>
          <p:cNvSpPr/>
          <p:nvPr/>
        </p:nvSpPr>
        <p:spPr>
          <a:xfrm>
            <a:off x="7488635" y="3861486"/>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119EF46E-485E-31FD-2BCC-41AB5780B783}"/>
              </a:ext>
            </a:extLst>
          </p:cNvPr>
          <p:cNvSpPr/>
          <p:nvPr/>
        </p:nvSpPr>
        <p:spPr>
          <a:xfrm>
            <a:off x="-2047315" y="-3188991"/>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Rounded Corners 1">
            <a:extLst>
              <a:ext uri="{FF2B5EF4-FFF2-40B4-BE49-F238E27FC236}">
                <a16:creationId xmlns:a16="http://schemas.microsoft.com/office/drawing/2014/main" id="{512A97EB-DB86-EF83-C4AB-948A3779BEBC}"/>
              </a:ext>
            </a:extLst>
          </p:cNvPr>
          <p:cNvSpPr/>
          <p:nvPr/>
        </p:nvSpPr>
        <p:spPr>
          <a:xfrm>
            <a:off x="842540" y="1727105"/>
            <a:ext cx="3390298" cy="4514012"/>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A9C07C63-8966-7D1C-43E9-6510771C63A2}"/>
              </a:ext>
            </a:extLst>
          </p:cNvPr>
          <p:cNvSpPr/>
          <p:nvPr/>
        </p:nvSpPr>
        <p:spPr>
          <a:xfrm>
            <a:off x="4408124" y="1712727"/>
            <a:ext cx="3390298" cy="4514012"/>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99A08E94-CF6E-EEB9-DF4F-2FED401D7313}"/>
              </a:ext>
            </a:extLst>
          </p:cNvPr>
          <p:cNvSpPr/>
          <p:nvPr/>
        </p:nvSpPr>
        <p:spPr>
          <a:xfrm>
            <a:off x="7988087" y="1712727"/>
            <a:ext cx="3390298" cy="4499635"/>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452C702-CAC5-BE6C-7F7A-1FAA308C2A28}"/>
              </a:ext>
            </a:extLst>
          </p:cNvPr>
          <p:cNvSpPr txBox="1"/>
          <p:nvPr/>
        </p:nvSpPr>
        <p:spPr>
          <a:xfrm>
            <a:off x="2335358" y="589286"/>
            <a:ext cx="7521284" cy="584775"/>
          </a:xfrm>
          <a:prstGeom prst="rect">
            <a:avLst/>
          </a:prstGeom>
          <a:noFill/>
        </p:spPr>
        <p:txBody>
          <a:bodyPr wrap="square" rtlCol="0">
            <a:spAutoFit/>
          </a:bodyPr>
          <a:lstStyle/>
          <a:p>
            <a:pPr algn="ctr"/>
            <a:r>
              <a:rPr lang="en-US" sz="3200" b="1" dirty="0">
                <a:solidFill>
                  <a:srgbClr val="151F29"/>
                </a:solidFill>
              </a:rPr>
              <a:t>Project Challenges</a:t>
            </a:r>
          </a:p>
        </p:txBody>
      </p:sp>
      <p:sp>
        <p:nvSpPr>
          <p:cNvPr id="6" name="TextBox 5">
            <a:extLst>
              <a:ext uri="{FF2B5EF4-FFF2-40B4-BE49-F238E27FC236}">
                <a16:creationId xmlns:a16="http://schemas.microsoft.com/office/drawing/2014/main" id="{5F83042C-D985-3CE6-BEAD-10BBED8958F4}"/>
              </a:ext>
            </a:extLst>
          </p:cNvPr>
          <p:cNvSpPr txBox="1"/>
          <p:nvPr/>
        </p:nvSpPr>
        <p:spPr>
          <a:xfrm>
            <a:off x="949520" y="3731710"/>
            <a:ext cx="3176337" cy="461665"/>
          </a:xfrm>
          <a:prstGeom prst="rect">
            <a:avLst/>
          </a:prstGeom>
          <a:noFill/>
        </p:spPr>
        <p:txBody>
          <a:bodyPr wrap="square" rtlCol="0">
            <a:spAutoFit/>
          </a:bodyPr>
          <a:lstStyle/>
          <a:p>
            <a:pPr algn="ctr"/>
            <a:r>
              <a:rPr lang="en-US" sz="2400" b="1" dirty="0">
                <a:solidFill>
                  <a:srgbClr val="151F29"/>
                </a:solidFill>
              </a:rPr>
              <a:t>Learning New Tools</a:t>
            </a:r>
          </a:p>
        </p:txBody>
      </p:sp>
      <p:sp>
        <p:nvSpPr>
          <p:cNvPr id="7" name="TextBox 6">
            <a:extLst>
              <a:ext uri="{FF2B5EF4-FFF2-40B4-BE49-F238E27FC236}">
                <a16:creationId xmlns:a16="http://schemas.microsoft.com/office/drawing/2014/main" id="{9B583744-67B4-3329-1192-2CC659DD7A04}"/>
              </a:ext>
            </a:extLst>
          </p:cNvPr>
          <p:cNvSpPr txBox="1"/>
          <p:nvPr/>
        </p:nvSpPr>
        <p:spPr>
          <a:xfrm>
            <a:off x="4507831" y="3731711"/>
            <a:ext cx="3176337" cy="461665"/>
          </a:xfrm>
          <a:prstGeom prst="rect">
            <a:avLst/>
          </a:prstGeom>
          <a:noFill/>
        </p:spPr>
        <p:txBody>
          <a:bodyPr wrap="square" rtlCol="0">
            <a:spAutoFit/>
          </a:bodyPr>
          <a:lstStyle/>
          <a:p>
            <a:pPr algn="ctr"/>
            <a:r>
              <a:rPr lang="en-US" sz="2400" b="1" dirty="0">
                <a:solidFill>
                  <a:srgbClr val="151F29"/>
                </a:solidFill>
              </a:rPr>
              <a:t>System Integration</a:t>
            </a:r>
          </a:p>
        </p:txBody>
      </p:sp>
      <p:sp>
        <p:nvSpPr>
          <p:cNvPr id="8" name="TextBox 7">
            <a:extLst>
              <a:ext uri="{FF2B5EF4-FFF2-40B4-BE49-F238E27FC236}">
                <a16:creationId xmlns:a16="http://schemas.microsoft.com/office/drawing/2014/main" id="{6EB89F8E-4A25-4D92-8401-3E45C54F73E2}"/>
              </a:ext>
            </a:extLst>
          </p:cNvPr>
          <p:cNvSpPr txBox="1"/>
          <p:nvPr/>
        </p:nvSpPr>
        <p:spPr>
          <a:xfrm>
            <a:off x="8096665" y="3753278"/>
            <a:ext cx="3173141" cy="461665"/>
          </a:xfrm>
          <a:prstGeom prst="rect">
            <a:avLst/>
          </a:prstGeom>
          <a:noFill/>
        </p:spPr>
        <p:txBody>
          <a:bodyPr wrap="square" rtlCol="0">
            <a:spAutoFit/>
          </a:bodyPr>
          <a:lstStyle/>
          <a:p>
            <a:pPr algn="ctr"/>
            <a:r>
              <a:rPr lang="en-US" sz="2400" b="1" dirty="0">
                <a:solidFill>
                  <a:srgbClr val="151F29"/>
                </a:solidFill>
              </a:rPr>
              <a:t>Frontend Logic</a:t>
            </a:r>
          </a:p>
        </p:txBody>
      </p:sp>
      <p:sp>
        <p:nvSpPr>
          <p:cNvPr id="9" name="TextBox 8">
            <a:extLst>
              <a:ext uri="{FF2B5EF4-FFF2-40B4-BE49-F238E27FC236}">
                <a16:creationId xmlns:a16="http://schemas.microsoft.com/office/drawing/2014/main" id="{E75A6EB1-9E1C-F4BE-6FCF-35F8AFD9E628}"/>
              </a:ext>
            </a:extLst>
          </p:cNvPr>
          <p:cNvSpPr txBox="1"/>
          <p:nvPr/>
        </p:nvSpPr>
        <p:spPr>
          <a:xfrm>
            <a:off x="1152325" y="4250855"/>
            <a:ext cx="2770725" cy="1600438"/>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151F29"/>
                </a:solidFill>
              </a:rPr>
              <a:t>Working with Angular, VSCode, and Cypress for the first time</a:t>
            </a:r>
          </a:p>
          <a:p>
            <a:pPr marL="285750" indent="-285750">
              <a:buFont typeface="Arial" panose="020B0604020202020204" pitchFamily="34" charset="0"/>
              <a:buChar char="•"/>
            </a:pPr>
            <a:endParaRPr lang="en-US" sz="1400" dirty="0">
              <a:solidFill>
                <a:srgbClr val="151F29"/>
              </a:solidFill>
            </a:endParaRPr>
          </a:p>
          <a:p>
            <a:pPr marL="285750" indent="-285750">
              <a:buFont typeface="Arial" panose="020B0604020202020204" pitchFamily="34" charset="0"/>
              <a:buChar char="•"/>
            </a:pPr>
            <a:r>
              <a:rPr lang="en-US" sz="1400" dirty="0">
                <a:solidFill>
                  <a:srgbClr val="151F29"/>
                </a:solidFill>
              </a:rPr>
              <a:t>Team members collaborated and shared knowledge to get up to speed together</a:t>
            </a:r>
          </a:p>
        </p:txBody>
      </p:sp>
      <p:sp>
        <p:nvSpPr>
          <p:cNvPr id="10" name="TextBox 9">
            <a:extLst>
              <a:ext uri="{FF2B5EF4-FFF2-40B4-BE49-F238E27FC236}">
                <a16:creationId xmlns:a16="http://schemas.microsoft.com/office/drawing/2014/main" id="{96901E9E-B9B2-D374-87F3-097345BB3DF1}"/>
              </a:ext>
            </a:extLst>
          </p:cNvPr>
          <p:cNvSpPr txBox="1"/>
          <p:nvPr/>
        </p:nvSpPr>
        <p:spPr>
          <a:xfrm>
            <a:off x="4717910" y="4250855"/>
            <a:ext cx="2770725" cy="1815882"/>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151F29"/>
                </a:solidFill>
              </a:rPr>
              <a:t>Connecting the Angular frontend to the Spring Boot backend via REST API</a:t>
            </a:r>
          </a:p>
          <a:p>
            <a:pPr marL="285750" indent="-285750">
              <a:buFont typeface="Arial" panose="020B0604020202020204" pitchFamily="34" charset="0"/>
              <a:buChar char="•"/>
            </a:pPr>
            <a:endParaRPr lang="en-US" sz="1400" dirty="0">
              <a:solidFill>
                <a:srgbClr val="151F29"/>
              </a:solidFill>
            </a:endParaRPr>
          </a:p>
          <a:p>
            <a:pPr marL="285750" indent="-285750">
              <a:buFont typeface="Arial" panose="020B0604020202020204" pitchFamily="34" charset="0"/>
              <a:buChar char="•"/>
            </a:pPr>
            <a:r>
              <a:rPr lang="en-US" sz="1400" dirty="0">
                <a:solidFill>
                  <a:srgbClr val="151F29"/>
                </a:solidFill>
              </a:rPr>
              <a:t>Handling CORS configuration and ensuring authentication tokens were correctly passed with every request</a:t>
            </a:r>
          </a:p>
        </p:txBody>
      </p:sp>
      <p:sp>
        <p:nvSpPr>
          <p:cNvPr id="11" name="TextBox 10">
            <a:extLst>
              <a:ext uri="{FF2B5EF4-FFF2-40B4-BE49-F238E27FC236}">
                <a16:creationId xmlns:a16="http://schemas.microsoft.com/office/drawing/2014/main" id="{88330182-082E-C013-F750-6B7F78CBF708}"/>
              </a:ext>
            </a:extLst>
          </p:cNvPr>
          <p:cNvSpPr txBox="1"/>
          <p:nvPr/>
        </p:nvSpPr>
        <p:spPr>
          <a:xfrm>
            <a:off x="8297872" y="4250855"/>
            <a:ext cx="2770725" cy="1815882"/>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151F29"/>
                </a:solidFill>
              </a:rPr>
              <a:t>Managing complex component states and how data flows across the UI</a:t>
            </a:r>
          </a:p>
          <a:p>
            <a:pPr marL="285750" indent="-285750">
              <a:buFont typeface="Arial" panose="020B0604020202020204" pitchFamily="34" charset="0"/>
              <a:buChar char="•"/>
            </a:pPr>
            <a:endParaRPr lang="en-US" sz="1400" dirty="0">
              <a:solidFill>
                <a:srgbClr val="151F29"/>
              </a:solidFill>
            </a:endParaRPr>
          </a:p>
          <a:p>
            <a:pPr marL="285750" indent="-285750">
              <a:buFont typeface="Arial" panose="020B0604020202020204" pitchFamily="34" charset="0"/>
              <a:buChar char="•"/>
            </a:pPr>
            <a:r>
              <a:rPr lang="en-US" sz="1400" dirty="0">
                <a:solidFill>
                  <a:srgbClr val="151F29"/>
                </a:solidFill>
              </a:rPr>
              <a:t>Structuring shared components and services to work seamlessly across multiple features</a:t>
            </a:r>
          </a:p>
        </p:txBody>
      </p:sp>
      <p:pic>
        <p:nvPicPr>
          <p:cNvPr id="12" name="Graphic 11" descr="Lightbulb outline">
            <a:extLst>
              <a:ext uri="{FF2B5EF4-FFF2-40B4-BE49-F238E27FC236}">
                <a16:creationId xmlns:a16="http://schemas.microsoft.com/office/drawing/2014/main" id="{8ECA6366-D8D5-9763-1957-BEF35D8A18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77923" y="1855265"/>
            <a:ext cx="1719532" cy="1748286"/>
          </a:xfrm>
          <a:prstGeom prst="rect">
            <a:avLst/>
          </a:prstGeom>
        </p:spPr>
      </p:pic>
      <p:pic>
        <p:nvPicPr>
          <p:cNvPr id="13" name="Graphic 12" descr="Single gear with solid fill">
            <a:extLst>
              <a:ext uri="{FF2B5EF4-FFF2-40B4-BE49-F238E27FC236}">
                <a16:creationId xmlns:a16="http://schemas.microsoft.com/office/drawing/2014/main" id="{B6F53B9F-F4AD-DE21-6ED4-6F5B375FDC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9564" y="2085302"/>
            <a:ext cx="756250" cy="655609"/>
          </a:xfrm>
          <a:prstGeom prst="rect">
            <a:avLst/>
          </a:prstGeom>
        </p:spPr>
      </p:pic>
      <p:pic>
        <p:nvPicPr>
          <p:cNvPr id="14" name="Graphic 13" descr="Plugged Unplugged outline">
            <a:extLst>
              <a:ext uri="{FF2B5EF4-FFF2-40B4-BE49-F238E27FC236}">
                <a16:creationId xmlns:a16="http://schemas.microsoft.com/office/drawing/2014/main" id="{283BA5F7-EE98-E4FC-51C5-5AD12155DA9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78904" y="2266674"/>
            <a:ext cx="816163" cy="914400"/>
          </a:xfrm>
          <a:prstGeom prst="rect">
            <a:avLst/>
          </a:prstGeom>
        </p:spPr>
      </p:pic>
      <p:pic>
        <p:nvPicPr>
          <p:cNvPr id="15" name="Graphic 14" descr="Blog with solid fill">
            <a:extLst>
              <a:ext uri="{FF2B5EF4-FFF2-40B4-BE49-F238E27FC236}">
                <a16:creationId xmlns:a16="http://schemas.microsoft.com/office/drawing/2014/main" id="{9978CA21-171E-7FD9-ED28-D104F0EFE3F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19654" y="2683617"/>
            <a:ext cx="914400" cy="914400"/>
          </a:xfrm>
          <a:prstGeom prst="rect">
            <a:avLst/>
          </a:prstGeom>
        </p:spPr>
      </p:pic>
      <p:pic>
        <p:nvPicPr>
          <p:cNvPr id="16" name="Graphic 15" descr="Cmd Terminal with solid fill">
            <a:extLst>
              <a:ext uri="{FF2B5EF4-FFF2-40B4-BE49-F238E27FC236}">
                <a16:creationId xmlns:a16="http://schemas.microsoft.com/office/drawing/2014/main" id="{00FA4D5C-CD8D-304B-2A10-E42B3D505DC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95654" y="1979127"/>
            <a:ext cx="914400" cy="914400"/>
          </a:xfrm>
          <a:prstGeom prst="rect">
            <a:avLst/>
          </a:prstGeom>
        </p:spPr>
      </p:pic>
      <p:pic>
        <p:nvPicPr>
          <p:cNvPr id="18" name="Graphic 17" descr="Hierarchy with solid fill">
            <a:extLst>
              <a:ext uri="{FF2B5EF4-FFF2-40B4-BE49-F238E27FC236}">
                <a16:creationId xmlns:a16="http://schemas.microsoft.com/office/drawing/2014/main" id="{2E06C182-39F5-F859-CE87-C4583F71F55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97434" y="2085302"/>
            <a:ext cx="1371600" cy="1371600"/>
          </a:xfrm>
          <a:prstGeom prst="rect">
            <a:avLst/>
          </a:prstGeom>
        </p:spPr>
      </p:pic>
    </p:spTree>
    <p:extLst>
      <p:ext uri="{BB962C8B-B14F-4D97-AF65-F5344CB8AC3E}">
        <p14:creationId xmlns:p14="http://schemas.microsoft.com/office/powerpoint/2010/main" val="27670904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47E605F-0489-150D-1CB6-1750FD92A3A2}"/>
              </a:ext>
            </a:extLst>
          </p:cNvPr>
          <p:cNvSpPr/>
          <p:nvPr/>
        </p:nvSpPr>
        <p:spPr>
          <a:xfrm>
            <a:off x="-2052450" y="4557608"/>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A78260CD-D3FE-2932-4DEB-DE80D220DB9E}"/>
              </a:ext>
            </a:extLst>
          </p:cNvPr>
          <p:cNvSpPr/>
          <p:nvPr/>
        </p:nvSpPr>
        <p:spPr>
          <a:xfrm>
            <a:off x="6995666" y="-1095154"/>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0C2C177-1325-8AE4-196D-578899488470}"/>
              </a:ext>
            </a:extLst>
          </p:cNvPr>
          <p:cNvSpPr txBox="1"/>
          <p:nvPr/>
        </p:nvSpPr>
        <p:spPr>
          <a:xfrm>
            <a:off x="567731" y="578088"/>
            <a:ext cx="5843369" cy="584775"/>
          </a:xfrm>
          <a:prstGeom prst="rect">
            <a:avLst/>
          </a:prstGeom>
          <a:noFill/>
        </p:spPr>
        <p:txBody>
          <a:bodyPr wrap="square" rtlCol="0">
            <a:spAutoFit/>
          </a:bodyPr>
          <a:lstStyle/>
          <a:p>
            <a:r>
              <a:rPr lang="en-US" sz="3200" b="1" dirty="0">
                <a:solidFill>
                  <a:srgbClr val="151F29"/>
                </a:solidFill>
              </a:rPr>
              <a:t>Future </a:t>
            </a:r>
            <a:r>
              <a:rPr lang="en-US" sz="3200" b="1" dirty="0">
                <a:solidFill>
                  <a:srgbClr val="7CA7A5"/>
                </a:solidFill>
              </a:rPr>
              <a:t>Plans</a:t>
            </a:r>
            <a:r>
              <a:rPr lang="en-US" sz="3200" b="1" dirty="0">
                <a:solidFill>
                  <a:srgbClr val="151F29"/>
                </a:solidFill>
              </a:rPr>
              <a:t> &amp; </a:t>
            </a:r>
            <a:r>
              <a:rPr lang="en-US" sz="3200" b="1" dirty="0">
                <a:solidFill>
                  <a:srgbClr val="7CA7A5"/>
                </a:solidFill>
              </a:rPr>
              <a:t>Improvements</a:t>
            </a:r>
          </a:p>
        </p:txBody>
      </p:sp>
      <p:cxnSp>
        <p:nvCxnSpPr>
          <p:cNvPr id="5" name="Straight Connector 4">
            <a:extLst>
              <a:ext uri="{FF2B5EF4-FFF2-40B4-BE49-F238E27FC236}">
                <a16:creationId xmlns:a16="http://schemas.microsoft.com/office/drawing/2014/main" id="{E65A56FC-D57C-DE0A-2450-3AF3D6E137B0}"/>
              </a:ext>
            </a:extLst>
          </p:cNvPr>
          <p:cNvCxnSpPr/>
          <p:nvPr/>
        </p:nvCxnSpPr>
        <p:spPr>
          <a:xfrm>
            <a:off x="671476" y="1266963"/>
            <a:ext cx="1977655" cy="0"/>
          </a:xfrm>
          <a:prstGeom prst="line">
            <a:avLst/>
          </a:prstGeom>
          <a:ln w="28575">
            <a:solidFill>
              <a:srgbClr val="7CA7A5"/>
            </a:solidFill>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B7CDA7FA-90E0-4662-C0F6-9B75CF40E685}"/>
              </a:ext>
            </a:extLst>
          </p:cNvPr>
          <p:cNvSpPr/>
          <p:nvPr/>
        </p:nvSpPr>
        <p:spPr>
          <a:xfrm>
            <a:off x="842540" y="1727105"/>
            <a:ext cx="3390298" cy="4514012"/>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B6DC3F82-DE74-929E-852F-89E89E8C2C6D}"/>
              </a:ext>
            </a:extLst>
          </p:cNvPr>
          <p:cNvSpPr/>
          <p:nvPr/>
        </p:nvSpPr>
        <p:spPr>
          <a:xfrm>
            <a:off x="4408124" y="1712727"/>
            <a:ext cx="3390298" cy="4514012"/>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546062FF-4BB5-2315-6A61-C76B4349FAB7}"/>
              </a:ext>
            </a:extLst>
          </p:cNvPr>
          <p:cNvSpPr/>
          <p:nvPr/>
        </p:nvSpPr>
        <p:spPr>
          <a:xfrm>
            <a:off x="7988087" y="1712727"/>
            <a:ext cx="3390298" cy="4499635"/>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37776B00-1898-469C-4B3E-47EB7FB5B5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26234" y="2164118"/>
            <a:ext cx="1371600" cy="1371600"/>
          </a:xfrm>
          <a:prstGeom prst="rect">
            <a:avLst/>
          </a:prstGeom>
        </p:spPr>
      </p:pic>
      <p:pic>
        <p:nvPicPr>
          <p:cNvPr id="7" name="Graphic 6">
            <a:extLst>
              <a:ext uri="{FF2B5EF4-FFF2-40B4-BE49-F238E27FC236}">
                <a16:creationId xmlns:a16="http://schemas.microsoft.com/office/drawing/2014/main" id="{0EBD00CD-5F82-71CB-CA35-D41BE0AA54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1242" y="2164118"/>
            <a:ext cx="1371600" cy="1371600"/>
          </a:xfrm>
          <a:prstGeom prst="rect">
            <a:avLst/>
          </a:prstGeom>
        </p:spPr>
      </p:pic>
      <p:grpSp>
        <p:nvGrpSpPr>
          <p:cNvPr id="12" name="Group 11">
            <a:extLst>
              <a:ext uri="{FF2B5EF4-FFF2-40B4-BE49-F238E27FC236}">
                <a16:creationId xmlns:a16="http://schemas.microsoft.com/office/drawing/2014/main" id="{DB9CFB4B-E67C-E259-40CE-AF99004C93E0}"/>
              </a:ext>
            </a:extLst>
          </p:cNvPr>
          <p:cNvGrpSpPr/>
          <p:nvPr/>
        </p:nvGrpSpPr>
        <p:grpSpPr>
          <a:xfrm>
            <a:off x="5417473" y="2164118"/>
            <a:ext cx="1371600" cy="1371600"/>
            <a:chOff x="4967734" y="3247323"/>
            <a:chExt cx="914400" cy="914400"/>
          </a:xfrm>
        </p:grpSpPr>
        <p:pic>
          <p:nvPicPr>
            <p:cNvPr id="9" name="Graphic 8">
              <a:extLst>
                <a:ext uri="{FF2B5EF4-FFF2-40B4-BE49-F238E27FC236}">
                  <a16:creationId xmlns:a16="http://schemas.microsoft.com/office/drawing/2014/main" id="{99980098-DB46-62C6-891C-CF570B6A54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07182" y="3544915"/>
              <a:ext cx="365760" cy="365760"/>
            </a:xfrm>
            <a:prstGeom prst="rect">
              <a:avLst/>
            </a:prstGeom>
          </p:spPr>
        </p:pic>
        <p:pic>
          <p:nvPicPr>
            <p:cNvPr id="11" name="Graphic 10">
              <a:extLst>
                <a:ext uri="{FF2B5EF4-FFF2-40B4-BE49-F238E27FC236}">
                  <a16:creationId xmlns:a16="http://schemas.microsoft.com/office/drawing/2014/main" id="{264682D8-4DBA-3D9F-7615-79D9898B0CA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7734" y="3247323"/>
              <a:ext cx="914400" cy="914400"/>
            </a:xfrm>
            <a:prstGeom prst="rect">
              <a:avLst/>
            </a:prstGeom>
          </p:spPr>
        </p:pic>
      </p:grpSp>
      <p:sp>
        <p:nvSpPr>
          <p:cNvPr id="22" name="TextBox 21">
            <a:extLst>
              <a:ext uri="{FF2B5EF4-FFF2-40B4-BE49-F238E27FC236}">
                <a16:creationId xmlns:a16="http://schemas.microsoft.com/office/drawing/2014/main" id="{B919CFC5-1948-F6CA-67EB-55F44A729E46}"/>
              </a:ext>
            </a:extLst>
          </p:cNvPr>
          <p:cNvSpPr txBox="1"/>
          <p:nvPr/>
        </p:nvSpPr>
        <p:spPr>
          <a:xfrm>
            <a:off x="949520" y="3742494"/>
            <a:ext cx="3176337" cy="400110"/>
          </a:xfrm>
          <a:prstGeom prst="rect">
            <a:avLst/>
          </a:prstGeom>
          <a:noFill/>
        </p:spPr>
        <p:txBody>
          <a:bodyPr wrap="square" rtlCol="0">
            <a:spAutoFit/>
          </a:bodyPr>
          <a:lstStyle/>
          <a:p>
            <a:pPr algn="ctr"/>
            <a:r>
              <a:rPr lang="en-US" sz="2000" b="1" dirty="0">
                <a:solidFill>
                  <a:srgbClr val="151F29"/>
                </a:solidFill>
              </a:rPr>
              <a:t> Scam-Detection System</a:t>
            </a:r>
          </a:p>
        </p:txBody>
      </p:sp>
      <p:sp>
        <p:nvSpPr>
          <p:cNvPr id="23" name="TextBox 22">
            <a:extLst>
              <a:ext uri="{FF2B5EF4-FFF2-40B4-BE49-F238E27FC236}">
                <a16:creationId xmlns:a16="http://schemas.microsoft.com/office/drawing/2014/main" id="{378806F5-D249-2A73-9741-18C0CFAEBF4E}"/>
              </a:ext>
            </a:extLst>
          </p:cNvPr>
          <p:cNvSpPr txBox="1"/>
          <p:nvPr/>
        </p:nvSpPr>
        <p:spPr>
          <a:xfrm>
            <a:off x="4507831" y="3742494"/>
            <a:ext cx="3176337" cy="400110"/>
          </a:xfrm>
          <a:prstGeom prst="rect">
            <a:avLst/>
          </a:prstGeom>
          <a:noFill/>
        </p:spPr>
        <p:txBody>
          <a:bodyPr wrap="square" rtlCol="0">
            <a:spAutoFit/>
          </a:bodyPr>
          <a:lstStyle/>
          <a:p>
            <a:pPr algn="ctr"/>
            <a:r>
              <a:rPr lang="en-US" sz="2000" b="1" dirty="0">
                <a:solidFill>
                  <a:srgbClr val="151F29"/>
                </a:solidFill>
              </a:rPr>
              <a:t>Secure Digital Notebook</a:t>
            </a:r>
          </a:p>
        </p:txBody>
      </p:sp>
      <p:sp>
        <p:nvSpPr>
          <p:cNvPr id="24" name="TextBox 23">
            <a:extLst>
              <a:ext uri="{FF2B5EF4-FFF2-40B4-BE49-F238E27FC236}">
                <a16:creationId xmlns:a16="http://schemas.microsoft.com/office/drawing/2014/main" id="{83A67FE1-170B-9CBE-B10C-002FFAFBDBE6}"/>
              </a:ext>
            </a:extLst>
          </p:cNvPr>
          <p:cNvSpPr txBox="1"/>
          <p:nvPr/>
        </p:nvSpPr>
        <p:spPr>
          <a:xfrm>
            <a:off x="8096665" y="3742494"/>
            <a:ext cx="3173141" cy="400110"/>
          </a:xfrm>
          <a:prstGeom prst="rect">
            <a:avLst/>
          </a:prstGeom>
          <a:noFill/>
        </p:spPr>
        <p:txBody>
          <a:bodyPr wrap="square" rtlCol="0">
            <a:spAutoFit/>
          </a:bodyPr>
          <a:lstStyle/>
          <a:p>
            <a:pPr algn="ctr"/>
            <a:r>
              <a:rPr lang="en-US" sz="2000" b="1" dirty="0">
                <a:solidFill>
                  <a:srgbClr val="151F29"/>
                </a:solidFill>
              </a:rPr>
              <a:t>Medication Tracker</a:t>
            </a:r>
          </a:p>
        </p:txBody>
      </p:sp>
      <p:sp>
        <p:nvSpPr>
          <p:cNvPr id="28" name="TextBox 27">
            <a:extLst>
              <a:ext uri="{FF2B5EF4-FFF2-40B4-BE49-F238E27FC236}">
                <a16:creationId xmlns:a16="http://schemas.microsoft.com/office/drawing/2014/main" id="{6E8911E2-52B7-1688-A1E2-0A1A4D561A95}"/>
              </a:ext>
            </a:extLst>
          </p:cNvPr>
          <p:cNvSpPr txBox="1"/>
          <p:nvPr/>
        </p:nvSpPr>
        <p:spPr>
          <a:xfrm>
            <a:off x="1152325" y="4250855"/>
            <a:ext cx="2770725" cy="1815882"/>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151F29"/>
                </a:solidFill>
              </a:rPr>
              <a:t>Expand the existing heuristic model with AI-powered analysis for more accurate scam detection</a:t>
            </a:r>
          </a:p>
          <a:p>
            <a:pPr marL="285750" indent="-285750">
              <a:buFont typeface="Arial" panose="020B0604020202020204" pitchFamily="34" charset="0"/>
              <a:buChar char="•"/>
            </a:pPr>
            <a:endParaRPr lang="en-US" sz="1400" dirty="0">
              <a:solidFill>
                <a:srgbClr val="151F29"/>
              </a:solidFill>
            </a:endParaRPr>
          </a:p>
          <a:p>
            <a:pPr marL="285750" indent="-285750">
              <a:buFont typeface="Arial" panose="020B0604020202020204" pitchFamily="34" charset="0"/>
              <a:buChar char="•"/>
            </a:pPr>
            <a:r>
              <a:rPr lang="en-US" sz="1400" dirty="0">
                <a:solidFill>
                  <a:srgbClr val="151F29"/>
                </a:solidFill>
              </a:rPr>
              <a:t>Allow seniors to submit suspicious messages for real-time evaluation</a:t>
            </a:r>
          </a:p>
        </p:txBody>
      </p:sp>
      <p:sp>
        <p:nvSpPr>
          <p:cNvPr id="29" name="TextBox 28">
            <a:extLst>
              <a:ext uri="{FF2B5EF4-FFF2-40B4-BE49-F238E27FC236}">
                <a16:creationId xmlns:a16="http://schemas.microsoft.com/office/drawing/2014/main" id="{60021489-780D-4F57-C107-C2E1ECF4A2D1}"/>
              </a:ext>
            </a:extLst>
          </p:cNvPr>
          <p:cNvSpPr txBox="1"/>
          <p:nvPr/>
        </p:nvSpPr>
        <p:spPr>
          <a:xfrm>
            <a:off x="4717910" y="4250855"/>
            <a:ext cx="2770725" cy="1600438"/>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151F29"/>
                </a:solidFill>
              </a:rPr>
              <a:t>A private, encrypted space to store notes, passwords, and personal information</a:t>
            </a:r>
          </a:p>
          <a:p>
            <a:pPr marL="285750" indent="-285750">
              <a:buFont typeface="Arial" panose="020B0604020202020204" pitchFamily="34" charset="0"/>
              <a:buChar char="•"/>
            </a:pPr>
            <a:endParaRPr lang="en-US" sz="1400" dirty="0">
              <a:solidFill>
                <a:srgbClr val="151F29"/>
              </a:solidFill>
            </a:endParaRPr>
          </a:p>
          <a:p>
            <a:pPr marL="285750" indent="-285750">
              <a:buFont typeface="Arial" panose="020B0604020202020204" pitchFamily="34" charset="0"/>
              <a:buChar char="•"/>
            </a:pPr>
            <a:r>
              <a:rPr lang="en-US" sz="1400" dirty="0">
                <a:solidFill>
                  <a:srgbClr val="151F29"/>
                </a:solidFill>
              </a:rPr>
              <a:t>Accessible only to the senior, with optional caregiver visibility on a per-note basis</a:t>
            </a:r>
          </a:p>
        </p:txBody>
      </p:sp>
      <p:sp>
        <p:nvSpPr>
          <p:cNvPr id="30" name="TextBox 29">
            <a:extLst>
              <a:ext uri="{FF2B5EF4-FFF2-40B4-BE49-F238E27FC236}">
                <a16:creationId xmlns:a16="http://schemas.microsoft.com/office/drawing/2014/main" id="{D2681A19-1AF6-7B0C-5D49-5E5B993566D3}"/>
              </a:ext>
            </a:extLst>
          </p:cNvPr>
          <p:cNvSpPr txBox="1"/>
          <p:nvPr/>
        </p:nvSpPr>
        <p:spPr>
          <a:xfrm>
            <a:off x="8297872" y="4250855"/>
            <a:ext cx="2770725" cy="1600438"/>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151F29"/>
                </a:solidFill>
              </a:rPr>
              <a:t>Daily medication reminders with customizable schedules to help seniors stay on track</a:t>
            </a:r>
          </a:p>
          <a:p>
            <a:pPr marL="285750" indent="-285750">
              <a:buFont typeface="Arial" panose="020B0604020202020204" pitchFamily="34" charset="0"/>
              <a:buChar char="•"/>
            </a:pPr>
            <a:endParaRPr lang="en-US" sz="1400" dirty="0">
              <a:solidFill>
                <a:srgbClr val="151F29"/>
              </a:solidFill>
            </a:endParaRPr>
          </a:p>
          <a:p>
            <a:pPr marL="285750" indent="-285750">
              <a:buFont typeface="Arial" panose="020B0604020202020204" pitchFamily="34" charset="0"/>
              <a:buChar char="•"/>
            </a:pPr>
            <a:r>
              <a:rPr lang="en-US" sz="1400" dirty="0">
                <a:solidFill>
                  <a:srgbClr val="151F29"/>
                </a:solidFill>
              </a:rPr>
              <a:t>Logging system so caregivers can verify medications were taken without micromanaging</a:t>
            </a:r>
          </a:p>
        </p:txBody>
      </p:sp>
    </p:spTree>
    <p:extLst>
      <p:ext uri="{BB962C8B-B14F-4D97-AF65-F5344CB8AC3E}">
        <p14:creationId xmlns:p14="http://schemas.microsoft.com/office/powerpoint/2010/main" val="40077225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1A8DFB51-84BF-B398-AD79-D5A59069512A}"/>
              </a:ext>
            </a:extLst>
          </p:cNvPr>
          <p:cNvSpPr/>
          <p:nvPr/>
        </p:nvSpPr>
        <p:spPr>
          <a:xfrm>
            <a:off x="-2052450" y="4557608"/>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B99606D3-12A2-30BF-F905-31AFA9B57AF5}"/>
              </a:ext>
            </a:extLst>
          </p:cNvPr>
          <p:cNvSpPr/>
          <p:nvPr/>
        </p:nvSpPr>
        <p:spPr>
          <a:xfrm>
            <a:off x="6995666" y="-1095154"/>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40CFF6CE-BE6B-E1E8-AA6C-250A2B922934}"/>
              </a:ext>
            </a:extLst>
          </p:cNvPr>
          <p:cNvSpPr/>
          <p:nvPr/>
        </p:nvSpPr>
        <p:spPr>
          <a:xfrm>
            <a:off x="799323" y="1641344"/>
            <a:ext cx="10593354" cy="4793357"/>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1ABA405-6B12-B7CE-E50C-181DC53D95B7}"/>
              </a:ext>
            </a:extLst>
          </p:cNvPr>
          <p:cNvSpPr txBox="1"/>
          <p:nvPr/>
        </p:nvSpPr>
        <p:spPr>
          <a:xfrm>
            <a:off x="567731" y="578088"/>
            <a:ext cx="5843369" cy="584775"/>
          </a:xfrm>
          <a:prstGeom prst="rect">
            <a:avLst/>
          </a:prstGeom>
          <a:noFill/>
        </p:spPr>
        <p:txBody>
          <a:bodyPr wrap="square" rtlCol="0">
            <a:spAutoFit/>
          </a:bodyPr>
          <a:lstStyle/>
          <a:p>
            <a:r>
              <a:rPr lang="en-US" sz="3200" b="1" dirty="0">
                <a:solidFill>
                  <a:srgbClr val="151F29"/>
                </a:solidFill>
              </a:rPr>
              <a:t>Lessons Learned </a:t>
            </a:r>
            <a:endParaRPr lang="en-US" sz="3200" b="1" dirty="0">
              <a:solidFill>
                <a:srgbClr val="7CA7A5"/>
              </a:solidFill>
            </a:endParaRPr>
          </a:p>
        </p:txBody>
      </p:sp>
      <p:cxnSp>
        <p:nvCxnSpPr>
          <p:cNvPr id="6" name="Straight Connector 5">
            <a:extLst>
              <a:ext uri="{FF2B5EF4-FFF2-40B4-BE49-F238E27FC236}">
                <a16:creationId xmlns:a16="http://schemas.microsoft.com/office/drawing/2014/main" id="{92A1C536-E243-75E0-2A76-E5A391356B4C}"/>
              </a:ext>
            </a:extLst>
          </p:cNvPr>
          <p:cNvCxnSpPr/>
          <p:nvPr/>
        </p:nvCxnSpPr>
        <p:spPr>
          <a:xfrm>
            <a:off x="671476" y="1266963"/>
            <a:ext cx="1977655" cy="0"/>
          </a:xfrm>
          <a:prstGeom prst="line">
            <a:avLst/>
          </a:prstGeom>
          <a:ln w="28575">
            <a:solidFill>
              <a:srgbClr val="7CA7A5"/>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DDA1CC96-498B-23AD-99A4-9C3A878604DE}"/>
              </a:ext>
            </a:extLst>
          </p:cNvPr>
          <p:cNvSpPr txBox="1"/>
          <p:nvPr/>
        </p:nvSpPr>
        <p:spPr>
          <a:xfrm>
            <a:off x="1217061" y="1971947"/>
            <a:ext cx="9643504" cy="4247317"/>
          </a:xfrm>
          <a:prstGeom prst="rect">
            <a:avLst/>
          </a:prstGeom>
          <a:noFill/>
        </p:spPr>
        <p:txBody>
          <a:bodyPr wrap="square" rtlCol="0">
            <a:spAutoFit/>
          </a:bodyPr>
          <a:lstStyle/>
          <a:p>
            <a:r>
              <a:rPr lang="en-US" b="1" dirty="0">
                <a:solidFill>
                  <a:srgbClr val="151F29"/>
                </a:solidFill>
              </a:rPr>
              <a:t>Frontend &amp; Backend Integration</a:t>
            </a:r>
          </a:p>
          <a:p>
            <a:pPr marL="285750" indent="-285750">
              <a:buFont typeface="Arial" panose="020B0604020202020204" pitchFamily="34" charset="0"/>
              <a:buChar char="•"/>
            </a:pPr>
            <a:r>
              <a:rPr lang="en-US" dirty="0">
                <a:solidFill>
                  <a:srgbClr val="151F29"/>
                </a:solidFill>
              </a:rPr>
              <a:t>The critical role frontend and backend integration plays in delivering a seamless user experience</a:t>
            </a:r>
          </a:p>
          <a:p>
            <a:endParaRPr lang="en-US" dirty="0">
              <a:solidFill>
                <a:srgbClr val="151F29"/>
              </a:solidFill>
            </a:endParaRPr>
          </a:p>
          <a:p>
            <a:r>
              <a:rPr lang="en-US" b="1" dirty="0">
                <a:solidFill>
                  <a:srgbClr val="151F29"/>
                </a:solidFill>
              </a:rPr>
              <a:t>Routing &amp; Navigation</a:t>
            </a:r>
          </a:p>
          <a:p>
            <a:pPr marL="285750" indent="-285750">
              <a:buFont typeface="Arial" panose="020B0604020202020204" pitchFamily="34" charset="0"/>
              <a:buChar char="•"/>
            </a:pPr>
            <a:r>
              <a:rPr lang="en-US" dirty="0">
                <a:solidFill>
                  <a:srgbClr val="151F29"/>
                </a:solidFill>
              </a:rPr>
              <a:t>How routing and navigation structure directly impacts how intuitive an app feels to use - poor navigation sends users in circles</a:t>
            </a:r>
          </a:p>
          <a:p>
            <a:endParaRPr lang="en-US" dirty="0">
              <a:solidFill>
                <a:srgbClr val="151F29"/>
              </a:solidFill>
            </a:endParaRPr>
          </a:p>
          <a:p>
            <a:r>
              <a:rPr lang="en-US" b="1" dirty="0">
                <a:solidFill>
                  <a:srgbClr val="151F29"/>
                </a:solidFill>
              </a:rPr>
              <a:t>Project Structure &amp; Communication</a:t>
            </a:r>
          </a:p>
          <a:p>
            <a:pPr marL="285750" indent="-285750">
              <a:buFont typeface="Arial" panose="020B0604020202020204" pitchFamily="34" charset="0"/>
              <a:buChar char="•"/>
            </a:pPr>
            <a:r>
              <a:rPr lang="en-US" dirty="0">
                <a:solidFill>
                  <a:srgbClr val="151F29"/>
                </a:solidFill>
              </a:rPr>
              <a:t>Clear feature ownership and consistent team communication are essential when 6 developers are building one application simultaneously</a:t>
            </a:r>
          </a:p>
          <a:p>
            <a:endParaRPr lang="en-US" dirty="0">
              <a:solidFill>
                <a:srgbClr val="151F29"/>
              </a:solidFill>
            </a:endParaRPr>
          </a:p>
          <a:p>
            <a:r>
              <a:rPr lang="en-US" b="1" dirty="0">
                <a:solidFill>
                  <a:srgbClr val="151F29"/>
                </a:solidFill>
              </a:rPr>
              <a:t>Version Control &amp; Merge Conflicts</a:t>
            </a:r>
          </a:p>
          <a:p>
            <a:pPr marL="285750" indent="-285750">
              <a:buFont typeface="Arial" panose="020B0604020202020204" pitchFamily="34" charset="0"/>
              <a:buChar char="•"/>
            </a:pPr>
            <a:r>
              <a:rPr lang="en-US" dirty="0">
                <a:solidFill>
                  <a:srgbClr val="151F29"/>
                </a:solidFill>
              </a:rPr>
              <a:t>Working across a shared codebase requires discipline – we learned firsthand how quickly merge conflicts escalate without proper branching conventions</a:t>
            </a:r>
          </a:p>
        </p:txBody>
      </p:sp>
    </p:spTree>
    <p:extLst>
      <p:ext uri="{BB962C8B-B14F-4D97-AF65-F5344CB8AC3E}">
        <p14:creationId xmlns:p14="http://schemas.microsoft.com/office/powerpoint/2010/main" val="10308858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70840336-517F-749D-AAB1-908AFF536614}"/>
              </a:ext>
            </a:extLst>
          </p:cNvPr>
          <p:cNvSpPr/>
          <p:nvPr/>
        </p:nvSpPr>
        <p:spPr>
          <a:xfrm>
            <a:off x="-2052450" y="4557608"/>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7551FF3-5E82-8CAB-F793-C4E5A7E62450}"/>
              </a:ext>
            </a:extLst>
          </p:cNvPr>
          <p:cNvSpPr/>
          <p:nvPr/>
        </p:nvSpPr>
        <p:spPr>
          <a:xfrm>
            <a:off x="6995666" y="-1095154"/>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F44DFE3E-BE5C-4C4C-5B58-79ED00A1AF0F}"/>
              </a:ext>
            </a:extLst>
          </p:cNvPr>
          <p:cNvSpPr/>
          <p:nvPr/>
        </p:nvSpPr>
        <p:spPr>
          <a:xfrm>
            <a:off x="799323" y="1251070"/>
            <a:ext cx="10593354" cy="4355860"/>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50B8665-E637-0393-BA99-F9FD1E5D8152}"/>
              </a:ext>
            </a:extLst>
          </p:cNvPr>
          <p:cNvSpPr txBox="1"/>
          <p:nvPr/>
        </p:nvSpPr>
        <p:spPr>
          <a:xfrm>
            <a:off x="5410112" y="2550778"/>
            <a:ext cx="5727643" cy="1756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90000"/>
              </a:lnSpc>
              <a:spcBef>
                <a:spcPct val="0"/>
              </a:spcBef>
            </a:pPr>
            <a:r>
              <a:rPr lang="en-US" sz="9600" b="1" dirty="0">
                <a:solidFill>
                  <a:srgbClr val="7CA7A5"/>
                </a:solidFill>
                <a:latin typeface="Aptos Display"/>
              </a:rPr>
              <a:t>Q</a:t>
            </a:r>
            <a:r>
              <a:rPr lang="en-US" sz="4000" b="1" dirty="0">
                <a:solidFill>
                  <a:srgbClr val="7CA7A5"/>
                </a:solidFill>
                <a:latin typeface="Aptos Display"/>
              </a:rPr>
              <a:t>&amp;</a:t>
            </a:r>
            <a:r>
              <a:rPr lang="en-US" sz="9600" b="1" dirty="0">
                <a:solidFill>
                  <a:srgbClr val="7CA7A5"/>
                </a:solidFill>
                <a:latin typeface="Aptos Display"/>
              </a:rPr>
              <a:t>A</a:t>
            </a:r>
            <a:br>
              <a:rPr lang="en-US" sz="4400" b="1" dirty="0">
                <a:solidFill>
                  <a:srgbClr val="151F29"/>
                </a:solidFill>
                <a:latin typeface="Aptos Display"/>
              </a:rPr>
            </a:br>
            <a:r>
              <a:rPr lang="en-US" sz="2400" dirty="0">
                <a:solidFill>
                  <a:srgbClr val="151F29"/>
                </a:solidFill>
                <a:latin typeface="Aptos Display"/>
              </a:rPr>
              <a:t>Do you have any questions for our team?</a:t>
            </a:r>
            <a:endParaRPr lang="en-US" sz="2000" dirty="0">
              <a:solidFill>
                <a:srgbClr val="151F29"/>
              </a:solidFill>
            </a:endParaRPr>
          </a:p>
        </p:txBody>
      </p:sp>
      <p:pic>
        <p:nvPicPr>
          <p:cNvPr id="9" name="Graphic 8">
            <a:extLst>
              <a:ext uri="{FF2B5EF4-FFF2-40B4-BE49-F238E27FC236}">
                <a16:creationId xmlns:a16="http://schemas.microsoft.com/office/drawing/2014/main" id="{9857390D-6E2E-051A-EC9F-21B6E4B8C65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04518" y="1828799"/>
            <a:ext cx="3200400" cy="3200400"/>
          </a:xfrm>
          <a:prstGeom prst="rect">
            <a:avLst/>
          </a:prstGeom>
        </p:spPr>
      </p:pic>
    </p:spTree>
    <p:extLst>
      <p:ext uri="{BB962C8B-B14F-4D97-AF65-F5344CB8AC3E}">
        <p14:creationId xmlns:p14="http://schemas.microsoft.com/office/powerpoint/2010/main" val="823078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09F03-D39E-4F4E-0A9D-A55E4C5CC9BB}"/>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1342D81E-5517-E491-C6D9-66E15AE91EB7}"/>
              </a:ext>
            </a:extLst>
          </p:cNvPr>
          <p:cNvGrpSpPr/>
          <p:nvPr/>
        </p:nvGrpSpPr>
        <p:grpSpPr>
          <a:xfrm>
            <a:off x="3153564" y="2935090"/>
            <a:ext cx="5884871" cy="987819"/>
            <a:chOff x="3153564" y="2935090"/>
            <a:chExt cx="5884871" cy="987819"/>
          </a:xfrm>
        </p:grpSpPr>
        <p:sp>
          <p:nvSpPr>
            <p:cNvPr id="3" name="Rectangle: Rounded Corners 2">
              <a:extLst>
                <a:ext uri="{FF2B5EF4-FFF2-40B4-BE49-F238E27FC236}">
                  <a16:creationId xmlns:a16="http://schemas.microsoft.com/office/drawing/2014/main" id="{574F29EE-CF3B-2EEC-9EF4-4EC7E211D55D}"/>
                </a:ext>
              </a:extLst>
            </p:cNvPr>
            <p:cNvSpPr/>
            <p:nvPr/>
          </p:nvSpPr>
          <p:spPr>
            <a:xfrm>
              <a:off x="3153564" y="2935090"/>
              <a:ext cx="5884871" cy="987819"/>
            </a:xfrm>
            <a:prstGeom prst="roundRect">
              <a:avLst>
                <a:gd name="adj" fmla="val 20099"/>
              </a:avLst>
            </a:prstGeom>
            <a:solidFill>
              <a:srgbClr val="F7F9F9"/>
            </a:solidFill>
            <a:ln w="6350">
              <a:solidFill>
                <a:srgbClr val="7CA7A5"/>
              </a:solidFill>
            </a:ln>
            <a:effectLst>
              <a:outerShdw blurRad="190500" dist="635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FA43F24-233D-B981-080A-DB27FFD0008C}"/>
                </a:ext>
              </a:extLst>
            </p:cNvPr>
            <p:cNvSpPr txBox="1"/>
            <p:nvPr/>
          </p:nvSpPr>
          <p:spPr>
            <a:xfrm>
              <a:off x="3232177" y="3076178"/>
              <a:ext cx="5727643" cy="7056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90000"/>
                </a:lnSpc>
                <a:spcBef>
                  <a:spcPct val="0"/>
                </a:spcBef>
              </a:pPr>
              <a:r>
                <a:rPr lang="en-US" sz="4400" b="1" dirty="0">
                  <a:solidFill>
                    <a:srgbClr val="151F29"/>
                  </a:solidFill>
                  <a:latin typeface="Aptos Display"/>
                </a:rPr>
                <a:t>Thank You</a:t>
              </a:r>
              <a:endParaRPr lang="en-US" sz="4400" b="1" dirty="0">
                <a:solidFill>
                  <a:srgbClr val="151F29"/>
                </a:solidFill>
              </a:endParaRPr>
            </a:p>
          </p:txBody>
        </p:sp>
      </p:grpSp>
      <p:sp>
        <p:nvSpPr>
          <p:cNvPr id="4" name="Oval 3">
            <a:extLst>
              <a:ext uri="{FF2B5EF4-FFF2-40B4-BE49-F238E27FC236}">
                <a16:creationId xmlns:a16="http://schemas.microsoft.com/office/drawing/2014/main" id="{A6DE3AE1-BE7B-ACC5-2F25-1C6A3FF44F2F}"/>
              </a:ext>
            </a:extLst>
          </p:cNvPr>
          <p:cNvSpPr/>
          <p:nvPr/>
        </p:nvSpPr>
        <p:spPr>
          <a:xfrm>
            <a:off x="7488635" y="3861486"/>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7203BE0E-F588-A472-128B-47039ADD458E}"/>
              </a:ext>
            </a:extLst>
          </p:cNvPr>
          <p:cNvSpPr/>
          <p:nvPr/>
        </p:nvSpPr>
        <p:spPr>
          <a:xfrm>
            <a:off x="-2047315" y="-3188991"/>
            <a:ext cx="6539023" cy="5993027"/>
          </a:xfrm>
          <a:prstGeom prst="ellipse">
            <a:avLst/>
          </a:prstGeom>
          <a:solidFill>
            <a:srgbClr val="D6E5E2">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56304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1775</TotalTime>
  <Words>2799</Words>
  <Application>Microsoft Office PowerPoint</Application>
  <PresentationFormat>Widescreen</PresentationFormat>
  <Paragraphs>356</Paragraphs>
  <Slides>26</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Aptos Display</vt:lpstr>
      <vt:lpstr>Arial</vt:lpstr>
      <vt:lpstr>Arial,Sans-Serif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Lauren Knotts</dc:creator>
  <cp:lastModifiedBy>Lauren M. Knotts</cp:lastModifiedBy>
  <cp:revision>89</cp:revision>
  <dcterms:created xsi:type="dcterms:W3CDTF">2026-04-21T16:42:51Z</dcterms:created>
  <dcterms:modified xsi:type="dcterms:W3CDTF">2026-04-29T13:00:30Z</dcterms:modified>
</cp:coreProperties>
</file>